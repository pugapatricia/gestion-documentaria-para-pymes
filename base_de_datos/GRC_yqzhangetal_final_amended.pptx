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bookmarkIdSeed="2">
  <p:sldMasterIdLst>
    <p:sldMasterId id="2147483649" r:id="rId1"/>
    <p:sldMasterId id="2147483686" r:id="rId2"/>
    <p:sldMasterId id="2147483674" r:id="rId3"/>
    <p:sldMasterId id="2147483662" r:id="rId4"/>
  </p:sldMasterIdLst>
  <p:notesMasterIdLst>
    <p:notesMasterId r:id="rId31"/>
  </p:notesMasterIdLst>
  <p:handoutMasterIdLst>
    <p:handoutMasterId r:id="rId32"/>
  </p:handoutMasterIdLst>
  <p:sldIdLst>
    <p:sldId id="636" r:id="rId5"/>
    <p:sldId id="638" r:id="rId6"/>
    <p:sldId id="670" r:id="rId7"/>
    <p:sldId id="671" r:id="rId8"/>
    <p:sldId id="650" r:id="rId9"/>
    <p:sldId id="648" r:id="rId10"/>
    <p:sldId id="651" r:id="rId11"/>
    <p:sldId id="654" r:id="rId12"/>
    <p:sldId id="653" r:id="rId13"/>
    <p:sldId id="666" r:id="rId14"/>
    <p:sldId id="667" r:id="rId15"/>
    <p:sldId id="674" r:id="rId16"/>
    <p:sldId id="675" r:id="rId17"/>
    <p:sldId id="669" r:id="rId18"/>
    <p:sldId id="679" r:id="rId19"/>
    <p:sldId id="680" r:id="rId20"/>
    <p:sldId id="681" r:id="rId21"/>
    <p:sldId id="672" r:id="rId22"/>
    <p:sldId id="673" r:id="rId23"/>
    <p:sldId id="676" r:id="rId24"/>
    <p:sldId id="677" r:id="rId25"/>
    <p:sldId id="678" r:id="rId26"/>
    <p:sldId id="664" r:id="rId27"/>
    <p:sldId id="657" r:id="rId28"/>
    <p:sldId id="661" r:id="rId29"/>
    <p:sldId id="647" r:id="rId30"/>
  </p:sldIdLst>
  <p:sldSz cx="12192000" cy="6858000"/>
  <p:notesSz cx="7315200" cy="9601200"/>
  <p:defaultTextStyle>
    <a:defPPr>
      <a:defRPr lang="en-US"/>
    </a:defPPr>
    <a:lvl1pPr algn="r" rtl="0" eaLnBrk="0" fontAlgn="base" hangingPunct="0">
      <a:spcBef>
        <a:spcPct val="0"/>
      </a:spcBef>
      <a:spcAft>
        <a:spcPct val="0"/>
      </a:spcAft>
      <a:defRPr sz="2800" kern="1200">
        <a:solidFill>
          <a:schemeClr val="bg1"/>
        </a:solidFill>
        <a:latin typeface="Arial" charset="0"/>
        <a:ea typeface="+mn-ea"/>
        <a:cs typeface="+mn-cs"/>
      </a:defRPr>
    </a:lvl1pPr>
    <a:lvl2pPr marL="457200" algn="r" rtl="0" eaLnBrk="0" fontAlgn="base" hangingPunct="0">
      <a:spcBef>
        <a:spcPct val="0"/>
      </a:spcBef>
      <a:spcAft>
        <a:spcPct val="0"/>
      </a:spcAft>
      <a:defRPr sz="2800" kern="1200">
        <a:solidFill>
          <a:schemeClr val="bg1"/>
        </a:solidFill>
        <a:latin typeface="Arial" charset="0"/>
        <a:ea typeface="+mn-ea"/>
        <a:cs typeface="+mn-cs"/>
      </a:defRPr>
    </a:lvl2pPr>
    <a:lvl3pPr marL="914400" algn="r" rtl="0" eaLnBrk="0" fontAlgn="base" hangingPunct="0">
      <a:spcBef>
        <a:spcPct val="0"/>
      </a:spcBef>
      <a:spcAft>
        <a:spcPct val="0"/>
      </a:spcAft>
      <a:defRPr sz="2800" kern="1200">
        <a:solidFill>
          <a:schemeClr val="bg1"/>
        </a:solidFill>
        <a:latin typeface="Arial" charset="0"/>
        <a:ea typeface="+mn-ea"/>
        <a:cs typeface="+mn-cs"/>
      </a:defRPr>
    </a:lvl3pPr>
    <a:lvl4pPr marL="1371600" algn="r" rtl="0" eaLnBrk="0" fontAlgn="base" hangingPunct="0">
      <a:spcBef>
        <a:spcPct val="0"/>
      </a:spcBef>
      <a:spcAft>
        <a:spcPct val="0"/>
      </a:spcAft>
      <a:defRPr sz="2800" kern="1200">
        <a:solidFill>
          <a:schemeClr val="bg1"/>
        </a:solidFill>
        <a:latin typeface="Arial" charset="0"/>
        <a:ea typeface="+mn-ea"/>
        <a:cs typeface="+mn-cs"/>
      </a:defRPr>
    </a:lvl4pPr>
    <a:lvl5pPr marL="1828800" algn="r" rtl="0" eaLnBrk="0" fontAlgn="base" hangingPunct="0">
      <a:spcBef>
        <a:spcPct val="0"/>
      </a:spcBef>
      <a:spcAft>
        <a:spcPct val="0"/>
      </a:spcAft>
      <a:defRPr sz="2800" kern="1200">
        <a:solidFill>
          <a:schemeClr val="bg1"/>
        </a:solidFill>
        <a:latin typeface="Arial" charset="0"/>
        <a:ea typeface="+mn-ea"/>
        <a:cs typeface="+mn-cs"/>
      </a:defRPr>
    </a:lvl5pPr>
    <a:lvl6pPr marL="2286000" algn="l" defTabSz="914400" rtl="0" eaLnBrk="1" latinLnBrk="0" hangingPunct="1">
      <a:defRPr sz="2800" kern="1200">
        <a:solidFill>
          <a:schemeClr val="bg1"/>
        </a:solidFill>
        <a:latin typeface="Arial" charset="0"/>
        <a:ea typeface="+mn-ea"/>
        <a:cs typeface="+mn-cs"/>
      </a:defRPr>
    </a:lvl6pPr>
    <a:lvl7pPr marL="2743200" algn="l" defTabSz="914400" rtl="0" eaLnBrk="1" latinLnBrk="0" hangingPunct="1">
      <a:defRPr sz="2800" kern="1200">
        <a:solidFill>
          <a:schemeClr val="bg1"/>
        </a:solidFill>
        <a:latin typeface="Arial" charset="0"/>
        <a:ea typeface="+mn-ea"/>
        <a:cs typeface="+mn-cs"/>
      </a:defRPr>
    </a:lvl7pPr>
    <a:lvl8pPr marL="3200400" algn="l" defTabSz="914400" rtl="0" eaLnBrk="1" latinLnBrk="0" hangingPunct="1">
      <a:defRPr sz="2800" kern="1200">
        <a:solidFill>
          <a:schemeClr val="bg1"/>
        </a:solidFill>
        <a:latin typeface="Arial" charset="0"/>
        <a:ea typeface="+mn-ea"/>
        <a:cs typeface="+mn-cs"/>
      </a:defRPr>
    </a:lvl8pPr>
    <a:lvl9pPr marL="3657600" algn="l" defTabSz="914400" rtl="0" eaLnBrk="1" latinLnBrk="0" hangingPunct="1">
      <a:defRPr sz="2800" kern="1200">
        <a:solidFill>
          <a:schemeClr val="bg1"/>
        </a:solidFill>
        <a:latin typeface="Arial" charset="0"/>
        <a:ea typeface="+mn-ea"/>
        <a:cs typeface="+mn-cs"/>
      </a:defRPr>
    </a:lvl9pPr>
  </p:defaultTextStyle>
  <p:extLst>
    <p:ext uri="{EFAFB233-063F-42B5-8137-9DF3F51BA10A}">
      <p15:sldGuideLst xmlns:p15="http://schemas.microsoft.com/office/powerpoint/2012/main">
        <p15:guide id="1" orient="horz" pos="2168" userDrawn="1">
          <p15:clr>
            <a:srgbClr val="A4A3A4"/>
          </p15:clr>
        </p15:guide>
        <p15:guide id="2" pos="331" userDrawn="1">
          <p15:clr>
            <a:srgbClr val="A4A3A4"/>
          </p15:clr>
        </p15:guide>
      </p15:sldGuideLst>
    </p:ext>
    <p:ext uri="{2D200454-40CA-4A62-9FC3-DE9A4176ACB9}">
      <p15:notesGuideLst xmlns:p15="http://schemas.microsoft.com/office/powerpoint/2012/main">
        <p15:guide id="1" orient="horz" pos="3025" userDrawn="1">
          <p15:clr>
            <a:srgbClr val="A4A3A4"/>
          </p15:clr>
        </p15:guide>
        <p15:guide id="2" pos="2305"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Note" initials="CMO" lastIdx="1" clrIdx="0"/>
  <p:cmAuthor id="1" name="Yingqi Zhang" initials="YZ" lastIdx="6" clrIdx="1">
    <p:extLst>
      <p:ext uri="{19B8F6BF-5375-455C-9EA6-DF929625EA0E}">
        <p15:presenceInfo xmlns:p15="http://schemas.microsoft.com/office/powerpoint/2012/main" userId="Yingqi Zha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32AB9"/>
    <a:srgbClr val="00279F"/>
    <a:srgbClr val="ED7D31"/>
    <a:srgbClr val="003366"/>
    <a:srgbClr val="0033CC"/>
    <a:srgbClr val="0000CC"/>
    <a:srgbClr val="19194D"/>
    <a:srgbClr val="FF00FF"/>
    <a:srgbClr val="FF0000"/>
    <a:srgbClr val="00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4" autoAdjust="0"/>
    <p:restoredTop sz="95921" autoAdjust="0"/>
  </p:normalViewPr>
  <p:slideViewPr>
    <p:cSldViewPr snapToGrid="0">
      <p:cViewPr varScale="1">
        <p:scale>
          <a:sx n="83" d="100"/>
          <a:sy n="83" d="100"/>
        </p:scale>
        <p:origin x="102" y="174"/>
      </p:cViewPr>
      <p:guideLst>
        <p:guide orient="horz" pos="2168"/>
        <p:guide pos="331"/>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10914"/>
    </p:cViewPr>
  </p:sorterViewPr>
  <p:notesViewPr>
    <p:cSldViewPr snapToGrid="0">
      <p:cViewPr>
        <p:scale>
          <a:sx n="62" d="100"/>
          <a:sy n="62" d="100"/>
        </p:scale>
        <p:origin x="-1650" y="-72"/>
      </p:cViewPr>
      <p:guideLst>
        <p:guide orient="horz" pos="3025"/>
        <p:guide pos="2305"/>
      </p:guideLst>
    </p:cSldViewPr>
  </p:notesViewPr>
  <p:gridSpacing cx="914400" cy="9144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commentAuthors" Target="commentAuthors.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notesMaster" Target="notesMasters/notesMaster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viewProps" Target="viewProps.xml"/><Relationship Id="rId8" Type="http://schemas.openxmlformats.org/officeDocument/2006/relationships/slide" Target="slides/slide4.xml"/><Relationship Id="rId3" Type="http://schemas.openxmlformats.org/officeDocument/2006/relationships/slideMaster" Target="slideMasters/slideMaster3.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21-12-03T10:03:15.980" idx="5">
    <p:pos x="5639" y="509"/>
    <p:text>The conductivity values are not exactly what is shown. These are conductivities in the soil immediately next to the battery in the battery model. But the soil between the grid blocks are not these.</p:text>
    <p:extLst mod="1">
      <p:ext uri="{C676402C-5697-4E1C-873F-D02D1690AC5C}">
        <p15:threadingInfo xmlns:p15="http://schemas.microsoft.com/office/powerpoint/2012/main" timeZoneBias="480"/>
      </p:ext>
    </p:extLst>
  </p:cm>
  <p:cm authorId="1" dt="2021-12-03T10:05:39.554" idx="6">
    <p:pos x="5639" y="1085"/>
    <p:text>See next page for the correct results using what is shown in these thermal conductivities</p:text>
    <p:extLst>
      <p:ext uri="{C676402C-5697-4E1C-873F-D02D1690AC5C}">
        <p15:threadingInfo xmlns:p15="http://schemas.microsoft.com/office/powerpoint/2012/main" timeZoneBias="480">
          <p15:parentCm authorId="1" idx="5"/>
        </p15:threadingInfo>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ChangeArrowheads="1"/>
          </p:cNvSpPr>
          <p:nvPr/>
        </p:nvSpPr>
        <p:spPr bwMode="auto">
          <a:xfrm>
            <a:off x="6811838" y="9183072"/>
            <a:ext cx="428685" cy="325664"/>
          </a:xfrm>
          <a:prstGeom prst="rect">
            <a:avLst/>
          </a:prstGeom>
          <a:noFill/>
          <a:ln w="12700">
            <a:noFill/>
            <a:miter lim="800000"/>
            <a:headEnd/>
            <a:tailEnd/>
          </a:ln>
          <a:effectLst/>
        </p:spPr>
        <p:txBody>
          <a:bodyPr wrap="none" lIns="95578" tIns="46952" rIns="95578" bIns="46952" anchor="ctr">
            <a:spAutoFit/>
          </a:bodyPr>
          <a:lstStyle/>
          <a:p>
            <a:pPr defTabSz="966317">
              <a:defRPr/>
            </a:pPr>
            <a:fld id="{2C2239AB-12A2-4BE7-8B28-8E6977DFFDFB}" type="slidenum">
              <a:rPr lang="en-US" altLang="en-US" sz="1500">
                <a:solidFill>
                  <a:schemeClr val="tx1"/>
                </a:solidFill>
                <a:latin typeface="Helvetica" pitchFamily="34" charset="0"/>
              </a:rPr>
              <a:pPr defTabSz="966317">
                <a:defRPr/>
              </a:pPr>
              <a:t>‹#›</a:t>
            </a:fld>
            <a:endParaRPr lang="en-US" altLang="en-US" sz="1500" dirty="0">
              <a:solidFill>
                <a:schemeClr val="tx1"/>
              </a:solidFill>
              <a:latin typeface="Helvetica" pitchFamily="34" charset="0"/>
            </a:endParaRPr>
          </a:p>
        </p:txBody>
      </p:sp>
    </p:spTree>
    <p:extLst>
      <p:ext uri="{BB962C8B-B14F-4D97-AF65-F5344CB8AC3E}">
        <p14:creationId xmlns:p14="http://schemas.microsoft.com/office/powerpoint/2010/main" val="386974921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7762" name="Rectangle 2"/>
          <p:cNvSpPr>
            <a:spLocks noGrp="1" noChangeArrowheads="1"/>
          </p:cNvSpPr>
          <p:nvPr>
            <p:ph type="hdr" sz="quarter"/>
          </p:nvPr>
        </p:nvSpPr>
        <p:spPr bwMode="auto">
          <a:xfrm>
            <a:off x="2" y="0"/>
            <a:ext cx="3169699" cy="481045"/>
          </a:xfrm>
          <a:prstGeom prst="rect">
            <a:avLst/>
          </a:prstGeom>
          <a:noFill/>
          <a:ln w="12700">
            <a:noFill/>
            <a:miter lim="800000"/>
            <a:headEnd/>
            <a:tailEnd/>
          </a:ln>
          <a:effectLst/>
        </p:spPr>
        <p:txBody>
          <a:bodyPr vert="horz" wrap="square" lIns="96583" tIns="48295" rIns="96583" bIns="48295" numCol="1" anchor="t" anchorCtr="0" compatLnSpc="1">
            <a:prstTxWarp prst="textNoShape">
              <a:avLst/>
            </a:prstTxWarp>
          </a:bodyPr>
          <a:lstStyle>
            <a:lvl1pPr algn="l" defTabSz="966317">
              <a:defRPr sz="1300">
                <a:latin typeface="Helvetica" pitchFamily="34" charset="0"/>
              </a:defRPr>
            </a:lvl1pPr>
          </a:lstStyle>
          <a:p>
            <a:pPr>
              <a:defRPr/>
            </a:pPr>
            <a:endParaRPr lang="en-US" altLang="en-US"/>
          </a:p>
        </p:txBody>
      </p:sp>
      <p:sp>
        <p:nvSpPr>
          <p:cNvPr id="117763" name="Rectangle 3"/>
          <p:cNvSpPr>
            <a:spLocks noGrp="1" noChangeArrowheads="1"/>
          </p:cNvSpPr>
          <p:nvPr>
            <p:ph type="dt" idx="1"/>
          </p:nvPr>
        </p:nvSpPr>
        <p:spPr bwMode="auto">
          <a:xfrm>
            <a:off x="4145504" y="0"/>
            <a:ext cx="3169699" cy="481045"/>
          </a:xfrm>
          <a:prstGeom prst="rect">
            <a:avLst/>
          </a:prstGeom>
          <a:noFill/>
          <a:ln w="12700">
            <a:noFill/>
            <a:miter lim="800000"/>
            <a:headEnd/>
            <a:tailEnd/>
          </a:ln>
          <a:effectLst/>
        </p:spPr>
        <p:txBody>
          <a:bodyPr vert="horz" wrap="square" lIns="96583" tIns="48295" rIns="96583" bIns="48295" numCol="1" anchor="t" anchorCtr="0" compatLnSpc="1">
            <a:prstTxWarp prst="textNoShape">
              <a:avLst/>
            </a:prstTxWarp>
          </a:bodyPr>
          <a:lstStyle>
            <a:lvl1pPr defTabSz="966317">
              <a:defRPr sz="1300">
                <a:latin typeface="Helvetica" pitchFamily="34" charset="0"/>
              </a:defRPr>
            </a:lvl1pPr>
          </a:lstStyle>
          <a:p>
            <a:pPr>
              <a:defRPr/>
            </a:pPr>
            <a:endParaRPr lang="en-US" altLang="en-US"/>
          </a:p>
        </p:txBody>
      </p:sp>
      <p:sp>
        <p:nvSpPr>
          <p:cNvPr id="19460" name="Rectangle 4"/>
          <p:cNvSpPr>
            <a:spLocks noGrp="1" noRot="1" noChangeAspect="1" noChangeArrowheads="1" noTextEdit="1"/>
          </p:cNvSpPr>
          <p:nvPr>
            <p:ph type="sldImg" idx="2"/>
          </p:nvPr>
        </p:nvSpPr>
        <p:spPr bwMode="auto">
          <a:xfrm>
            <a:off x="457200" y="719138"/>
            <a:ext cx="6400800" cy="3600450"/>
          </a:xfrm>
          <a:prstGeom prst="rect">
            <a:avLst/>
          </a:prstGeom>
          <a:noFill/>
          <a:ln w="9525">
            <a:solidFill>
              <a:srgbClr val="000000"/>
            </a:solidFill>
            <a:miter lim="800000"/>
            <a:headEnd/>
            <a:tailEnd/>
          </a:ln>
        </p:spPr>
      </p:sp>
      <p:sp>
        <p:nvSpPr>
          <p:cNvPr id="117765" name="Rectangle 5"/>
          <p:cNvSpPr>
            <a:spLocks noGrp="1" noChangeArrowheads="1"/>
          </p:cNvSpPr>
          <p:nvPr>
            <p:ph type="body" sz="quarter" idx="3"/>
          </p:nvPr>
        </p:nvSpPr>
        <p:spPr bwMode="auto">
          <a:xfrm>
            <a:off x="975805" y="4560900"/>
            <a:ext cx="5363595" cy="4321197"/>
          </a:xfrm>
          <a:prstGeom prst="rect">
            <a:avLst/>
          </a:prstGeom>
          <a:noFill/>
          <a:ln w="12700">
            <a:noFill/>
            <a:miter lim="800000"/>
            <a:headEnd/>
            <a:tailEnd/>
          </a:ln>
          <a:effectLst/>
        </p:spPr>
        <p:txBody>
          <a:bodyPr vert="horz" wrap="square" lIns="96583" tIns="48295" rIns="96583" bIns="48295" numCol="1" anchor="t" anchorCtr="0" compatLnSpc="1">
            <a:prstTxWarp prst="textNoShape">
              <a:avLst/>
            </a:prstTxWarp>
          </a:bodyPr>
          <a:lstStyle/>
          <a:p>
            <a:pPr lvl="0"/>
            <a:r>
              <a:rPr lang="en-US" altLang="en-US" noProof="0"/>
              <a:t>Click to edit Master text styles</a:t>
            </a:r>
          </a:p>
          <a:p>
            <a:pPr lvl="1"/>
            <a:r>
              <a:rPr lang="en-US" altLang="en-US" noProof="0"/>
              <a:t>Second level</a:t>
            </a:r>
          </a:p>
          <a:p>
            <a:pPr lvl="2"/>
            <a:r>
              <a:rPr lang="en-US" altLang="en-US" noProof="0"/>
              <a:t>Third level</a:t>
            </a:r>
          </a:p>
          <a:p>
            <a:pPr lvl="3"/>
            <a:r>
              <a:rPr lang="en-US" altLang="en-US" noProof="0"/>
              <a:t>Fourth level</a:t>
            </a:r>
          </a:p>
          <a:p>
            <a:pPr lvl="4"/>
            <a:r>
              <a:rPr lang="en-US" altLang="en-US" noProof="0"/>
              <a:t>Fifth level</a:t>
            </a:r>
          </a:p>
        </p:txBody>
      </p:sp>
      <p:sp>
        <p:nvSpPr>
          <p:cNvPr id="117766" name="Rectangle 6"/>
          <p:cNvSpPr>
            <a:spLocks noGrp="1" noChangeArrowheads="1"/>
          </p:cNvSpPr>
          <p:nvPr>
            <p:ph type="ftr" sz="quarter" idx="4"/>
          </p:nvPr>
        </p:nvSpPr>
        <p:spPr bwMode="auto">
          <a:xfrm>
            <a:off x="2" y="9120158"/>
            <a:ext cx="3169699" cy="481044"/>
          </a:xfrm>
          <a:prstGeom prst="rect">
            <a:avLst/>
          </a:prstGeom>
          <a:noFill/>
          <a:ln w="12700">
            <a:noFill/>
            <a:miter lim="800000"/>
            <a:headEnd/>
            <a:tailEnd/>
          </a:ln>
          <a:effectLst/>
        </p:spPr>
        <p:txBody>
          <a:bodyPr vert="horz" wrap="square" lIns="96583" tIns="48295" rIns="96583" bIns="48295" numCol="1" anchor="b" anchorCtr="0" compatLnSpc="1">
            <a:prstTxWarp prst="textNoShape">
              <a:avLst/>
            </a:prstTxWarp>
          </a:bodyPr>
          <a:lstStyle>
            <a:lvl1pPr algn="l" defTabSz="966317">
              <a:defRPr sz="1300">
                <a:latin typeface="Helvetica" pitchFamily="34" charset="0"/>
              </a:defRPr>
            </a:lvl1pPr>
          </a:lstStyle>
          <a:p>
            <a:pPr>
              <a:defRPr/>
            </a:pPr>
            <a:endParaRPr lang="en-US" altLang="en-US"/>
          </a:p>
        </p:txBody>
      </p:sp>
      <p:sp>
        <p:nvSpPr>
          <p:cNvPr id="117767" name="Rectangle 7"/>
          <p:cNvSpPr>
            <a:spLocks noGrp="1" noChangeArrowheads="1"/>
          </p:cNvSpPr>
          <p:nvPr>
            <p:ph type="sldNum" sz="quarter" idx="5"/>
          </p:nvPr>
        </p:nvSpPr>
        <p:spPr bwMode="auto">
          <a:xfrm>
            <a:off x="4145504" y="9120158"/>
            <a:ext cx="3169699" cy="481044"/>
          </a:xfrm>
          <a:prstGeom prst="rect">
            <a:avLst/>
          </a:prstGeom>
          <a:noFill/>
          <a:ln w="12700">
            <a:noFill/>
            <a:miter lim="800000"/>
            <a:headEnd/>
            <a:tailEnd/>
          </a:ln>
          <a:effectLst/>
        </p:spPr>
        <p:txBody>
          <a:bodyPr vert="horz" wrap="square" lIns="96583" tIns="48295" rIns="96583" bIns="48295" numCol="1" anchor="b" anchorCtr="0" compatLnSpc="1">
            <a:prstTxWarp prst="textNoShape">
              <a:avLst/>
            </a:prstTxWarp>
          </a:bodyPr>
          <a:lstStyle>
            <a:lvl1pPr defTabSz="966317">
              <a:defRPr sz="1300">
                <a:latin typeface="Helvetica" pitchFamily="34" charset="0"/>
              </a:defRPr>
            </a:lvl1pPr>
          </a:lstStyle>
          <a:p>
            <a:pPr>
              <a:defRPr/>
            </a:pPr>
            <a:fld id="{B7F18C34-4167-401E-BA03-123688B60CC4}" type="slidenum">
              <a:rPr lang="en-US" altLang="en-US"/>
              <a:pPr>
                <a:defRPr/>
              </a:pPr>
              <a:t>‹#›</a:t>
            </a:fld>
            <a:endParaRPr lang="en-US" altLang="en-US"/>
          </a:p>
        </p:txBody>
      </p:sp>
    </p:spTree>
    <p:extLst>
      <p:ext uri="{BB962C8B-B14F-4D97-AF65-F5344CB8AC3E}">
        <p14:creationId xmlns:p14="http://schemas.microsoft.com/office/powerpoint/2010/main" val="59501507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Helvetica"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Helvetica"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Helvetica"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Helvetica"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Helvetica"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7F18C34-4167-401E-BA03-123688B60CC4}" type="slidenum">
              <a:rPr lang="en-US" altLang="en-US" smtClean="0"/>
              <a:pPr>
                <a:defRPr/>
              </a:pPr>
              <a:t>5</a:t>
            </a:fld>
            <a:endParaRPr lang="en-US" altLang="en-US"/>
          </a:p>
        </p:txBody>
      </p:sp>
    </p:spTree>
    <p:extLst>
      <p:ext uri="{BB962C8B-B14F-4D97-AF65-F5344CB8AC3E}">
        <p14:creationId xmlns:p14="http://schemas.microsoft.com/office/powerpoint/2010/main" val="35106926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a:defRPr/>
            </a:pPr>
            <a:fld id="{B7F18C34-4167-401E-BA03-123688B60CC4}" type="slidenum">
              <a:rPr lang="en-US" altLang="en-US" smtClean="0"/>
              <a:pPr>
                <a:defRPr/>
              </a:pPr>
              <a:t>11</a:t>
            </a:fld>
            <a:endParaRPr lang="en-US" altLang="en-US"/>
          </a:p>
        </p:txBody>
      </p:sp>
    </p:spTree>
    <p:extLst>
      <p:ext uri="{BB962C8B-B14F-4D97-AF65-F5344CB8AC3E}">
        <p14:creationId xmlns:p14="http://schemas.microsoft.com/office/powerpoint/2010/main" val="38673449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9"/>
          <p:cNvSpPr>
            <a:spLocks noGrp="1" noChangeArrowheads="1"/>
          </p:cNvSpPr>
          <p:nvPr>
            <p:ph type="ftr" sz="quarter" idx="10"/>
          </p:nvPr>
        </p:nvSpPr>
        <p:spPr>
          <a:ln/>
        </p:spPr>
        <p:txBody>
          <a:bodyPr/>
          <a:lstStyle>
            <a:lvl1pPr>
              <a:defRPr/>
            </a:lvl1pPr>
          </a:lstStyle>
          <a:p>
            <a:pPr>
              <a:defRPr/>
            </a:pPr>
            <a:r>
              <a:rPr lang="en-US" altLang="en-US"/>
              <a:t>LM-02</a:t>
            </a:r>
          </a:p>
        </p:txBody>
      </p:sp>
      <p:sp>
        <p:nvSpPr>
          <p:cNvPr id="5" name="Slide Number Placeholder 3"/>
          <p:cNvSpPr>
            <a:spLocks noGrp="1"/>
          </p:cNvSpPr>
          <p:nvPr>
            <p:ph type="sldNum" sz="quarter" idx="12"/>
          </p:nvPr>
        </p:nvSpPr>
        <p:spPr>
          <a:xfrm>
            <a:off x="8839200" y="6324601"/>
            <a:ext cx="2844800" cy="365125"/>
          </a:xfrm>
          <a:prstGeom prst="rect">
            <a:avLst/>
          </a:prstGeom>
        </p:spPr>
        <p:txBody>
          <a:bodyPr/>
          <a:lstStyle>
            <a:lvl1pPr>
              <a:defRPr sz="1400">
                <a:solidFill>
                  <a:schemeClr val="tx2"/>
                </a:solidFill>
              </a:defRPr>
            </a:lvl1pPr>
          </a:lstStyle>
          <a:p>
            <a:fld id="{4EA0A399-D9E6-4914-9988-B7BCDCA49517}" type="slidenum">
              <a:rPr lang="en-US" smtClean="0"/>
              <a:pPr/>
              <a:t>‹#›</a:t>
            </a:fld>
            <a:endParaRPr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3100" y="1195388"/>
            <a:ext cx="5071533" cy="5130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947834" y="1195388"/>
            <a:ext cx="5071533" cy="5130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50251" y="50800"/>
            <a:ext cx="2669116" cy="627538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338667" y="50800"/>
            <a:ext cx="7808384" cy="627538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338667" y="50800"/>
            <a:ext cx="9679517" cy="736600"/>
          </a:xfrm>
        </p:spPr>
        <p:txBody>
          <a:bodyPr/>
          <a:lstStyle/>
          <a:p>
            <a:r>
              <a:rPr lang="en-US"/>
              <a:t>Click to edit Master title style</a:t>
            </a:r>
          </a:p>
        </p:txBody>
      </p:sp>
      <p:sp>
        <p:nvSpPr>
          <p:cNvPr id="3" name="Text Placeholder 2"/>
          <p:cNvSpPr>
            <a:spLocks noGrp="1"/>
          </p:cNvSpPr>
          <p:nvPr>
            <p:ph type="body" sz="half" idx="1"/>
          </p:nvPr>
        </p:nvSpPr>
        <p:spPr>
          <a:xfrm>
            <a:off x="673100" y="1195388"/>
            <a:ext cx="5071533" cy="5130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quarter" idx="2"/>
          </p:nvPr>
        </p:nvSpPr>
        <p:spPr>
          <a:xfrm>
            <a:off x="5947834" y="1195388"/>
            <a:ext cx="5071533"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4"/>
          <p:cNvSpPr>
            <a:spLocks noGrp="1"/>
          </p:cNvSpPr>
          <p:nvPr>
            <p:ph sz="quarter" idx="3"/>
          </p:nvPr>
        </p:nvSpPr>
        <p:spPr>
          <a:xfrm>
            <a:off x="5947834" y="3836988"/>
            <a:ext cx="5071533" cy="248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cSld>
  <p:clrMapOvr>
    <a:masterClrMapping/>
  </p:clrMapOvr>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dirty="0"/>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dirty="0"/>
              <a:t>Click to edit Master subtitle style</a:t>
            </a:r>
          </a:p>
        </p:txBody>
      </p:sp>
      <p:sp>
        <p:nvSpPr>
          <p:cNvPr id="4"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extLst>
      <p:ext uri="{BB962C8B-B14F-4D97-AF65-F5344CB8AC3E}">
        <p14:creationId xmlns:p14="http://schemas.microsoft.com/office/powerpoint/2010/main" val="227825948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r>
              <a:rPr lang="en-US" altLang="en-US"/>
              <a:t>LM-02</a:t>
            </a:r>
          </a:p>
        </p:txBody>
      </p:sp>
    </p:spTree>
    <p:extLst>
      <p:ext uri="{BB962C8B-B14F-4D97-AF65-F5344CB8AC3E}">
        <p14:creationId xmlns:p14="http://schemas.microsoft.com/office/powerpoint/2010/main" val="343723968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solidFill>
                  <a:srgbClr val="00279F"/>
                </a:solidFill>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marL="342900" indent="-342900">
              <a:buClr>
                <a:srgbClr val="00279F"/>
              </a:buClr>
              <a:buFont typeface="Wingdings" panose="05000000000000000000" pitchFamily="2" charset="2"/>
              <a:buChar char="Ø"/>
              <a:defRPr/>
            </a:lvl1pPr>
            <a:lvl2pPr marL="742950" indent="-342900">
              <a:buClr>
                <a:srgbClr val="920000"/>
              </a:buClr>
              <a:buFont typeface="Arial" panose="020B0604020202020204" pitchFamily="34" charset="0"/>
              <a:buChar char="‒"/>
              <a:defRPr/>
            </a:lvl2pPr>
            <a:lvl3pPr marL="1028700" indent="-228600">
              <a:buFont typeface="Arial" panose="020B0604020202020204" pitchFamily="34" charset="0"/>
              <a:buChar char="•"/>
              <a:defRPr/>
            </a:lvl3pPr>
          </a:lstStyle>
          <a:p>
            <a:pPr lvl="0"/>
            <a:r>
              <a:rPr lang="en-US" dirty="0" smtClean="0"/>
              <a:t>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0EDAA693-F00E-4772-A061-944ACECADD3B}" type="datetimeFigureOut">
              <a:rPr lang="en-US" smtClean="0"/>
              <a:t>1/28/2022</a:t>
            </a:fld>
            <a:endParaRPr lang="en-US"/>
          </a:p>
        </p:txBody>
      </p:sp>
      <p:sp>
        <p:nvSpPr>
          <p:cNvPr id="5" name="Footer Placeholder 4"/>
          <p:cNvSpPr>
            <a:spLocks noGrp="1"/>
          </p:cNvSpPr>
          <p:nvPr>
            <p:ph type="ftr" sz="quarter" idx="11"/>
          </p:nvPr>
        </p:nvSpPr>
        <p:spPr>
          <a:xfrm>
            <a:off x="46134" y="6564528"/>
            <a:ext cx="1746251" cy="193675"/>
          </a:xfrm>
        </p:spPr>
        <p:txBody>
          <a:bodyPr/>
          <a:lstStyle/>
          <a:p>
            <a:endParaRPr lang="en-US"/>
          </a:p>
        </p:txBody>
      </p:sp>
      <p:sp>
        <p:nvSpPr>
          <p:cNvPr id="6" name="Slide Number Placeholder 5"/>
          <p:cNvSpPr>
            <a:spLocks noGrp="1"/>
          </p:cNvSpPr>
          <p:nvPr>
            <p:ph type="sldNum" sz="quarter" idx="12"/>
          </p:nvPr>
        </p:nvSpPr>
        <p:spPr/>
        <p:txBody>
          <a:bodyPr/>
          <a:lstStyle/>
          <a:p>
            <a:fld id="{7914B2A8-2025-4840-92BB-C8B9D5B037F6}" type="slidenum">
              <a:rPr lang="en-US" smtClean="0"/>
              <a:t>‹#›</a:t>
            </a:fld>
            <a:endParaRPr lang="en-US"/>
          </a:p>
        </p:txBody>
      </p:sp>
    </p:spTree>
    <p:extLst>
      <p:ext uri="{BB962C8B-B14F-4D97-AF65-F5344CB8AC3E}">
        <p14:creationId xmlns:p14="http://schemas.microsoft.com/office/powerpoint/2010/main" val="58026389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1699596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229925852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130012351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25171501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8" name="Footer Placeholder 7"/>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18631990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4" name="Footer Placeholder 3"/>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326417776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3" name="Footer Placeholder 2"/>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300763951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58346727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6" name="Footer Placeholder 5"/>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1110545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150033917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838200" y="6356350"/>
            <a:ext cx="2743200" cy="365125"/>
          </a:xfrm>
          <a:prstGeom prst="rect">
            <a:avLst/>
          </a:prstGeom>
        </p:spPr>
        <p:txBody>
          <a:bodyPr/>
          <a:lstStyle/>
          <a:p>
            <a:fld id="{5038566C-9701-42D6-B796-FF858C582F82}" type="datetimeFigureOut">
              <a:rPr lang="en-US" smtClean="0"/>
              <a:t>1/28/2022</a:t>
            </a:fld>
            <a:endParaRPr lang="en-US"/>
          </a:p>
        </p:txBody>
      </p:sp>
      <p:sp>
        <p:nvSpPr>
          <p:cNvPr id="5" name="Footer Placeholder 4"/>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610600" y="6356350"/>
            <a:ext cx="2743200" cy="365125"/>
          </a:xfrm>
          <a:prstGeom prst="rect">
            <a:avLst/>
          </a:prstGeom>
        </p:spPr>
        <p:txBody>
          <a:bodyPr/>
          <a:lstStyle/>
          <a:p>
            <a:fld id="{FF05FE64-6EC2-4586-9376-9F72ACF295AF}" type="slidenum">
              <a:rPr lang="en-US" smtClean="0"/>
              <a:t>‹#›</a:t>
            </a:fld>
            <a:endParaRPr lang="en-US"/>
          </a:p>
        </p:txBody>
      </p:sp>
    </p:spTree>
    <p:extLst>
      <p:ext uri="{BB962C8B-B14F-4D97-AF65-F5344CB8AC3E}">
        <p14:creationId xmlns:p14="http://schemas.microsoft.com/office/powerpoint/2010/main" val="418883044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C549B430-D8DB-4CC5-B494-4A176CC8FF8C}" type="datetimeFigureOut">
              <a:rPr lang="en-US" smtClean="0"/>
              <a:pPr/>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49B430-D8DB-4CC5-B494-4A176CC8FF8C}" type="datetimeFigureOut">
              <a:rPr lang="en-US" smtClean="0"/>
              <a:pPr/>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549B430-D8DB-4CC5-B494-4A176CC8FF8C}" type="datetimeFigureOut">
              <a:rPr lang="en-US" smtClean="0"/>
              <a:pPr/>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C549B430-D8DB-4CC5-B494-4A176CC8FF8C}" type="datetimeFigureOut">
              <a:rPr lang="en-US" smtClean="0"/>
              <a:pPr/>
              <a:t>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C549B430-D8DB-4CC5-B494-4A176CC8FF8C}" type="datetimeFigureOut">
              <a:rPr lang="en-US" smtClean="0"/>
              <a:pPr/>
              <a:t>1/28/2022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549B430-D8DB-4CC5-B494-4A176CC8FF8C}" type="datetimeFigureOut">
              <a:rPr lang="en-US" smtClean="0"/>
              <a:pPr/>
              <a:t>1/28/2022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549B430-D8DB-4CC5-B494-4A176CC8FF8C}" type="datetimeFigureOut">
              <a:rPr lang="en-US" smtClean="0"/>
              <a:pPr/>
              <a:t>1/28/2022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49B430-D8DB-4CC5-B494-4A176CC8FF8C}" type="datetimeFigureOut">
              <a:rPr lang="en-US" smtClean="0"/>
              <a:pPr/>
              <a:t>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49B430-D8DB-4CC5-B494-4A176CC8FF8C}" type="datetimeFigureOut">
              <a:rPr lang="en-US" smtClean="0"/>
              <a:pPr/>
              <a:t>1/28/2022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49B430-D8DB-4CC5-B494-4A176CC8FF8C}" type="datetimeFigureOut">
              <a:rPr lang="en-US" smtClean="0"/>
              <a:pPr/>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549B430-D8DB-4CC5-B494-4A176CC8FF8C}" type="datetimeFigureOut">
              <a:rPr lang="en-US" smtClean="0"/>
              <a:pPr/>
              <a:t>1/28/2022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734F90A-9443-42FA-A817-36C63CCA87F2}"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5.xml"/><Relationship Id="rId2" Type="http://schemas.openxmlformats.org/officeDocument/2006/relationships/slideLayout" Target="../slideLayouts/slideLayout14.xml"/><Relationship Id="rId1" Type="http://schemas.openxmlformats.org/officeDocument/2006/relationships/slideLayout" Target="../slideLayouts/slideLayout13.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3.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theme" Target="../theme/theme3.xml"/><Relationship Id="rId2" Type="http://schemas.openxmlformats.org/officeDocument/2006/relationships/slideLayout" Target="../slideLayouts/slideLayout17.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4.xml"/><Relationship Id="rId3" Type="http://schemas.openxmlformats.org/officeDocument/2006/relationships/slideLayout" Target="../slideLayouts/slideLayout29.xml"/><Relationship Id="rId7" Type="http://schemas.openxmlformats.org/officeDocument/2006/relationships/slideLayout" Target="../slideLayouts/slideLayout33.xml"/><Relationship Id="rId12" Type="http://schemas.openxmlformats.org/officeDocument/2006/relationships/theme" Target="../theme/theme4.xml"/><Relationship Id="rId2" Type="http://schemas.openxmlformats.org/officeDocument/2006/relationships/slideLayout" Target="../slideLayouts/slideLayout28.xml"/><Relationship Id="rId1" Type="http://schemas.openxmlformats.org/officeDocument/2006/relationships/slideLayout" Target="../slideLayouts/slideLayout27.xml"/><Relationship Id="rId6" Type="http://schemas.openxmlformats.org/officeDocument/2006/relationships/slideLayout" Target="../slideLayouts/slideLayout32.xml"/><Relationship Id="rId11" Type="http://schemas.openxmlformats.org/officeDocument/2006/relationships/slideLayout" Target="../slideLayouts/slideLayout37.xml"/><Relationship Id="rId5" Type="http://schemas.openxmlformats.org/officeDocument/2006/relationships/slideLayout" Target="../slideLayouts/slideLayout31.xml"/><Relationship Id="rId10" Type="http://schemas.openxmlformats.org/officeDocument/2006/relationships/slideLayout" Target="../slideLayouts/slideLayout36.xml"/><Relationship Id="rId4" Type="http://schemas.openxmlformats.org/officeDocument/2006/relationships/slideLayout" Target="../slideLayouts/slideLayout30.xml"/><Relationship Id="rId9"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1446309" y="26773"/>
            <a:ext cx="9679517" cy="736600"/>
          </a:xfrm>
          <a:prstGeom prst="rect">
            <a:avLst/>
          </a:prstGeom>
          <a:noFill/>
          <a:ln w="12700">
            <a:noFill/>
            <a:miter lim="800000"/>
            <a:headEnd/>
            <a:tailEnd/>
          </a:ln>
        </p:spPr>
        <p:txBody>
          <a:bodyPr vert="horz" wrap="square" lIns="90487" tIns="44450" rIns="90487" bIns="44450" numCol="1" anchor="ctr" anchorCtr="0" compatLnSpc="1">
            <a:prstTxWarp prst="textNoShape">
              <a:avLst/>
            </a:prstTxWarp>
          </a:bodyPr>
          <a:lstStyle/>
          <a:p>
            <a:pPr lvl="0"/>
            <a:r>
              <a:rPr lang="en-US" altLang="en-US" dirty="0"/>
              <a:t/>
            </a:r>
            <a:br>
              <a:rPr lang="en-US" altLang="en-US" dirty="0"/>
            </a:br>
            <a:r>
              <a:rPr lang="en-US" altLang="en-US" dirty="0"/>
              <a:t>One line title (two lines possible)</a:t>
            </a:r>
          </a:p>
        </p:txBody>
      </p:sp>
      <p:sp>
        <p:nvSpPr>
          <p:cNvPr id="6147" name="Rectangle 3"/>
          <p:cNvSpPr>
            <a:spLocks noGrp="1" noChangeArrowheads="1"/>
          </p:cNvSpPr>
          <p:nvPr>
            <p:ph type="body" idx="1"/>
          </p:nvPr>
        </p:nvSpPr>
        <p:spPr bwMode="auto">
          <a:xfrm>
            <a:off x="673100" y="1195388"/>
            <a:ext cx="10346267" cy="5130800"/>
          </a:xfrm>
          <a:prstGeom prst="rect">
            <a:avLst/>
          </a:prstGeom>
          <a:noFill/>
          <a:ln w="12700">
            <a:noFill/>
            <a:miter lim="800000"/>
            <a:headEnd/>
            <a:tailEnd/>
          </a:ln>
        </p:spPr>
        <p:txBody>
          <a:bodyPr vert="horz" wrap="square" lIns="90487" tIns="44450" rIns="90487"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 (suggestion:  avoid going beyond third level for the On Site Review Presentation- your stuff may be too detailed for the audience and hard to read in the back of the room)</a:t>
            </a:r>
          </a:p>
          <a:p>
            <a:pPr lvl="3"/>
            <a:r>
              <a:rPr lang="en-US" altLang="en-US" dirty="0"/>
              <a:t>Fourth level</a:t>
            </a:r>
          </a:p>
        </p:txBody>
      </p:sp>
      <p:sp>
        <p:nvSpPr>
          <p:cNvPr id="115716" name="Rectangle 4"/>
          <p:cNvSpPr>
            <a:spLocks noChangeArrowheads="1"/>
          </p:cNvSpPr>
          <p:nvPr/>
        </p:nvSpPr>
        <p:spPr bwMode="auto">
          <a:xfrm>
            <a:off x="4959351" y="6524625"/>
            <a:ext cx="2243667" cy="196850"/>
          </a:xfrm>
          <a:prstGeom prst="rect">
            <a:avLst/>
          </a:prstGeom>
          <a:solidFill>
            <a:schemeClr val="bg1"/>
          </a:solidFill>
          <a:ln w="12700">
            <a:noFill/>
            <a:miter lim="800000"/>
            <a:headEnd/>
            <a:tailEnd/>
          </a:ln>
          <a:effectLst/>
        </p:spPr>
        <p:txBody>
          <a:bodyPr wrap="none" anchor="ctr"/>
          <a:lstStyle/>
          <a:p>
            <a:pPr>
              <a:defRPr/>
            </a:pPr>
            <a:endParaRPr lang="en-US" sz="2800"/>
          </a:p>
        </p:txBody>
      </p:sp>
      <p:sp>
        <p:nvSpPr>
          <p:cNvPr id="115722" name="Rectangle 10"/>
          <p:cNvSpPr>
            <a:spLocks noChangeArrowheads="1"/>
          </p:cNvSpPr>
          <p:nvPr/>
        </p:nvSpPr>
        <p:spPr bwMode="auto">
          <a:xfrm>
            <a:off x="10397068" y="203200"/>
            <a:ext cx="1691217" cy="774700"/>
          </a:xfrm>
          <a:prstGeom prst="rect">
            <a:avLst/>
          </a:prstGeom>
          <a:noFill/>
          <a:ln w="0">
            <a:solidFill>
              <a:srgbClr val="FFFFFE"/>
            </a:solidFill>
            <a:miter lim="800000"/>
            <a:headEnd/>
            <a:tailEnd/>
          </a:ln>
        </p:spPr>
        <p:txBody>
          <a:bodyPr/>
          <a:lstStyle/>
          <a:p>
            <a:pPr>
              <a:defRPr/>
            </a:pPr>
            <a:endParaRPr lang="en-US" sz="2800"/>
          </a:p>
        </p:txBody>
      </p:sp>
      <p:sp>
        <p:nvSpPr>
          <p:cNvPr id="115723" name="Rectangle 11"/>
          <p:cNvSpPr>
            <a:spLocks noChangeArrowheads="1"/>
          </p:cNvSpPr>
          <p:nvPr/>
        </p:nvSpPr>
        <p:spPr bwMode="auto">
          <a:xfrm>
            <a:off x="10373784" y="185738"/>
            <a:ext cx="23283" cy="17462"/>
          </a:xfrm>
          <a:prstGeom prst="rect">
            <a:avLst/>
          </a:prstGeom>
          <a:solidFill>
            <a:srgbClr val="FFFFFF"/>
          </a:solidFill>
          <a:ln w="9525">
            <a:noFill/>
            <a:miter lim="800000"/>
            <a:headEnd/>
            <a:tailEnd/>
          </a:ln>
        </p:spPr>
        <p:txBody>
          <a:bodyPr/>
          <a:lstStyle/>
          <a:p>
            <a:pPr>
              <a:defRPr/>
            </a:pPr>
            <a:endParaRPr lang="en-US" sz="2800"/>
          </a:p>
        </p:txBody>
      </p:sp>
      <p:sp>
        <p:nvSpPr>
          <p:cNvPr id="115721" name="Rectangle 9"/>
          <p:cNvSpPr>
            <a:spLocks noGrp="1" noChangeArrowheads="1"/>
          </p:cNvSpPr>
          <p:nvPr>
            <p:ph type="ftr" sz="quarter" idx="3"/>
          </p:nvPr>
        </p:nvSpPr>
        <p:spPr bwMode="auto">
          <a:xfrm>
            <a:off x="0" y="6664326"/>
            <a:ext cx="1746251" cy="193675"/>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lvl1pPr algn="ctr">
              <a:defRPr sz="800">
                <a:solidFill>
                  <a:schemeClr val="tx1"/>
                </a:solidFill>
              </a:defRPr>
            </a:lvl1pPr>
          </a:lstStyle>
          <a:p>
            <a:pPr>
              <a:defRPr/>
            </a:pPr>
            <a:r>
              <a:rPr lang="en-US" altLang="en-US"/>
              <a:t>LM-02</a:t>
            </a:r>
          </a:p>
        </p:txBody>
      </p:sp>
      <p:pic>
        <p:nvPicPr>
          <p:cNvPr id="12" name="Picture 2" descr="Energy logo - small"/>
          <p:cNvPicPr>
            <a:picLocks noChangeAspect="1" noChangeArrowheads="1"/>
          </p:cNvPicPr>
          <p:nvPr userDrawn="1"/>
        </p:nvPicPr>
        <p:blipFill>
          <a:blip r:embed="rId14">
            <a:extLst>
              <a:ext uri="{28A0092B-C50C-407E-A947-70E740481C1C}">
                <a14:useLocalDpi xmlns:a14="http://schemas.microsoft.com/office/drawing/2010/main" val="0"/>
              </a:ext>
            </a:extLst>
          </a:blip>
          <a:srcRect/>
          <a:stretch>
            <a:fillRect/>
          </a:stretch>
        </p:blipFill>
        <p:spPr bwMode="auto">
          <a:xfrm>
            <a:off x="0" y="103439"/>
            <a:ext cx="2892619" cy="717771"/>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8" descr="LBNL-LOGO-NEW-2010.gif"/>
          <p:cNvPicPr>
            <a:picLocks noChangeAspect="1"/>
          </p:cNvPicPr>
          <p:nvPr userDrawn="1"/>
        </p:nvPicPr>
        <p:blipFill>
          <a:blip r:embed="rId15" cstate="print">
            <a:extLst>
              <a:ext uri="{28A0092B-C50C-407E-A947-70E740481C1C}">
                <a14:useLocalDpi xmlns:a14="http://schemas.microsoft.com/office/drawing/2010/main" val="0"/>
              </a:ext>
            </a:extLst>
          </a:blip>
          <a:srcRect/>
          <a:stretch>
            <a:fillRect/>
          </a:stretch>
        </p:blipFill>
        <p:spPr bwMode="auto">
          <a:xfrm>
            <a:off x="11271346" y="38100"/>
            <a:ext cx="878724" cy="749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Rectangle 13"/>
          <p:cNvSpPr/>
          <p:nvPr userDrawn="1"/>
        </p:nvSpPr>
        <p:spPr>
          <a:xfrm>
            <a:off x="0" y="6510337"/>
            <a:ext cx="12192000" cy="347663"/>
          </a:xfrm>
          <a:prstGeom prst="rect">
            <a:avLst/>
          </a:prstGeom>
          <a:solidFill>
            <a:srgbClr val="19194D"/>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436888" fontAlgn="auto">
              <a:spcBef>
                <a:spcPts val="0"/>
              </a:spcBef>
              <a:spcAft>
                <a:spcPts val="0"/>
              </a:spcAft>
              <a:defRPr/>
            </a:pPr>
            <a:endParaRPr lang="en-US" dirty="0"/>
          </a:p>
        </p:txBody>
      </p:sp>
      <p:sp>
        <p:nvSpPr>
          <p:cNvPr id="16" name="TextBox 16"/>
          <p:cNvSpPr txBox="1">
            <a:spLocks noChangeArrowheads="1"/>
          </p:cNvSpPr>
          <p:nvPr userDrawn="1"/>
        </p:nvSpPr>
        <p:spPr bwMode="auto">
          <a:xfrm>
            <a:off x="2084473" y="6543676"/>
            <a:ext cx="6971459" cy="276999"/>
          </a:xfrm>
          <a:prstGeom prst="rect">
            <a:avLst/>
          </a:prstGeom>
          <a:noFill/>
          <a:ln>
            <a:noFill/>
          </a:ln>
        </p:spPr>
        <p:txBody>
          <a:bodyPr wrap="none">
            <a:spAutoFit/>
          </a:bodyPr>
          <a:lstStyle>
            <a:lvl1pPr eaLnBrk="0" hangingPunct="0">
              <a:defRPr sz="1600">
                <a:solidFill>
                  <a:schemeClr val="tx1"/>
                </a:solidFill>
                <a:latin typeface="Arial" pitchFamily="34" charset="0"/>
                <a:ea typeface="ＭＳ Ｐゴシック" pitchFamily="34" charset="-128"/>
              </a:defRPr>
            </a:lvl1pPr>
            <a:lvl2pPr marL="742950" indent="-285750" eaLnBrk="0" hangingPunct="0">
              <a:defRPr sz="1600">
                <a:solidFill>
                  <a:schemeClr val="tx1"/>
                </a:solidFill>
                <a:latin typeface="Arial" pitchFamily="34" charset="0"/>
                <a:ea typeface="ＭＳ Ｐゴシック" pitchFamily="34" charset="-128"/>
              </a:defRPr>
            </a:lvl2pPr>
            <a:lvl3pPr marL="1143000" indent="-228600" eaLnBrk="0" hangingPunct="0">
              <a:defRPr sz="1600">
                <a:solidFill>
                  <a:schemeClr val="tx1"/>
                </a:solidFill>
                <a:latin typeface="Arial" pitchFamily="34" charset="0"/>
                <a:ea typeface="ＭＳ Ｐゴシック" pitchFamily="34" charset="-128"/>
              </a:defRPr>
            </a:lvl3pPr>
            <a:lvl4pPr marL="1600200" indent="-228600" eaLnBrk="0" hangingPunct="0">
              <a:defRPr sz="1600">
                <a:solidFill>
                  <a:schemeClr val="tx1"/>
                </a:solidFill>
                <a:latin typeface="Arial" pitchFamily="34" charset="0"/>
                <a:ea typeface="ＭＳ Ｐゴシック" pitchFamily="34" charset="-128"/>
              </a:defRPr>
            </a:lvl4pPr>
            <a:lvl5pPr marL="2057400" indent="-228600" eaLnBrk="0" hangingPunct="0">
              <a:defRPr sz="16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9pPr>
          </a:lstStyle>
          <a:p>
            <a:pPr algn="ctr" eaLnBrk="1" hangingPunct="1"/>
            <a:r>
              <a:rPr lang="en-US" altLang="en-US" sz="1200" dirty="0">
                <a:solidFill>
                  <a:srgbClr val="B7DEE8"/>
                </a:solidFill>
              </a:rPr>
              <a:t>EARTH AND ENVIRONMENTAL SCIENCES • LAWRENCE BERKELEY NATIONAL LABORATORY</a:t>
            </a:r>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Lst>
  <p:hf hdr="0" ftr="0" dt="0"/>
  <p:txStyles>
    <p:title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p:titleStyle>
    <p:bodyStyle>
      <a:lvl1pPr marL="285750" indent="-285750" algn="l" rtl="0" eaLnBrk="0" fontAlgn="base" hangingPunct="0">
        <a:spcBef>
          <a:spcPct val="20000"/>
        </a:spcBef>
        <a:spcAft>
          <a:spcPct val="0"/>
        </a:spcAft>
        <a:buClr>
          <a:srgbClr val="0033CC"/>
        </a:buClr>
        <a:buSzPct val="100000"/>
        <a:buFont typeface="Wingdings" pitchFamily="2" charset="2"/>
        <a:buChar char="v"/>
        <a:defRPr sz="2400" b="1">
          <a:solidFill>
            <a:schemeClr val="tx1"/>
          </a:solidFill>
          <a:latin typeface="+mn-lt"/>
          <a:ea typeface="+mn-ea"/>
          <a:cs typeface="+mn-cs"/>
        </a:defRPr>
      </a:lvl1pPr>
      <a:lvl2pPr marL="685800" indent="-285750" algn="l" rtl="0" eaLnBrk="0" fontAlgn="base" hangingPunct="0">
        <a:spcBef>
          <a:spcPct val="20000"/>
        </a:spcBef>
        <a:spcAft>
          <a:spcPct val="0"/>
        </a:spcAft>
        <a:buClr>
          <a:schemeClr val="hlink"/>
        </a:buClr>
        <a:buSzPct val="100000"/>
        <a:buFont typeface="Wingdings" pitchFamily="2" charset="2"/>
        <a:buChar char="Ø"/>
        <a:defRPr sz="2000" b="1">
          <a:solidFill>
            <a:schemeClr val="tx1"/>
          </a:solidFill>
          <a:latin typeface="+mn-lt"/>
        </a:defRPr>
      </a:lvl2pPr>
      <a:lvl3pPr marL="1028700" indent="-228600" algn="l" rtl="0" eaLnBrk="0" fontAlgn="base" hangingPunct="0">
        <a:spcBef>
          <a:spcPct val="20000"/>
        </a:spcBef>
        <a:spcAft>
          <a:spcPct val="0"/>
        </a:spcAft>
        <a:buClr>
          <a:schemeClr val="tx1"/>
        </a:buClr>
        <a:buSzPct val="100000"/>
        <a:buFont typeface="Wingdings" pitchFamily="2" charset="2"/>
        <a:buChar char="§"/>
        <a:defRPr b="1">
          <a:solidFill>
            <a:schemeClr val="tx1"/>
          </a:solidFill>
          <a:latin typeface="+mn-lt"/>
        </a:defRPr>
      </a:lvl3pPr>
      <a:lvl4pPr marL="1428750" indent="-285750" algn="l" rtl="0" eaLnBrk="0" fontAlgn="base" hangingPunct="0">
        <a:spcBef>
          <a:spcPct val="20000"/>
        </a:spcBef>
        <a:spcAft>
          <a:spcPct val="0"/>
        </a:spcAft>
        <a:buClr>
          <a:srgbClr val="003399"/>
        </a:buClr>
        <a:buSzPct val="100000"/>
        <a:buChar char="—"/>
        <a:defRPr sz="1600" b="1">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eaLnBrk="0" fontAlgn="base" hangingPunct="0">
        <a:spcBef>
          <a:spcPct val="20000"/>
        </a:spcBef>
        <a:spcAft>
          <a:spcPct val="0"/>
        </a:spcAft>
        <a:buChar char="»"/>
        <a:defRPr sz="2000">
          <a:solidFill>
            <a:schemeClr val="tx1"/>
          </a:solidFill>
          <a:latin typeface="Times" pitchFamily="18" charset="0"/>
        </a:defRPr>
      </a:lvl6pPr>
      <a:lvl7pPr marL="2971800" indent="-228600" algn="l" rtl="0" eaLnBrk="0" fontAlgn="base" hangingPunct="0">
        <a:spcBef>
          <a:spcPct val="20000"/>
        </a:spcBef>
        <a:spcAft>
          <a:spcPct val="0"/>
        </a:spcAft>
        <a:buChar char="»"/>
        <a:defRPr sz="2000">
          <a:solidFill>
            <a:schemeClr val="tx1"/>
          </a:solidFill>
          <a:latin typeface="Times" pitchFamily="18" charset="0"/>
        </a:defRPr>
      </a:lvl7pPr>
      <a:lvl8pPr marL="3429000" indent="-228600" algn="l" rtl="0" eaLnBrk="0" fontAlgn="base" hangingPunct="0">
        <a:spcBef>
          <a:spcPct val="20000"/>
        </a:spcBef>
        <a:spcAft>
          <a:spcPct val="0"/>
        </a:spcAft>
        <a:buChar char="»"/>
        <a:defRPr sz="2000">
          <a:solidFill>
            <a:schemeClr val="tx1"/>
          </a:solidFill>
          <a:latin typeface="Times" pitchFamily="18" charset="0"/>
        </a:defRPr>
      </a:lvl8pPr>
      <a:lvl9pPr marL="3886200" indent="-228600" algn="l" rtl="0" eaLnBrk="0" fontAlgn="base" hangingPunct="0">
        <a:spcBef>
          <a:spcPct val="20000"/>
        </a:spcBef>
        <a:spcAft>
          <a:spcPct val="0"/>
        </a:spcAft>
        <a:buChar char="»"/>
        <a:defRPr sz="2000">
          <a:solidFill>
            <a:schemeClr val="tx1"/>
          </a:solidFill>
          <a:latin typeface="Times"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bwMode="auto">
          <a:xfrm>
            <a:off x="1446309" y="26773"/>
            <a:ext cx="9679517" cy="736600"/>
          </a:xfrm>
          <a:prstGeom prst="rect">
            <a:avLst/>
          </a:prstGeom>
          <a:noFill/>
          <a:ln w="12700">
            <a:noFill/>
            <a:miter lim="800000"/>
            <a:headEnd/>
            <a:tailEnd/>
          </a:ln>
        </p:spPr>
        <p:txBody>
          <a:bodyPr vert="horz" wrap="square" lIns="90487" tIns="44450" rIns="90487" bIns="44450" numCol="1" anchor="ctr" anchorCtr="0" compatLnSpc="1">
            <a:prstTxWarp prst="textNoShape">
              <a:avLst/>
            </a:prstTxWarp>
          </a:bodyPr>
          <a:lstStyle/>
          <a:p>
            <a:pPr lvl="0"/>
            <a:r>
              <a:rPr lang="en-US" altLang="en-US" dirty="0"/>
              <a:t/>
            </a:r>
            <a:br>
              <a:rPr lang="en-US" altLang="en-US" dirty="0"/>
            </a:br>
            <a:r>
              <a:rPr lang="en-US" altLang="en-US" dirty="0"/>
              <a:t>One line title (two lines possible)</a:t>
            </a:r>
          </a:p>
        </p:txBody>
      </p:sp>
      <p:sp>
        <p:nvSpPr>
          <p:cNvPr id="6147" name="Rectangle 3"/>
          <p:cNvSpPr>
            <a:spLocks noGrp="1" noChangeArrowheads="1"/>
          </p:cNvSpPr>
          <p:nvPr>
            <p:ph type="body" idx="1"/>
          </p:nvPr>
        </p:nvSpPr>
        <p:spPr bwMode="auto">
          <a:xfrm>
            <a:off x="673100" y="1195388"/>
            <a:ext cx="10346267" cy="5130800"/>
          </a:xfrm>
          <a:prstGeom prst="rect">
            <a:avLst/>
          </a:prstGeom>
          <a:noFill/>
          <a:ln w="12700">
            <a:noFill/>
            <a:miter lim="800000"/>
            <a:headEnd/>
            <a:tailEnd/>
          </a:ln>
        </p:spPr>
        <p:txBody>
          <a:bodyPr vert="horz" wrap="square" lIns="90487" tIns="44450" rIns="90487" bIns="4445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 (suggestion:  avoid going beyond third level for the On Site Review Presentation- your stuff may be too detailed for the audience and hard to read in the back of the room)</a:t>
            </a:r>
          </a:p>
          <a:p>
            <a:pPr lvl="3"/>
            <a:r>
              <a:rPr lang="en-US" altLang="en-US" dirty="0"/>
              <a:t>Fourth level</a:t>
            </a:r>
          </a:p>
        </p:txBody>
      </p:sp>
      <p:sp>
        <p:nvSpPr>
          <p:cNvPr id="115716" name="Rectangle 4"/>
          <p:cNvSpPr>
            <a:spLocks noChangeArrowheads="1"/>
          </p:cNvSpPr>
          <p:nvPr/>
        </p:nvSpPr>
        <p:spPr bwMode="auto">
          <a:xfrm>
            <a:off x="4959351" y="6524625"/>
            <a:ext cx="2243667" cy="196850"/>
          </a:xfrm>
          <a:prstGeom prst="rect">
            <a:avLst/>
          </a:prstGeom>
          <a:solidFill>
            <a:schemeClr val="bg1"/>
          </a:solidFill>
          <a:ln w="12700">
            <a:noFill/>
            <a:miter lim="800000"/>
            <a:headEnd/>
            <a:tailEnd/>
          </a:ln>
          <a:effectLst/>
        </p:spPr>
        <p:txBody>
          <a:bodyPr wrap="none" anchor="ctr"/>
          <a:lstStyle/>
          <a:p>
            <a:pPr>
              <a:defRPr/>
            </a:pPr>
            <a:endParaRPr lang="en-US" sz="2800"/>
          </a:p>
        </p:txBody>
      </p:sp>
      <p:sp>
        <p:nvSpPr>
          <p:cNvPr id="115722" name="Rectangle 10"/>
          <p:cNvSpPr>
            <a:spLocks noChangeArrowheads="1"/>
          </p:cNvSpPr>
          <p:nvPr/>
        </p:nvSpPr>
        <p:spPr bwMode="auto">
          <a:xfrm>
            <a:off x="10397068" y="203200"/>
            <a:ext cx="1691217" cy="774700"/>
          </a:xfrm>
          <a:prstGeom prst="rect">
            <a:avLst/>
          </a:prstGeom>
          <a:noFill/>
          <a:ln w="0">
            <a:solidFill>
              <a:srgbClr val="FFFFFE"/>
            </a:solidFill>
            <a:miter lim="800000"/>
            <a:headEnd/>
            <a:tailEnd/>
          </a:ln>
        </p:spPr>
        <p:txBody>
          <a:bodyPr/>
          <a:lstStyle/>
          <a:p>
            <a:pPr>
              <a:defRPr/>
            </a:pPr>
            <a:endParaRPr lang="en-US" sz="2800"/>
          </a:p>
        </p:txBody>
      </p:sp>
      <p:sp>
        <p:nvSpPr>
          <p:cNvPr id="115723" name="Rectangle 11"/>
          <p:cNvSpPr>
            <a:spLocks noChangeArrowheads="1"/>
          </p:cNvSpPr>
          <p:nvPr/>
        </p:nvSpPr>
        <p:spPr bwMode="auto">
          <a:xfrm>
            <a:off x="10373784" y="185738"/>
            <a:ext cx="23283" cy="17462"/>
          </a:xfrm>
          <a:prstGeom prst="rect">
            <a:avLst/>
          </a:prstGeom>
          <a:solidFill>
            <a:srgbClr val="FFFFFF"/>
          </a:solidFill>
          <a:ln w="9525">
            <a:noFill/>
            <a:miter lim="800000"/>
            <a:headEnd/>
            <a:tailEnd/>
          </a:ln>
        </p:spPr>
        <p:txBody>
          <a:bodyPr/>
          <a:lstStyle/>
          <a:p>
            <a:pPr>
              <a:defRPr/>
            </a:pPr>
            <a:endParaRPr lang="en-US" sz="2800"/>
          </a:p>
        </p:txBody>
      </p:sp>
      <p:sp>
        <p:nvSpPr>
          <p:cNvPr id="115721" name="Rectangle 9"/>
          <p:cNvSpPr>
            <a:spLocks noGrp="1" noChangeArrowheads="1"/>
          </p:cNvSpPr>
          <p:nvPr>
            <p:ph type="ftr" sz="quarter" idx="3"/>
          </p:nvPr>
        </p:nvSpPr>
        <p:spPr bwMode="auto">
          <a:xfrm>
            <a:off x="0" y="6664326"/>
            <a:ext cx="1746251" cy="193675"/>
          </a:xfrm>
          <a:prstGeom prst="rect">
            <a:avLst/>
          </a:prstGeom>
          <a:noFill/>
          <a:ln w="12700">
            <a:noFill/>
            <a:miter lim="800000"/>
            <a:headEnd/>
            <a:tailEnd/>
          </a:ln>
          <a:effectLst/>
        </p:spPr>
        <p:txBody>
          <a:bodyPr vert="horz" wrap="square" lIns="91440" tIns="45720" rIns="91440" bIns="45720" numCol="1" anchor="t" anchorCtr="0" compatLnSpc="1">
            <a:prstTxWarp prst="textNoShape">
              <a:avLst/>
            </a:prstTxWarp>
          </a:bodyPr>
          <a:lstStyle>
            <a:lvl1pPr algn="ctr">
              <a:defRPr sz="800">
                <a:solidFill>
                  <a:schemeClr val="tx1"/>
                </a:solidFill>
              </a:defRPr>
            </a:lvl1pPr>
          </a:lstStyle>
          <a:p>
            <a:pPr>
              <a:defRPr/>
            </a:pPr>
            <a:r>
              <a:rPr lang="en-US" altLang="en-US"/>
              <a:t>LM-02</a:t>
            </a:r>
          </a:p>
        </p:txBody>
      </p:sp>
      <p:sp>
        <p:nvSpPr>
          <p:cNvPr id="14" name="Rectangle 13"/>
          <p:cNvSpPr/>
          <p:nvPr userDrawn="1"/>
        </p:nvSpPr>
        <p:spPr>
          <a:xfrm>
            <a:off x="0" y="6510337"/>
            <a:ext cx="12192000" cy="347663"/>
          </a:xfrm>
          <a:prstGeom prst="rect">
            <a:avLst/>
          </a:prstGeom>
          <a:solidFill>
            <a:srgbClr val="19194D"/>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436888" fontAlgn="auto">
              <a:spcBef>
                <a:spcPts val="0"/>
              </a:spcBef>
              <a:spcAft>
                <a:spcPts val="0"/>
              </a:spcAft>
              <a:defRPr/>
            </a:pPr>
            <a:endParaRPr lang="en-US" dirty="0"/>
          </a:p>
        </p:txBody>
      </p:sp>
      <p:sp>
        <p:nvSpPr>
          <p:cNvPr id="16" name="TextBox 16"/>
          <p:cNvSpPr txBox="1">
            <a:spLocks noChangeArrowheads="1"/>
          </p:cNvSpPr>
          <p:nvPr userDrawn="1"/>
        </p:nvSpPr>
        <p:spPr bwMode="auto">
          <a:xfrm>
            <a:off x="2084473" y="6543676"/>
            <a:ext cx="6971459" cy="276999"/>
          </a:xfrm>
          <a:prstGeom prst="rect">
            <a:avLst/>
          </a:prstGeom>
          <a:noFill/>
          <a:ln>
            <a:noFill/>
          </a:ln>
        </p:spPr>
        <p:txBody>
          <a:bodyPr wrap="none">
            <a:spAutoFit/>
          </a:bodyPr>
          <a:lstStyle>
            <a:lvl1pPr eaLnBrk="0" hangingPunct="0">
              <a:defRPr sz="1600">
                <a:solidFill>
                  <a:schemeClr val="tx1"/>
                </a:solidFill>
                <a:latin typeface="Arial" pitchFamily="34" charset="0"/>
                <a:ea typeface="ＭＳ Ｐゴシック" pitchFamily="34" charset="-128"/>
              </a:defRPr>
            </a:lvl1pPr>
            <a:lvl2pPr marL="742950" indent="-285750" eaLnBrk="0" hangingPunct="0">
              <a:defRPr sz="1600">
                <a:solidFill>
                  <a:schemeClr val="tx1"/>
                </a:solidFill>
                <a:latin typeface="Arial" pitchFamily="34" charset="0"/>
                <a:ea typeface="ＭＳ Ｐゴシック" pitchFamily="34" charset="-128"/>
              </a:defRPr>
            </a:lvl2pPr>
            <a:lvl3pPr marL="1143000" indent="-228600" eaLnBrk="0" hangingPunct="0">
              <a:defRPr sz="1600">
                <a:solidFill>
                  <a:schemeClr val="tx1"/>
                </a:solidFill>
                <a:latin typeface="Arial" pitchFamily="34" charset="0"/>
                <a:ea typeface="ＭＳ Ｐゴシック" pitchFamily="34" charset="-128"/>
              </a:defRPr>
            </a:lvl3pPr>
            <a:lvl4pPr marL="1600200" indent="-228600" eaLnBrk="0" hangingPunct="0">
              <a:defRPr sz="1600">
                <a:solidFill>
                  <a:schemeClr val="tx1"/>
                </a:solidFill>
                <a:latin typeface="Arial" pitchFamily="34" charset="0"/>
                <a:ea typeface="ＭＳ Ｐゴシック" pitchFamily="34" charset="-128"/>
              </a:defRPr>
            </a:lvl4pPr>
            <a:lvl5pPr marL="2057400" indent="-228600" eaLnBrk="0" hangingPunct="0">
              <a:defRPr sz="16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9pPr>
          </a:lstStyle>
          <a:p>
            <a:pPr algn="ctr" eaLnBrk="1" hangingPunct="1"/>
            <a:r>
              <a:rPr lang="en-US" altLang="en-US" sz="1200" dirty="0">
                <a:solidFill>
                  <a:srgbClr val="B7DEE8"/>
                </a:solidFill>
              </a:rPr>
              <a:t>EARTH AND ENVIRONMENTAL SCIENCES • LAWRENCE BERKELEY NATIONAL LABORATORY</a:t>
            </a:r>
          </a:p>
        </p:txBody>
      </p:sp>
    </p:spTree>
    <p:extLst>
      <p:ext uri="{BB962C8B-B14F-4D97-AF65-F5344CB8AC3E}">
        <p14:creationId xmlns:p14="http://schemas.microsoft.com/office/powerpoint/2010/main" val="2772865718"/>
      </p:ext>
    </p:extLst>
  </p:cSld>
  <p:clrMap bg1="lt1" tx1="dk1" bg2="lt2" tx2="dk2" accent1="accent1" accent2="accent2" accent3="accent3" accent4="accent4" accent5="accent5" accent6="accent6" hlink="hlink" folHlink="folHlink"/>
  <p:sldLayoutIdLst>
    <p:sldLayoutId id="2147483687" r:id="rId1"/>
    <p:sldLayoutId id="2147483693" r:id="rId2"/>
    <p:sldLayoutId id="2147483694" r:id="rId3"/>
  </p:sldLayoutIdLst>
  <p:timing>
    <p:tnLst>
      <p:par>
        <p:cTn id="1" dur="indefinite" restart="never" nodeType="tmRoot"/>
      </p:par>
    </p:tnLst>
  </p:timing>
  <p:hf hdr="0" ftr="0" dt="0"/>
  <p:txStyles>
    <p:title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p:titleStyle>
    <p:bodyStyle>
      <a:lvl1pPr marL="285750" indent="-285750" algn="l" rtl="0" eaLnBrk="0" fontAlgn="base" hangingPunct="0">
        <a:spcBef>
          <a:spcPct val="20000"/>
        </a:spcBef>
        <a:spcAft>
          <a:spcPct val="0"/>
        </a:spcAft>
        <a:buClr>
          <a:srgbClr val="0033CC"/>
        </a:buClr>
        <a:buSzPct val="100000"/>
        <a:buFont typeface="Wingdings" pitchFamily="2" charset="2"/>
        <a:buChar char="v"/>
        <a:defRPr sz="2400" b="1">
          <a:solidFill>
            <a:schemeClr val="tx1"/>
          </a:solidFill>
          <a:latin typeface="+mn-lt"/>
          <a:ea typeface="+mn-ea"/>
          <a:cs typeface="+mn-cs"/>
        </a:defRPr>
      </a:lvl1pPr>
      <a:lvl2pPr marL="685800" indent="-285750" algn="l" rtl="0" eaLnBrk="0" fontAlgn="base" hangingPunct="0">
        <a:spcBef>
          <a:spcPct val="20000"/>
        </a:spcBef>
        <a:spcAft>
          <a:spcPct val="0"/>
        </a:spcAft>
        <a:buClr>
          <a:schemeClr val="hlink"/>
        </a:buClr>
        <a:buSzPct val="100000"/>
        <a:buFont typeface="Wingdings" pitchFamily="2" charset="2"/>
        <a:buChar char="Ø"/>
        <a:defRPr sz="2000" b="1">
          <a:solidFill>
            <a:schemeClr val="tx1"/>
          </a:solidFill>
          <a:latin typeface="+mn-lt"/>
        </a:defRPr>
      </a:lvl2pPr>
      <a:lvl3pPr marL="1028700" indent="-228600" algn="l" rtl="0" eaLnBrk="0" fontAlgn="base" hangingPunct="0">
        <a:spcBef>
          <a:spcPct val="20000"/>
        </a:spcBef>
        <a:spcAft>
          <a:spcPct val="0"/>
        </a:spcAft>
        <a:buClr>
          <a:schemeClr val="tx1"/>
        </a:buClr>
        <a:buSzPct val="100000"/>
        <a:buFont typeface="Wingdings" pitchFamily="2" charset="2"/>
        <a:buChar char="§"/>
        <a:defRPr b="1">
          <a:solidFill>
            <a:schemeClr val="tx1"/>
          </a:solidFill>
          <a:latin typeface="+mn-lt"/>
        </a:defRPr>
      </a:lvl3pPr>
      <a:lvl4pPr marL="1428750" indent="-285750" algn="l" rtl="0" eaLnBrk="0" fontAlgn="base" hangingPunct="0">
        <a:spcBef>
          <a:spcPct val="20000"/>
        </a:spcBef>
        <a:spcAft>
          <a:spcPct val="0"/>
        </a:spcAft>
        <a:buClr>
          <a:srgbClr val="003399"/>
        </a:buClr>
        <a:buSzPct val="100000"/>
        <a:buChar char="—"/>
        <a:defRPr sz="1600" b="1">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eaLnBrk="0" fontAlgn="base" hangingPunct="0">
        <a:spcBef>
          <a:spcPct val="20000"/>
        </a:spcBef>
        <a:spcAft>
          <a:spcPct val="0"/>
        </a:spcAft>
        <a:buChar char="»"/>
        <a:defRPr sz="2000">
          <a:solidFill>
            <a:schemeClr val="tx1"/>
          </a:solidFill>
          <a:latin typeface="Times" pitchFamily="18" charset="0"/>
        </a:defRPr>
      </a:lvl6pPr>
      <a:lvl7pPr marL="2971800" indent="-228600" algn="l" rtl="0" eaLnBrk="0" fontAlgn="base" hangingPunct="0">
        <a:spcBef>
          <a:spcPct val="20000"/>
        </a:spcBef>
        <a:spcAft>
          <a:spcPct val="0"/>
        </a:spcAft>
        <a:buChar char="»"/>
        <a:defRPr sz="2000">
          <a:solidFill>
            <a:schemeClr val="tx1"/>
          </a:solidFill>
          <a:latin typeface="Times" pitchFamily="18" charset="0"/>
        </a:defRPr>
      </a:lvl7pPr>
      <a:lvl8pPr marL="3429000" indent="-228600" algn="l" rtl="0" eaLnBrk="0" fontAlgn="base" hangingPunct="0">
        <a:spcBef>
          <a:spcPct val="20000"/>
        </a:spcBef>
        <a:spcAft>
          <a:spcPct val="0"/>
        </a:spcAft>
        <a:buChar char="»"/>
        <a:defRPr sz="2000">
          <a:solidFill>
            <a:schemeClr val="tx1"/>
          </a:solidFill>
          <a:latin typeface="Times" pitchFamily="18" charset="0"/>
        </a:defRPr>
      </a:lvl8pPr>
      <a:lvl9pPr marL="3886200" indent="-228600" algn="l" rtl="0" eaLnBrk="0" fontAlgn="base" hangingPunct="0">
        <a:spcBef>
          <a:spcPct val="20000"/>
        </a:spcBef>
        <a:spcAft>
          <a:spcPct val="0"/>
        </a:spcAft>
        <a:buChar char="»"/>
        <a:defRPr sz="2000">
          <a:solidFill>
            <a:schemeClr val="tx1"/>
          </a:solidFill>
          <a:latin typeface="Times" pitchFamily="18"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1883F130-9470-4A02-B56E-C320A0B80A2E}"/>
              </a:ext>
            </a:extLst>
          </p:cNvPr>
          <p:cNvSpPr/>
          <p:nvPr userDrawn="1"/>
        </p:nvSpPr>
        <p:spPr>
          <a:xfrm>
            <a:off x="0" y="6510337"/>
            <a:ext cx="12192000" cy="347663"/>
          </a:xfrm>
          <a:prstGeom prst="rect">
            <a:avLst/>
          </a:prstGeom>
          <a:solidFill>
            <a:srgbClr val="19194D"/>
          </a:solidFill>
          <a:ln>
            <a:noFill/>
          </a:ln>
          <a:effectLst/>
        </p:spPr>
        <p:style>
          <a:lnRef idx="1">
            <a:schemeClr val="accent1"/>
          </a:lnRef>
          <a:fillRef idx="3">
            <a:schemeClr val="accent1"/>
          </a:fillRef>
          <a:effectRef idx="2">
            <a:schemeClr val="accent1"/>
          </a:effectRef>
          <a:fontRef idx="minor">
            <a:schemeClr val="lt1"/>
          </a:fontRef>
        </p:style>
        <p:txBody>
          <a:bodyPr anchor="ctr"/>
          <a:lstStyle/>
          <a:p>
            <a:pPr algn="ctr" defTabSz="1436888" fontAlgn="auto">
              <a:spcBef>
                <a:spcPts val="0"/>
              </a:spcBef>
              <a:spcAft>
                <a:spcPts val="0"/>
              </a:spcAft>
              <a:defRPr/>
            </a:pPr>
            <a:endParaRPr lang="en-US" dirty="0"/>
          </a:p>
        </p:txBody>
      </p:sp>
      <p:sp>
        <p:nvSpPr>
          <p:cNvPr id="8" name="TextBox 16">
            <a:extLst>
              <a:ext uri="{FF2B5EF4-FFF2-40B4-BE49-F238E27FC236}">
                <a16:creationId xmlns:a16="http://schemas.microsoft.com/office/drawing/2014/main" id="{C33518E4-33D7-4180-823B-C889AF76B267}"/>
              </a:ext>
            </a:extLst>
          </p:cNvPr>
          <p:cNvSpPr txBox="1">
            <a:spLocks noChangeArrowheads="1"/>
          </p:cNvSpPr>
          <p:nvPr userDrawn="1"/>
        </p:nvSpPr>
        <p:spPr bwMode="auto">
          <a:xfrm>
            <a:off x="2084473" y="6543676"/>
            <a:ext cx="6971459" cy="276999"/>
          </a:xfrm>
          <a:prstGeom prst="rect">
            <a:avLst/>
          </a:prstGeom>
          <a:noFill/>
          <a:ln>
            <a:noFill/>
          </a:ln>
        </p:spPr>
        <p:txBody>
          <a:bodyPr wrap="none">
            <a:spAutoFit/>
          </a:bodyPr>
          <a:lstStyle>
            <a:lvl1pPr eaLnBrk="0" hangingPunct="0">
              <a:defRPr sz="1600">
                <a:solidFill>
                  <a:schemeClr val="tx1"/>
                </a:solidFill>
                <a:latin typeface="Arial" pitchFamily="34" charset="0"/>
                <a:ea typeface="ＭＳ Ｐゴシック" pitchFamily="34" charset="-128"/>
              </a:defRPr>
            </a:lvl1pPr>
            <a:lvl2pPr marL="742950" indent="-285750" eaLnBrk="0" hangingPunct="0">
              <a:defRPr sz="1600">
                <a:solidFill>
                  <a:schemeClr val="tx1"/>
                </a:solidFill>
                <a:latin typeface="Arial" pitchFamily="34" charset="0"/>
                <a:ea typeface="ＭＳ Ｐゴシック" pitchFamily="34" charset="-128"/>
              </a:defRPr>
            </a:lvl2pPr>
            <a:lvl3pPr marL="1143000" indent="-228600" eaLnBrk="0" hangingPunct="0">
              <a:defRPr sz="1600">
                <a:solidFill>
                  <a:schemeClr val="tx1"/>
                </a:solidFill>
                <a:latin typeface="Arial" pitchFamily="34" charset="0"/>
                <a:ea typeface="ＭＳ Ｐゴシック" pitchFamily="34" charset="-128"/>
              </a:defRPr>
            </a:lvl3pPr>
            <a:lvl4pPr marL="1600200" indent="-228600" eaLnBrk="0" hangingPunct="0">
              <a:defRPr sz="1600">
                <a:solidFill>
                  <a:schemeClr val="tx1"/>
                </a:solidFill>
                <a:latin typeface="Arial" pitchFamily="34" charset="0"/>
                <a:ea typeface="ＭＳ Ｐゴシック" pitchFamily="34" charset="-128"/>
              </a:defRPr>
            </a:lvl4pPr>
            <a:lvl5pPr marL="2057400" indent="-228600" eaLnBrk="0" hangingPunct="0">
              <a:defRPr sz="1600">
                <a:solidFill>
                  <a:schemeClr val="tx1"/>
                </a:solidFill>
                <a:latin typeface="Arial" pitchFamily="34" charset="0"/>
                <a:ea typeface="ＭＳ Ｐゴシック" pitchFamily="34" charset="-128"/>
              </a:defRPr>
            </a:lvl5pPr>
            <a:lvl6pPr marL="25146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6pPr>
            <a:lvl7pPr marL="29718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7pPr>
            <a:lvl8pPr marL="34290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8pPr>
            <a:lvl9pPr marL="3886200" indent="-228600" eaLnBrk="0" fontAlgn="base" hangingPunct="0">
              <a:spcBef>
                <a:spcPct val="0"/>
              </a:spcBef>
              <a:spcAft>
                <a:spcPct val="0"/>
              </a:spcAft>
              <a:defRPr sz="1600">
                <a:solidFill>
                  <a:schemeClr val="tx1"/>
                </a:solidFill>
                <a:latin typeface="Arial" pitchFamily="34" charset="0"/>
                <a:ea typeface="ＭＳ Ｐゴシック" pitchFamily="34" charset="-128"/>
              </a:defRPr>
            </a:lvl9pPr>
          </a:lstStyle>
          <a:p>
            <a:pPr algn="ctr" eaLnBrk="1" hangingPunct="1"/>
            <a:r>
              <a:rPr lang="en-US" altLang="en-US" sz="1200" dirty="0">
                <a:solidFill>
                  <a:srgbClr val="B7DEE8"/>
                </a:solidFill>
              </a:rPr>
              <a:t>EARTH AND ENVIRONMENTAL SCIENCES • LAWRENCE BERKELEY NATIONAL LABORATORY</a:t>
            </a:r>
          </a:p>
        </p:txBody>
      </p:sp>
    </p:spTree>
    <p:extLst>
      <p:ext uri="{BB962C8B-B14F-4D97-AF65-F5344CB8AC3E}">
        <p14:creationId xmlns:p14="http://schemas.microsoft.com/office/powerpoint/2010/main" val="1548629482"/>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49B430-D8DB-4CC5-B494-4A176CC8FF8C}" type="datetimeFigureOut">
              <a:rPr lang="en-US" smtClean="0"/>
              <a:pPr/>
              <a:t>1/28/2022</a:t>
            </a:fld>
            <a:endParaRPr lang="en-US"/>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734F90A-9443-42FA-A817-36C63CCA87F2}"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emf"/><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4.xml"/><Relationship Id="rId5" Type="http://schemas.openxmlformats.org/officeDocument/2006/relationships/image" Target="../media/image12.emf"/><Relationship Id="rId4" Type="http://schemas.openxmlformats.org/officeDocument/2006/relationships/image" Target="../media/image11.emf"/></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1.emf"/><Relationship Id="rId2" Type="http://schemas.openxmlformats.org/officeDocument/2006/relationships/image" Target="../media/image13.png"/><Relationship Id="rId1" Type="http://schemas.openxmlformats.org/officeDocument/2006/relationships/slideLayout" Target="../slideLayouts/slideLayout14.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14.xml"/></Relationships>
</file>

<file path=ppt/slides/_rels/slide11.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0.png"/><Relationship Id="rId7"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14.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4.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3" Type="http://schemas.openxmlformats.org/officeDocument/2006/relationships/image" Target="../media/image29.png"/><Relationship Id="rId7" Type="http://schemas.openxmlformats.org/officeDocument/2006/relationships/comments" Target="../comments/comment1.xml"/><Relationship Id="rId2" Type="http://schemas.openxmlformats.org/officeDocument/2006/relationships/image" Target="../media/image28.png"/><Relationship Id="rId1" Type="http://schemas.openxmlformats.org/officeDocument/2006/relationships/slideLayout" Target="../slideLayouts/slideLayout14.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14.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7.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14.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9.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14.xml"/><Relationship Id="rId4" Type="http://schemas.openxmlformats.org/officeDocument/2006/relationships/image" Target="../media/image50.png"/></Relationships>
</file>

<file path=ppt/slides/_rels/slide2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4.xml"/><Relationship Id="rId5" Type="http://schemas.openxmlformats.org/officeDocument/2006/relationships/image" Target="../media/image54.png"/><Relationship Id="rId4" Type="http://schemas.openxmlformats.org/officeDocument/2006/relationships/image" Target="../media/image53.png"/></Relationships>
</file>

<file path=ppt/slides/_rels/slide2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4.xml"/><Relationship Id="rId5" Type="http://schemas.openxmlformats.org/officeDocument/2006/relationships/image" Target="../media/image58.png"/><Relationship Id="rId4" Type="http://schemas.openxmlformats.org/officeDocument/2006/relationships/image" Target="../media/image5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9.png"/><Relationship Id="rId1" Type="http://schemas.openxmlformats.org/officeDocument/2006/relationships/slideLayout" Target="../slideLayouts/slideLayout14.xml"/><Relationship Id="rId4" Type="http://schemas.openxmlformats.org/officeDocument/2006/relationships/image" Target="../media/image6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8121A-614F-4436-BFEB-4CD6CDEA891C}"/>
              </a:ext>
            </a:extLst>
          </p:cNvPr>
          <p:cNvSpPr>
            <a:spLocks noGrp="1"/>
          </p:cNvSpPr>
          <p:nvPr>
            <p:ph type="ctrTitle"/>
          </p:nvPr>
        </p:nvSpPr>
        <p:spPr>
          <a:xfrm>
            <a:off x="415290" y="1147010"/>
            <a:ext cx="11361420" cy="1901191"/>
          </a:xfrm>
        </p:spPr>
        <p:txBody>
          <a:bodyPr/>
          <a:lstStyle/>
          <a:p>
            <a:r>
              <a:rPr lang="en-US" dirty="0"/>
              <a:t>Modeling and Efficiency Study of Large Scale Underground Thermal Battery Deployment</a:t>
            </a:r>
          </a:p>
        </p:txBody>
      </p:sp>
      <p:sp>
        <p:nvSpPr>
          <p:cNvPr id="3" name="Subtitle 2">
            <a:extLst>
              <a:ext uri="{FF2B5EF4-FFF2-40B4-BE49-F238E27FC236}">
                <a16:creationId xmlns:a16="http://schemas.microsoft.com/office/drawing/2014/main" id="{482C3AED-8218-4C22-A29E-E424F894838F}"/>
              </a:ext>
            </a:extLst>
          </p:cNvPr>
          <p:cNvSpPr>
            <a:spLocks noGrp="1"/>
          </p:cNvSpPr>
          <p:nvPr>
            <p:ph type="subTitle" idx="1"/>
          </p:nvPr>
        </p:nvSpPr>
        <p:spPr>
          <a:xfrm>
            <a:off x="1828800" y="3192379"/>
            <a:ext cx="8534400" cy="2446421"/>
          </a:xfrm>
        </p:spPr>
        <p:txBody>
          <a:bodyPr/>
          <a:lstStyle/>
          <a:p>
            <a:r>
              <a:rPr lang="en-US" dirty="0"/>
              <a:t>Yingqi Zhang</a:t>
            </a:r>
            <a:r>
              <a:rPr lang="en-US" baseline="30000" dirty="0"/>
              <a:t>1</a:t>
            </a:r>
            <a:r>
              <a:rPr lang="en-US" dirty="0"/>
              <a:t>, </a:t>
            </a:r>
            <a:r>
              <a:rPr lang="en-US" dirty="0" err="1"/>
              <a:t>Xiaobing</a:t>
            </a:r>
            <a:r>
              <a:rPr lang="en-US" dirty="0"/>
              <a:t> Liu</a:t>
            </a:r>
            <a:r>
              <a:rPr lang="en-US" baseline="30000" dirty="0"/>
              <a:t>2</a:t>
            </a:r>
            <a:r>
              <a:rPr lang="en-US" dirty="0"/>
              <a:t>, Christine Doughty</a:t>
            </a:r>
            <a:r>
              <a:rPr lang="en-US" baseline="30000" dirty="0"/>
              <a:t>1</a:t>
            </a:r>
            <a:r>
              <a:rPr lang="en-US" dirty="0"/>
              <a:t> and Peter Nico</a:t>
            </a:r>
            <a:r>
              <a:rPr lang="en-US" baseline="30000" dirty="0"/>
              <a:t>1</a:t>
            </a:r>
            <a:r>
              <a:rPr lang="en-US" dirty="0"/>
              <a:t> </a:t>
            </a:r>
          </a:p>
          <a:p>
            <a:endParaRPr lang="en-US" dirty="0"/>
          </a:p>
          <a:p>
            <a:r>
              <a:rPr lang="en-US" baseline="30000" dirty="0" smtClean="0"/>
              <a:t>1</a:t>
            </a:r>
            <a:r>
              <a:rPr lang="en-US" dirty="0" smtClean="0"/>
              <a:t> Energy </a:t>
            </a:r>
            <a:r>
              <a:rPr lang="en-US" dirty="0"/>
              <a:t>Geosciences Division, Lawrence Berkeley National Laboratory</a:t>
            </a:r>
          </a:p>
          <a:p>
            <a:r>
              <a:rPr lang="en-US" baseline="30000" dirty="0"/>
              <a:t>2</a:t>
            </a:r>
            <a:r>
              <a:rPr lang="en-US" dirty="0"/>
              <a:t> Oak Ridge National Laboratory</a:t>
            </a:r>
          </a:p>
        </p:txBody>
      </p:sp>
    </p:spTree>
    <p:extLst>
      <p:ext uri="{BB962C8B-B14F-4D97-AF65-F5344CB8AC3E}">
        <p14:creationId xmlns:p14="http://schemas.microsoft.com/office/powerpoint/2010/main" val="196260083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553454" y="168275"/>
            <a:ext cx="10932694" cy="736600"/>
          </a:xfrm>
        </p:spPr>
        <p:txBody>
          <a:bodyPr/>
          <a:lstStyle/>
          <a:p>
            <a:r>
              <a:rPr lang="en-US" sz="3600" dirty="0"/>
              <a:t>UTB is designed to be a cost-saving alternative to VBGHE</a:t>
            </a:r>
          </a:p>
        </p:txBody>
      </p:sp>
      <p:sp>
        <p:nvSpPr>
          <p:cNvPr id="3" name="Content Placeholder 2"/>
          <p:cNvSpPr>
            <a:spLocks noGrp="1"/>
          </p:cNvSpPr>
          <p:nvPr>
            <p:ph idx="4294967295"/>
          </p:nvPr>
        </p:nvSpPr>
        <p:spPr>
          <a:xfrm>
            <a:off x="176463" y="1376362"/>
            <a:ext cx="6067425" cy="5130800"/>
          </a:xfrm>
        </p:spPr>
        <p:txBody>
          <a:bodyPr/>
          <a:lstStyle/>
          <a:p>
            <a:pPr>
              <a:spcBef>
                <a:spcPts val="600"/>
              </a:spcBef>
              <a:spcAft>
                <a:spcPts val="600"/>
              </a:spcAft>
              <a:buClr>
                <a:srgbClr val="00279F"/>
              </a:buClr>
              <a:buFont typeface="Wingdings" panose="05000000000000000000" pitchFamily="2" charset="2"/>
              <a:buChar char="Ø"/>
            </a:pPr>
            <a:r>
              <a:rPr lang="en-US" dirty="0" smtClean="0"/>
              <a:t>Drilling </a:t>
            </a:r>
            <a:r>
              <a:rPr lang="en-US" dirty="0"/>
              <a:t>cost of the borehole is the primary factor to the high cost of VBGHE installation </a:t>
            </a:r>
          </a:p>
          <a:p>
            <a:pPr>
              <a:spcBef>
                <a:spcPts val="600"/>
              </a:spcBef>
              <a:spcAft>
                <a:spcPts val="600"/>
              </a:spcAft>
              <a:buClr>
                <a:srgbClr val="00279F"/>
              </a:buClr>
              <a:buFont typeface="Wingdings" panose="05000000000000000000" pitchFamily="2" charset="2"/>
              <a:buChar char="Ø"/>
            </a:pPr>
            <a:r>
              <a:rPr lang="en-US" dirty="0"/>
              <a:t>Effort in improving the heat transfer performance of the borehole is limited</a:t>
            </a:r>
          </a:p>
          <a:p>
            <a:pPr>
              <a:spcBef>
                <a:spcPts val="600"/>
              </a:spcBef>
              <a:spcAft>
                <a:spcPts val="600"/>
              </a:spcAft>
              <a:buClr>
                <a:srgbClr val="00279F"/>
              </a:buClr>
              <a:buFont typeface="Wingdings" panose="05000000000000000000" pitchFamily="2" charset="2"/>
              <a:buChar char="Ø"/>
            </a:pPr>
            <a:r>
              <a:rPr lang="en-US" dirty="0"/>
              <a:t>UTB (&lt; 6 m depth) was invented at Oak Ridge National Laboratory as an alternative to the conventional VBGHE.</a:t>
            </a:r>
          </a:p>
          <a:p>
            <a:pPr>
              <a:spcBef>
                <a:spcPts val="600"/>
              </a:spcBef>
              <a:spcAft>
                <a:spcPts val="600"/>
              </a:spcAft>
              <a:buClr>
                <a:srgbClr val="00279F"/>
              </a:buClr>
              <a:buFont typeface="Wingdings" panose="05000000000000000000" pitchFamily="2" charset="2"/>
              <a:buChar char="Ø"/>
            </a:pPr>
            <a:endParaRPr lang="en-US" dirty="0"/>
          </a:p>
        </p:txBody>
      </p:sp>
      <p:sp>
        <p:nvSpPr>
          <p:cNvPr id="4" name="Slide Number Placeholder 3"/>
          <p:cNvSpPr>
            <a:spLocks noGrp="1"/>
          </p:cNvSpPr>
          <p:nvPr>
            <p:ph type="sldNum" sz="quarter" idx="4294967295"/>
          </p:nvPr>
        </p:nvSpPr>
        <p:spPr>
          <a:xfrm>
            <a:off x="9347199" y="6404811"/>
            <a:ext cx="2844800" cy="365125"/>
          </a:xfrm>
          <a:prstGeom prst="rect">
            <a:avLst/>
          </a:prstGeom>
        </p:spPr>
        <p:txBody>
          <a:bodyPr/>
          <a:lstStyle/>
          <a:p>
            <a:fld id="{4EA0A399-D9E6-4914-9988-B7BCDCA49517}" type="slidenum">
              <a:rPr lang="en-US" smtClean="0"/>
              <a:pPr/>
              <a:t>2</a:t>
            </a:fld>
            <a:endParaRPr lang="en-US" dirty="0"/>
          </a:p>
        </p:txBody>
      </p:sp>
      <p:pic>
        <p:nvPicPr>
          <p:cNvPr id="7" name="Picture 6"/>
          <p:cNvPicPr>
            <a:picLocks noChangeAspect="1"/>
          </p:cNvPicPr>
          <p:nvPr/>
        </p:nvPicPr>
        <p:blipFill>
          <a:blip r:embed="rId2"/>
          <a:stretch>
            <a:fillRect/>
          </a:stretch>
        </p:blipFill>
        <p:spPr>
          <a:xfrm>
            <a:off x="7137628" y="1059690"/>
            <a:ext cx="4419143" cy="4893016"/>
          </a:xfrm>
          <a:prstGeom prst="rect">
            <a:avLst/>
          </a:prstGeom>
        </p:spPr>
      </p:pic>
      <p:sp>
        <p:nvSpPr>
          <p:cNvPr id="8" name="TextBox 7"/>
          <p:cNvSpPr txBox="1"/>
          <p:nvPr/>
        </p:nvSpPr>
        <p:spPr>
          <a:xfrm>
            <a:off x="-1355558" y="5583833"/>
            <a:ext cx="5949576" cy="338554"/>
          </a:xfrm>
          <a:prstGeom prst="rect">
            <a:avLst/>
          </a:prstGeom>
          <a:noFill/>
        </p:spPr>
        <p:txBody>
          <a:bodyPr wrap="square" rtlCol="0">
            <a:spAutoFit/>
          </a:bodyPr>
          <a:lstStyle/>
          <a:p>
            <a:r>
              <a:rPr lang="en-US" sz="1600" dirty="0" smtClean="0">
                <a:solidFill>
                  <a:schemeClr val="tx1"/>
                </a:solidFill>
              </a:rPr>
              <a:t>VBGHE</a:t>
            </a:r>
            <a:r>
              <a:rPr lang="en-US" sz="1600" dirty="0">
                <a:solidFill>
                  <a:schemeClr val="tx1"/>
                </a:solidFill>
              </a:rPr>
              <a:t>: vertical bore ground heat exchanger</a:t>
            </a:r>
          </a:p>
        </p:txBody>
      </p:sp>
      <p:sp>
        <p:nvSpPr>
          <p:cNvPr id="9" name="TextBox 8"/>
          <p:cNvSpPr txBox="1"/>
          <p:nvPr/>
        </p:nvSpPr>
        <p:spPr>
          <a:xfrm>
            <a:off x="351825" y="5922387"/>
            <a:ext cx="10417775" cy="584775"/>
          </a:xfrm>
          <a:prstGeom prst="rect">
            <a:avLst/>
          </a:prstGeom>
          <a:noFill/>
        </p:spPr>
        <p:txBody>
          <a:bodyPr wrap="square" rtlCol="0">
            <a:spAutoFit/>
          </a:bodyPr>
          <a:lstStyle/>
          <a:p>
            <a:pPr algn="l"/>
            <a:r>
              <a:rPr lang="en-US" sz="1600" dirty="0" smtClean="0">
                <a:solidFill>
                  <a:schemeClr val="tx1"/>
                </a:solidFill>
              </a:rPr>
              <a:t>Warner et. al., 2020. A </a:t>
            </a:r>
            <a:r>
              <a:rPr lang="en-US" sz="1600" dirty="0">
                <a:solidFill>
                  <a:schemeClr val="tx1"/>
                </a:solidFill>
              </a:rPr>
              <a:t>novel shallow bore ground heat exchanger for ground source heat </a:t>
            </a:r>
            <a:r>
              <a:rPr lang="en-US" sz="1600" dirty="0" smtClean="0">
                <a:solidFill>
                  <a:schemeClr val="tx1"/>
                </a:solidFill>
              </a:rPr>
              <a:t>pump applications —Model </a:t>
            </a:r>
            <a:r>
              <a:rPr lang="en-US" sz="1600" dirty="0">
                <a:solidFill>
                  <a:schemeClr val="tx1"/>
                </a:solidFill>
              </a:rPr>
              <a:t>development and </a:t>
            </a:r>
            <a:r>
              <a:rPr lang="en-US" sz="1600" dirty="0" smtClean="0">
                <a:solidFill>
                  <a:schemeClr val="tx1"/>
                </a:solidFill>
              </a:rPr>
              <a:t>validation,</a:t>
            </a:r>
            <a:endParaRPr lang="en-US" sz="1600" dirty="0">
              <a:solidFill>
                <a:schemeClr val="tx1"/>
              </a:solidFill>
            </a:endParaRPr>
          </a:p>
        </p:txBody>
      </p:sp>
    </p:spTree>
    <p:extLst>
      <p:ext uri="{BB962C8B-B14F-4D97-AF65-F5344CB8AC3E}">
        <p14:creationId xmlns:p14="http://schemas.microsoft.com/office/powerpoint/2010/main" val="879447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458861" y="94593"/>
            <a:ext cx="11295286" cy="1250716"/>
          </a:xfrm>
        </p:spPr>
        <p:txBody>
          <a:bodyPr/>
          <a:lstStyle/>
          <a:p>
            <a:r>
              <a:rPr lang="en-US" sz="2800" dirty="0" smtClean="0"/>
              <a:t>Original 1D radial UTB model provides a good approximation </a:t>
            </a:r>
            <a:endParaRPr lang="en-US" sz="2800" dirty="0"/>
          </a:p>
        </p:txBody>
      </p:sp>
      <p:sp>
        <p:nvSpPr>
          <p:cNvPr id="4" name="Slide Number Placeholder 3"/>
          <p:cNvSpPr>
            <a:spLocks noGrp="1"/>
          </p:cNvSpPr>
          <p:nvPr>
            <p:ph type="sldNum" sz="quarter" idx="4294967295"/>
          </p:nvPr>
        </p:nvSpPr>
        <p:spPr>
          <a:xfrm>
            <a:off x="9347199" y="6404811"/>
            <a:ext cx="2844800" cy="365125"/>
          </a:xfrm>
          <a:prstGeom prst="rect">
            <a:avLst/>
          </a:prstGeom>
        </p:spPr>
        <p:txBody>
          <a:bodyPr/>
          <a:lstStyle/>
          <a:p>
            <a:fld id="{4EA0A399-D9E6-4914-9988-B7BCDCA49517}" type="slidenum">
              <a:rPr lang="en-US" smtClean="0"/>
              <a:pPr/>
              <a:t>3</a:t>
            </a:fld>
            <a:endParaRPr lang="en-US" dirty="0"/>
          </a:p>
        </p:txBody>
      </p:sp>
      <p:pic>
        <p:nvPicPr>
          <p:cNvPr id="7" name="Picture 6"/>
          <p:cNvPicPr>
            <a:picLocks noChangeAspect="1"/>
          </p:cNvPicPr>
          <p:nvPr/>
        </p:nvPicPr>
        <p:blipFill>
          <a:blip r:embed="rId2"/>
          <a:stretch>
            <a:fillRect/>
          </a:stretch>
        </p:blipFill>
        <p:spPr>
          <a:xfrm>
            <a:off x="715808" y="1608083"/>
            <a:ext cx="3896477" cy="4314304"/>
          </a:xfrm>
          <a:prstGeom prst="rect">
            <a:avLst/>
          </a:prstGeom>
        </p:spPr>
      </p:pic>
      <p:sp>
        <p:nvSpPr>
          <p:cNvPr id="9" name="TextBox 8"/>
          <p:cNvSpPr txBox="1"/>
          <p:nvPr/>
        </p:nvSpPr>
        <p:spPr>
          <a:xfrm>
            <a:off x="351825" y="5922387"/>
            <a:ext cx="10417775" cy="584775"/>
          </a:xfrm>
          <a:prstGeom prst="rect">
            <a:avLst/>
          </a:prstGeom>
          <a:noFill/>
        </p:spPr>
        <p:txBody>
          <a:bodyPr wrap="square" rtlCol="0">
            <a:spAutoFit/>
          </a:bodyPr>
          <a:lstStyle/>
          <a:p>
            <a:pPr algn="l"/>
            <a:r>
              <a:rPr lang="en-US" sz="1600" dirty="0" smtClean="0">
                <a:solidFill>
                  <a:schemeClr val="tx1"/>
                </a:solidFill>
              </a:rPr>
              <a:t>Warner et. al., 2020. A </a:t>
            </a:r>
            <a:r>
              <a:rPr lang="en-US" sz="1600" dirty="0">
                <a:solidFill>
                  <a:schemeClr val="tx1"/>
                </a:solidFill>
              </a:rPr>
              <a:t>novel shallow bore ground heat exchanger for ground source heat </a:t>
            </a:r>
            <a:r>
              <a:rPr lang="en-US" sz="1600" dirty="0" smtClean="0">
                <a:solidFill>
                  <a:schemeClr val="tx1"/>
                </a:solidFill>
              </a:rPr>
              <a:t>pump applications —Model </a:t>
            </a:r>
            <a:r>
              <a:rPr lang="en-US" sz="1600" dirty="0">
                <a:solidFill>
                  <a:schemeClr val="tx1"/>
                </a:solidFill>
              </a:rPr>
              <a:t>development and </a:t>
            </a:r>
            <a:r>
              <a:rPr lang="en-US" sz="1600" dirty="0" smtClean="0">
                <a:solidFill>
                  <a:schemeClr val="tx1"/>
                </a:solidFill>
              </a:rPr>
              <a:t>validation,</a:t>
            </a:r>
            <a:endParaRPr lang="en-US" sz="1600" dirty="0">
              <a:solidFill>
                <a:schemeClr val="tx1"/>
              </a:solidFill>
            </a:endParaRPr>
          </a:p>
        </p:txBody>
      </p:sp>
      <p:pic>
        <p:nvPicPr>
          <p:cNvPr id="10" name="Picture 9"/>
          <p:cNvPicPr>
            <a:picLocks noChangeAspect="1"/>
          </p:cNvPicPr>
          <p:nvPr/>
        </p:nvPicPr>
        <p:blipFill>
          <a:blip r:embed="rId3"/>
          <a:stretch>
            <a:fillRect/>
          </a:stretch>
        </p:blipFill>
        <p:spPr>
          <a:xfrm>
            <a:off x="4920282" y="1663003"/>
            <a:ext cx="6084050" cy="4065510"/>
          </a:xfrm>
          <a:prstGeom prst="rect">
            <a:avLst/>
          </a:prstGeom>
        </p:spPr>
      </p:pic>
      <p:sp>
        <p:nvSpPr>
          <p:cNvPr id="5" name="Rectangle 4"/>
          <p:cNvSpPr/>
          <p:nvPr/>
        </p:nvSpPr>
        <p:spPr bwMode="auto">
          <a:xfrm>
            <a:off x="4612285" y="5360276"/>
            <a:ext cx="1136874" cy="562111"/>
          </a:xfrm>
          <a:prstGeom prst="rect">
            <a:avLst/>
          </a:prstGeom>
          <a:solidFill>
            <a:schemeClr val="bg1"/>
          </a:solidFill>
          <a:ln w="12700" cap="flat" cmpd="sng" algn="ctr">
            <a:solidFill>
              <a:schemeClr val="bg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bg1"/>
              </a:solidFill>
              <a:effectLst/>
              <a:latin typeface="Arial" charset="0"/>
            </a:endParaRPr>
          </a:p>
        </p:txBody>
      </p:sp>
    </p:spTree>
    <p:extLst>
      <p:ext uri="{BB962C8B-B14F-4D97-AF65-F5344CB8AC3E}">
        <p14:creationId xmlns:p14="http://schemas.microsoft.com/office/powerpoint/2010/main" val="8237668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txBox="1">
            <a:spLocks/>
          </p:cNvSpPr>
          <p:nvPr/>
        </p:nvSpPr>
        <p:spPr>
          <a:xfrm>
            <a:off x="848704" y="1478783"/>
            <a:ext cx="10515600" cy="4943037"/>
          </a:xfrm>
          <a:prstGeom prst="rect">
            <a:avLst/>
          </a:prstGeom>
        </p:spPr>
        <p:txBody>
          <a:bodyPr>
            <a:noAutofit/>
          </a:bodyPr>
          <a:lstStyle>
            <a:lvl1pPr marL="285750" indent="-285750" algn="l" rtl="0" eaLnBrk="0" fontAlgn="base" hangingPunct="0">
              <a:spcBef>
                <a:spcPct val="20000"/>
              </a:spcBef>
              <a:spcAft>
                <a:spcPct val="0"/>
              </a:spcAft>
              <a:buClr>
                <a:srgbClr val="0033CC"/>
              </a:buClr>
              <a:buSzPct val="100000"/>
              <a:buFont typeface="Wingdings" pitchFamily="2" charset="2"/>
              <a:buChar char="v"/>
              <a:defRPr sz="2400" b="1">
                <a:solidFill>
                  <a:schemeClr val="tx1"/>
                </a:solidFill>
                <a:latin typeface="+mn-lt"/>
                <a:ea typeface="+mn-ea"/>
                <a:cs typeface="+mn-cs"/>
              </a:defRPr>
            </a:lvl1pPr>
            <a:lvl2pPr marL="685800" indent="-285750" algn="l" rtl="0" eaLnBrk="0" fontAlgn="base" hangingPunct="0">
              <a:spcBef>
                <a:spcPct val="20000"/>
              </a:spcBef>
              <a:spcAft>
                <a:spcPct val="0"/>
              </a:spcAft>
              <a:buClr>
                <a:schemeClr val="hlink"/>
              </a:buClr>
              <a:buSzPct val="100000"/>
              <a:buFont typeface="Wingdings" pitchFamily="2" charset="2"/>
              <a:buChar char="Ø"/>
              <a:defRPr sz="2000" b="1">
                <a:solidFill>
                  <a:schemeClr val="tx1"/>
                </a:solidFill>
                <a:latin typeface="+mn-lt"/>
              </a:defRPr>
            </a:lvl2pPr>
            <a:lvl3pPr marL="1028700" indent="-228600" algn="l" rtl="0" eaLnBrk="0" fontAlgn="base" hangingPunct="0">
              <a:spcBef>
                <a:spcPct val="20000"/>
              </a:spcBef>
              <a:spcAft>
                <a:spcPct val="0"/>
              </a:spcAft>
              <a:buClr>
                <a:schemeClr val="tx1"/>
              </a:buClr>
              <a:buSzPct val="100000"/>
              <a:buFont typeface="Wingdings" pitchFamily="2" charset="2"/>
              <a:buChar char="§"/>
              <a:defRPr b="1">
                <a:solidFill>
                  <a:schemeClr val="tx1"/>
                </a:solidFill>
                <a:latin typeface="+mn-lt"/>
              </a:defRPr>
            </a:lvl3pPr>
            <a:lvl4pPr marL="1428750" indent="-285750" algn="l" rtl="0" eaLnBrk="0" fontAlgn="base" hangingPunct="0">
              <a:spcBef>
                <a:spcPct val="20000"/>
              </a:spcBef>
              <a:spcAft>
                <a:spcPct val="0"/>
              </a:spcAft>
              <a:buClr>
                <a:srgbClr val="003399"/>
              </a:buClr>
              <a:buSzPct val="100000"/>
              <a:buChar char="—"/>
              <a:defRPr sz="1600" b="1">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eaLnBrk="0" fontAlgn="base" hangingPunct="0">
              <a:spcBef>
                <a:spcPct val="20000"/>
              </a:spcBef>
              <a:spcAft>
                <a:spcPct val="0"/>
              </a:spcAft>
              <a:buChar char="»"/>
              <a:defRPr sz="2000">
                <a:solidFill>
                  <a:schemeClr val="tx1"/>
                </a:solidFill>
                <a:latin typeface="Times" pitchFamily="18" charset="0"/>
              </a:defRPr>
            </a:lvl6pPr>
            <a:lvl7pPr marL="2971800" indent="-228600" algn="l" rtl="0" eaLnBrk="0" fontAlgn="base" hangingPunct="0">
              <a:spcBef>
                <a:spcPct val="20000"/>
              </a:spcBef>
              <a:spcAft>
                <a:spcPct val="0"/>
              </a:spcAft>
              <a:buChar char="»"/>
              <a:defRPr sz="2000">
                <a:solidFill>
                  <a:schemeClr val="tx1"/>
                </a:solidFill>
                <a:latin typeface="Times" pitchFamily="18" charset="0"/>
              </a:defRPr>
            </a:lvl7pPr>
            <a:lvl8pPr marL="3429000" indent="-228600" algn="l" rtl="0" eaLnBrk="0" fontAlgn="base" hangingPunct="0">
              <a:spcBef>
                <a:spcPct val="20000"/>
              </a:spcBef>
              <a:spcAft>
                <a:spcPct val="0"/>
              </a:spcAft>
              <a:buChar char="»"/>
              <a:defRPr sz="2000">
                <a:solidFill>
                  <a:schemeClr val="tx1"/>
                </a:solidFill>
                <a:latin typeface="Times" pitchFamily="18" charset="0"/>
              </a:defRPr>
            </a:lvl8pPr>
            <a:lvl9pPr marL="3886200" indent="-228600" algn="l" rtl="0" eaLnBrk="0" fontAlgn="base" hangingPunct="0">
              <a:spcBef>
                <a:spcPct val="20000"/>
              </a:spcBef>
              <a:spcAft>
                <a:spcPct val="0"/>
              </a:spcAft>
              <a:buChar char="»"/>
              <a:defRPr sz="2000">
                <a:solidFill>
                  <a:schemeClr val="tx1"/>
                </a:solidFill>
                <a:latin typeface="Times" pitchFamily="18" charset="0"/>
              </a:defRPr>
            </a:lvl9pPr>
          </a:lstStyle>
          <a:p>
            <a:pPr>
              <a:spcBef>
                <a:spcPts val="600"/>
              </a:spcBef>
              <a:spcAft>
                <a:spcPts val="600"/>
              </a:spcAft>
              <a:buFont typeface="Wingdings" panose="05000000000000000000" pitchFamily="2" charset="2"/>
              <a:buChar char="Ø"/>
            </a:pPr>
            <a:r>
              <a:rPr lang="en-US" sz="2800" b="0" kern="0" dirty="0" smtClean="0"/>
              <a:t>Heterogeneity impact on heat transfer</a:t>
            </a:r>
          </a:p>
          <a:p>
            <a:pPr lvl="1">
              <a:spcBef>
                <a:spcPts val="600"/>
              </a:spcBef>
              <a:spcAft>
                <a:spcPts val="600"/>
              </a:spcAft>
              <a:buClr>
                <a:srgbClr val="00279F"/>
              </a:buClr>
              <a:buFont typeface="Arial" panose="020B0604020202020204" pitchFamily="34" charset="0"/>
              <a:buChar char="‒"/>
            </a:pPr>
            <a:r>
              <a:rPr lang="en-US" sz="2400" b="0" kern="0" dirty="0" smtClean="0"/>
              <a:t>Operations: day cycle of seasonal cycle.</a:t>
            </a:r>
          </a:p>
          <a:p>
            <a:pPr lvl="1">
              <a:spcBef>
                <a:spcPts val="600"/>
              </a:spcBef>
              <a:spcAft>
                <a:spcPts val="600"/>
              </a:spcAft>
              <a:buClr>
                <a:srgbClr val="00279F"/>
              </a:buClr>
              <a:buFont typeface="Arial" panose="020B0604020202020204" pitchFamily="34" charset="0"/>
              <a:buChar char="‒"/>
            </a:pPr>
            <a:r>
              <a:rPr lang="en-US" sz="2400" b="0" kern="0" dirty="0" smtClean="0"/>
              <a:t>If rock density is between 2100~2650 kg/m3, heat conductivity is 1~3 (W/(m⋅c)),  thermal penetration length is 24~50 cm for t=12 hr, or 4.9~9.5 m if t=0.5 </a:t>
            </a:r>
            <a:r>
              <a:rPr lang="en-US" sz="2400" b="0" kern="0" dirty="0" err="1" smtClean="0"/>
              <a:t>yr</a:t>
            </a:r>
            <a:endParaRPr lang="en-US" sz="2400" b="0" kern="0" dirty="0" smtClean="0"/>
          </a:p>
          <a:p>
            <a:pPr>
              <a:spcBef>
                <a:spcPts val="600"/>
              </a:spcBef>
              <a:spcAft>
                <a:spcPts val="600"/>
              </a:spcAft>
              <a:buFont typeface="Wingdings" panose="05000000000000000000" pitchFamily="2" charset="2"/>
              <a:buChar char="Ø"/>
            </a:pPr>
            <a:r>
              <a:rPr lang="en-US" sz="2800" b="0" kern="0" dirty="0" smtClean="0"/>
              <a:t>Battery placement with load uncertainty</a:t>
            </a:r>
          </a:p>
          <a:p>
            <a:pPr>
              <a:spcBef>
                <a:spcPts val="600"/>
              </a:spcBef>
              <a:spcAft>
                <a:spcPts val="600"/>
              </a:spcAft>
              <a:buFont typeface="Wingdings" panose="05000000000000000000" pitchFamily="2" charset="2"/>
              <a:buChar char="Ø"/>
            </a:pPr>
            <a:r>
              <a:rPr lang="en-US" sz="2800" b="0" kern="0" dirty="0" smtClean="0"/>
              <a:t>Water table effects</a:t>
            </a:r>
          </a:p>
          <a:p>
            <a:pPr>
              <a:spcBef>
                <a:spcPts val="600"/>
              </a:spcBef>
              <a:spcAft>
                <a:spcPts val="600"/>
              </a:spcAft>
              <a:buFont typeface="Wingdings" panose="05000000000000000000" pitchFamily="2" charset="2"/>
              <a:buChar char="Ø"/>
            </a:pPr>
            <a:r>
              <a:rPr lang="en-US" sz="2800" b="0" kern="0" dirty="0" err="1" smtClean="0"/>
              <a:t>Grounswater</a:t>
            </a:r>
            <a:r>
              <a:rPr lang="en-US" sz="2800" b="0" kern="0" dirty="0" smtClean="0"/>
              <a:t> movement</a:t>
            </a:r>
          </a:p>
          <a:p>
            <a:pPr>
              <a:spcBef>
                <a:spcPts val="600"/>
              </a:spcBef>
              <a:spcAft>
                <a:spcPts val="600"/>
              </a:spcAft>
              <a:buFont typeface="Wingdings" panose="05000000000000000000" pitchFamily="2" charset="2"/>
              <a:buChar char="Ø"/>
            </a:pPr>
            <a:r>
              <a:rPr lang="en-US" sz="2800" b="0" kern="0" dirty="0" smtClean="0"/>
              <a:t>Temperature change in soil</a:t>
            </a:r>
          </a:p>
        </p:txBody>
      </p:sp>
      <p:sp>
        <p:nvSpPr>
          <p:cNvPr id="5" name="Title 1"/>
          <p:cNvSpPr txBox="1">
            <a:spLocks/>
          </p:cNvSpPr>
          <p:nvPr/>
        </p:nvSpPr>
        <p:spPr bwMode="auto">
          <a:xfrm>
            <a:off x="458861" y="94593"/>
            <a:ext cx="11295286" cy="1250716"/>
          </a:xfrm>
          <a:prstGeom prst="rect">
            <a:avLst/>
          </a:prstGeom>
          <a:noFill/>
          <a:ln w="12700">
            <a:noFill/>
            <a:miter lim="800000"/>
            <a:headEnd/>
            <a:tailEnd/>
          </a:ln>
        </p:spPr>
        <p:txBody>
          <a:bodyPr vert="horz" wrap="square" lIns="90487" tIns="44450" rIns="90487" bIns="44450" numCol="1" anchor="ctr" anchorCtr="0" compatLnSpc="1">
            <a:prstTxWarp prst="textNoShape">
              <a:avLst/>
            </a:prstTxWarp>
          </a:bodyPr>
          <a:lst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a:lstStyle>
          <a:p>
            <a:r>
              <a:rPr lang="en-US" sz="2800" kern="0" dirty="0" smtClean="0"/>
              <a:t>But a UTB coupled with a multiphase flow model is needed to study many other effects</a:t>
            </a:r>
            <a:endParaRPr lang="en-US" sz="2800" kern="0" dirty="0"/>
          </a:p>
        </p:txBody>
      </p:sp>
    </p:spTree>
    <p:extLst>
      <p:ext uri="{BB962C8B-B14F-4D97-AF65-F5344CB8AC3E}">
        <p14:creationId xmlns:p14="http://schemas.microsoft.com/office/powerpoint/2010/main" val="30788595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62835" y="109371"/>
            <a:ext cx="9679517" cy="736600"/>
          </a:xfrm>
        </p:spPr>
        <p:txBody>
          <a:bodyPr/>
          <a:lstStyle/>
          <a:p>
            <a:r>
              <a:rPr lang="en-US" sz="2800" dirty="0"/>
              <a:t>Re-write the </a:t>
            </a:r>
            <a:r>
              <a:rPr lang="en-US" sz="2800" dirty="0" smtClean="0"/>
              <a:t>1D radial </a:t>
            </a:r>
            <a:r>
              <a:rPr lang="en-US" sz="2800" dirty="0"/>
              <a:t>UTB </a:t>
            </a:r>
            <a:r>
              <a:rPr lang="en-US" sz="2800" dirty="0" smtClean="0"/>
              <a:t>model(Matlab) to </a:t>
            </a:r>
            <a:r>
              <a:rPr lang="en-US" sz="2800" dirty="0"/>
              <a:t>couple with iTOUGH2/TOUGH model</a:t>
            </a:r>
          </a:p>
        </p:txBody>
      </p:sp>
      <p:sp>
        <p:nvSpPr>
          <p:cNvPr id="4" name="Slide Number Placeholder 3"/>
          <p:cNvSpPr>
            <a:spLocks noGrp="1"/>
          </p:cNvSpPr>
          <p:nvPr>
            <p:ph type="sldNum" sz="quarter" idx="12"/>
          </p:nvPr>
        </p:nvSpPr>
        <p:spPr/>
        <p:txBody>
          <a:bodyPr/>
          <a:lstStyle/>
          <a:p>
            <a:endParaRPr lang="en-US" dirty="0"/>
          </a:p>
        </p:txBody>
      </p:sp>
      <p:sp>
        <p:nvSpPr>
          <p:cNvPr id="29" name="Rectangle 28"/>
          <p:cNvSpPr>
            <a:spLocks noChangeAspect="1"/>
          </p:cNvSpPr>
          <p:nvPr/>
        </p:nvSpPr>
        <p:spPr>
          <a:xfrm>
            <a:off x="3994822" y="2830396"/>
            <a:ext cx="1817933" cy="1817933"/>
          </a:xfrm>
          <a:prstGeom prst="rect">
            <a:avLst/>
          </a:prstGeom>
          <a:solidFill>
            <a:srgbClr val="92D05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30" name="Rectangle 29"/>
          <p:cNvSpPr>
            <a:spLocks noChangeAspect="1"/>
          </p:cNvSpPr>
          <p:nvPr/>
        </p:nvSpPr>
        <p:spPr>
          <a:xfrm>
            <a:off x="5812755" y="2830395"/>
            <a:ext cx="1801891"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31" name="Rectangle 30"/>
          <p:cNvSpPr>
            <a:spLocks noChangeAspect="1"/>
          </p:cNvSpPr>
          <p:nvPr/>
        </p:nvSpPr>
        <p:spPr>
          <a:xfrm>
            <a:off x="2176889" y="2830394"/>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32" name="Rectangle 31"/>
          <p:cNvSpPr>
            <a:spLocks noChangeAspect="1"/>
          </p:cNvSpPr>
          <p:nvPr/>
        </p:nvSpPr>
        <p:spPr>
          <a:xfrm>
            <a:off x="5812755" y="4648326"/>
            <a:ext cx="1801891"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33" name="Rectangle 32"/>
          <p:cNvSpPr>
            <a:spLocks noChangeAspect="1"/>
          </p:cNvSpPr>
          <p:nvPr/>
        </p:nvSpPr>
        <p:spPr>
          <a:xfrm>
            <a:off x="3994822" y="4648327"/>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34" name="Rectangle 33"/>
          <p:cNvSpPr>
            <a:spLocks noChangeAspect="1"/>
          </p:cNvSpPr>
          <p:nvPr/>
        </p:nvSpPr>
        <p:spPr>
          <a:xfrm>
            <a:off x="2176889" y="4648327"/>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35" name="Rectangle 34"/>
          <p:cNvSpPr>
            <a:spLocks noChangeAspect="1"/>
          </p:cNvSpPr>
          <p:nvPr/>
        </p:nvSpPr>
        <p:spPr>
          <a:xfrm>
            <a:off x="5794575" y="1014793"/>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36" name="Rectangle 35"/>
          <p:cNvSpPr>
            <a:spLocks noChangeAspect="1"/>
          </p:cNvSpPr>
          <p:nvPr/>
        </p:nvSpPr>
        <p:spPr>
          <a:xfrm>
            <a:off x="3992684" y="1014794"/>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37" name="Rectangle 36"/>
          <p:cNvSpPr>
            <a:spLocks noChangeAspect="1"/>
          </p:cNvSpPr>
          <p:nvPr/>
        </p:nvSpPr>
        <p:spPr>
          <a:xfrm>
            <a:off x="2174751" y="1014794"/>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smtClean="0">
              <a:ln>
                <a:noFill/>
              </a:ln>
              <a:noFill/>
              <a:effectLst/>
              <a:uLnTx/>
              <a:uFillTx/>
              <a:latin typeface="Calibri" panose="020F0502020204030204"/>
              <a:ea typeface="+mn-ea"/>
              <a:cs typeface="+mn-cs"/>
            </a:endParaRPr>
          </a:p>
        </p:txBody>
      </p:sp>
      <p:sp>
        <p:nvSpPr>
          <p:cNvPr id="38" name="Oval 37"/>
          <p:cNvSpPr>
            <a:spLocks noChangeAspect="1"/>
          </p:cNvSpPr>
          <p:nvPr/>
        </p:nvSpPr>
        <p:spPr>
          <a:xfrm>
            <a:off x="4234439" y="3053560"/>
            <a:ext cx="1371600" cy="1371600"/>
          </a:xfrm>
          <a:prstGeom prst="ellipse">
            <a:avLst/>
          </a:prstGeom>
          <a:solidFill>
            <a:srgbClr val="C55A11">
              <a:alpha val="50196"/>
            </a:srgbClr>
          </a:solidFill>
          <a:ln w="19050" cap="flat" cmpd="sng" algn="ctr">
            <a:solidFill>
              <a:sysClr val="windowText" lastClr="000000"/>
            </a:solidFill>
            <a:prstDash val="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39" name="Oval 38"/>
          <p:cNvSpPr/>
          <p:nvPr/>
        </p:nvSpPr>
        <p:spPr>
          <a:xfrm>
            <a:off x="4470652" y="3282162"/>
            <a:ext cx="914400" cy="914400"/>
          </a:xfrm>
          <a:prstGeom prst="ellipse">
            <a:avLst/>
          </a:prstGeom>
          <a:solidFill>
            <a:srgbClr val="C00000"/>
          </a:solidFill>
          <a:ln w="28575" cap="flat" cmpd="sng" algn="ctr">
            <a:solidFill>
              <a:srgbClr val="4454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0" name="TextBox 39"/>
          <p:cNvSpPr txBox="1"/>
          <p:nvPr/>
        </p:nvSpPr>
        <p:spPr>
          <a:xfrm>
            <a:off x="2314073" y="1521318"/>
            <a:ext cx="1543564" cy="400110"/>
          </a:xfrm>
          <a:prstGeom prst="rect">
            <a:avLst/>
          </a:prstGeom>
          <a:noFill/>
        </p:spPr>
        <p:txBody>
          <a:bodyPr wrap="none" rtlCol="0">
            <a:spAutoFit/>
          </a:bodyPr>
          <a:lstStyle/>
          <a:p>
            <a:pPr algn="l" eaLnBrk="1" fontAlgn="auto" hangingPunct="1">
              <a:spcBef>
                <a:spcPts val="0"/>
              </a:spcBef>
              <a:spcAft>
                <a:spcPts val="0"/>
              </a:spcAft>
            </a:pPr>
            <a:r>
              <a:rPr lang="en-US" sz="2000" b="1" dirty="0" smtClean="0">
                <a:solidFill>
                  <a:prstClr val="black"/>
                </a:solidFill>
                <a:latin typeface="Calibri" panose="020F0502020204030204"/>
              </a:rPr>
              <a:t>TOUGH grids</a:t>
            </a:r>
            <a:endParaRPr lang="en-US" sz="2000" b="1" dirty="0">
              <a:solidFill>
                <a:prstClr val="black"/>
              </a:solidFill>
              <a:latin typeface="Calibri" panose="020F0502020204030204"/>
            </a:endParaRPr>
          </a:p>
        </p:txBody>
      </p:sp>
      <p:sp>
        <p:nvSpPr>
          <p:cNvPr id="41" name="TextBox 40"/>
          <p:cNvSpPr txBox="1"/>
          <p:nvPr/>
        </p:nvSpPr>
        <p:spPr>
          <a:xfrm>
            <a:off x="8369921" y="4908270"/>
            <a:ext cx="3045802" cy="1477328"/>
          </a:xfrm>
          <a:prstGeom prst="rect">
            <a:avLst/>
          </a:prstGeom>
          <a:noFill/>
        </p:spPr>
        <p:txBody>
          <a:bodyPr wrap="square" rtlCol="0">
            <a:spAutoFit/>
          </a:bodyPr>
          <a:lstStyle/>
          <a:p>
            <a:pPr algn="l" eaLnBrk="1" fontAlgn="auto" hangingPunct="1">
              <a:spcBef>
                <a:spcPts val="0"/>
              </a:spcBef>
              <a:spcAft>
                <a:spcPts val="0"/>
              </a:spcAft>
            </a:pPr>
            <a:r>
              <a:rPr lang="en-US" sz="1800" b="1" dirty="0" smtClean="0">
                <a:solidFill>
                  <a:srgbClr val="ED7D31">
                    <a:lumMod val="75000"/>
                  </a:srgbClr>
                </a:solidFill>
                <a:latin typeface="Calibri" panose="020F0502020204030204"/>
              </a:rPr>
              <a:t>1D UTB model with its own discretization: boundary temperatures are provided by TOUGH grid (in green), heat flux is fed back to TOUGH</a:t>
            </a:r>
            <a:endParaRPr lang="en-US" sz="1800" b="1" dirty="0">
              <a:solidFill>
                <a:srgbClr val="ED7D31">
                  <a:lumMod val="75000"/>
                </a:srgbClr>
              </a:solidFill>
              <a:latin typeface="Calibri" panose="020F0502020204030204"/>
            </a:endParaRPr>
          </a:p>
        </p:txBody>
      </p:sp>
      <p:sp>
        <p:nvSpPr>
          <p:cNvPr id="45" name="Oval 44"/>
          <p:cNvSpPr>
            <a:spLocks noChangeAspect="1"/>
          </p:cNvSpPr>
          <p:nvPr/>
        </p:nvSpPr>
        <p:spPr>
          <a:xfrm>
            <a:off x="3996489" y="2842926"/>
            <a:ext cx="1825955" cy="1825955"/>
          </a:xfrm>
          <a:prstGeom prst="ellipse">
            <a:avLst/>
          </a:prstGeom>
          <a:solidFill>
            <a:srgbClr val="ED7D31">
              <a:alpha val="60000"/>
            </a:srgbClr>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6" name="Oval 45"/>
          <p:cNvSpPr>
            <a:spLocks noChangeAspect="1"/>
          </p:cNvSpPr>
          <p:nvPr/>
        </p:nvSpPr>
        <p:spPr>
          <a:xfrm>
            <a:off x="4375424" y="3191279"/>
            <a:ext cx="1098495" cy="1098495"/>
          </a:xfrm>
          <a:prstGeom prst="ellipse">
            <a:avLst/>
          </a:prstGeom>
          <a:solidFill>
            <a:srgbClr val="ED7D31">
              <a:alpha val="50196"/>
            </a:srgbClr>
          </a:solidFill>
          <a:ln w="19050" cap="flat" cmpd="sng" algn="ctr">
            <a:solidFill>
              <a:sysClr val="windowText" lastClr="000000"/>
            </a:solidFill>
            <a:prstDash val="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7" name="TextBox 46"/>
          <p:cNvSpPr txBox="1"/>
          <p:nvPr/>
        </p:nvSpPr>
        <p:spPr>
          <a:xfrm>
            <a:off x="5393734" y="3418051"/>
            <a:ext cx="564578" cy="400110"/>
          </a:xfrm>
          <a:prstGeom prst="rect">
            <a:avLst/>
          </a:prstGeom>
          <a:noFill/>
        </p:spPr>
        <p:txBody>
          <a:bodyPr wrap="none" rtlCol="0">
            <a:spAutoFit/>
          </a:bodyPr>
          <a:lstStyle/>
          <a:p>
            <a:pPr algn="l" eaLnBrk="1" fontAlgn="auto" hangingPunct="1">
              <a:spcBef>
                <a:spcPts val="0"/>
              </a:spcBef>
              <a:spcAft>
                <a:spcPts val="0"/>
              </a:spcAft>
            </a:pPr>
            <a:r>
              <a:rPr lang="en-US" sz="2000" b="1" dirty="0" smtClean="0">
                <a:solidFill>
                  <a:prstClr val="black"/>
                </a:solidFill>
                <a:latin typeface="Calibri" panose="020F0502020204030204"/>
              </a:rPr>
              <a:t>. . . </a:t>
            </a:r>
            <a:endParaRPr lang="en-US" sz="2000" b="1" dirty="0">
              <a:solidFill>
                <a:prstClr val="black"/>
              </a:solidFill>
              <a:latin typeface="Calibri" panose="020F0502020204030204"/>
            </a:endParaRPr>
          </a:p>
        </p:txBody>
      </p:sp>
      <p:sp>
        <p:nvSpPr>
          <p:cNvPr id="48" name="Oval 47"/>
          <p:cNvSpPr>
            <a:spLocks noChangeAspect="1"/>
          </p:cNvSpPr>
          <p:nvPr/>
        </p:nvSpPr>
        <p:spPr>
          <a:xfrm>
            <a:off x="4451115" y="3278855"/>
            <a:ext cx="950562" cy="911281"/>
          </a:xfrm>
          <a:prstGeom prst="ellipse">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cxnSp>
        <p:nvCxnSpPr>
          <p:cNvPr id="50" name="Straight Connector 49"/>
          <p:cNvCxnSpPr/>
          <p:nvPr/>
        </p:nvCxnSpPr>
        <p:spPr>
          <a:xfrm>
            <a:off x="4857491" y="3270297"/>
            <a:ext cx="118886" cy="0"/>
          </a:xfrm>
          <a:prstGeom prst="line">
            <a:avLst/>
          </a:prstGeom>
          <a:noFill/>
          <a:ln w="12700" cap="flat" cmpd="sng" algn="ctr">
            <a:solidFill>
              <a:sysClr val="windowText" lastClr="000000"/>
            </a:solidFill>
            <a:prstDash val="solid"/>
            <a:miter lim="800000"/>
          </a:ln>
          <a:effectLst/>
        </p:spPr>
      </p:cxnSp>
      <p:sp>
        <p:nvSpPr>
          <p:cNvPr id="51" name="TextBox 50"/>
          <p:cNvSpPr txBox="1"/>
          <p:nvPr/>
        </p:nvSpPr>
        <p:spPr>
          <a:xfrm>
            <a:off x="264254" y="3734495"/>
            <a:ext cx="1613813" cy="1200329"/>
          </a:xfrm>
          <a:prstGeom prst="rect">
            <a:avLst/>
          </a:prstGeom>
          <a:noFill/>
        </p:spPr>
        <p:txBody>
          <a:bodyPr wrap="square" rtlCol="0">
            <a:spAutoFit/>
          </a:bodyPr>
          <a:lstStyle/>
          <a:p>
            <a:pPr algn="l" eaLnBrk="1" fontAlgn="auto" hangingPunct="1">
              <a:spcBef>
                <a:spcPts val="0"/>
              </a:spcBef>
              <a:spcAft>
                <a:spcPts val="0"/>
              </a:spcAft>
            </a:pPr>
            <a:r>
              <a:rPr lang="en-US" sz="1800" dirty="0" smtClean="0">
                <a:solidFill>
                  <a:prstClr val="black"/>
                </a:solidFill>
                <a:latin typeface="Calibri" panose="020F0502020204030204"/>
              </a:rPr>
              <a:t>TOUGH grid that interacts with the 1D UTB model</a:t>
            </a:r>
            <a:endParaRPr lang="en-US" sz="1800" dirty="0">
              <a:solidFill>
                <a:prstClr val="black"/>
              </a:solidFill>
              <a:latin typeface="Calibri" panose="020F0502020204030204"/>
            </a:endParaRPr>
          </a:p>
        </p:txBody>
      </p:sp>
      <p:cxnSp>
        <p:nvCxnSpPr>
          <p:cNvPr id="52" name="Straight Arrow Connector 51"/>
          <p:cNvCxnSpPr/>
          <p:nvPr/>
        </p:nvCxnSpPr>
        <p:spPr>
          <a:xfrm>
            <a:off x="1579245" y="4425160"/>
            <a:ext cx="2580640" cy="0"/>
          </a:xfrm>
          <a:prstGeom prst="straightConnector1">
            <a:avLst/>
          </a:prstGeom>
          <a:noFill/>
          <a:ln w="22225" cap="flat" cmpd="sng" algn="ctr">
            <a:solidFill>
              <a:srgbClr val="70AD47"/>
            </a:solidFill>
            <a:prstDash val="solid"/>
            <a:miter lim="800000"/>
            <a:tailEnd type="triangle"/>
          </a:ln>
          <a:effectLst/>
        </p:spPr>
      </p:cxnSp>
      <p:sp>
        <p:nvSpPr>
          <p:cNvPr id="54" name="Rectangle 53"/>
          <p:cNvSpPr/>
          <p:nvPr/>
        </p:nvSpPr>
        <p:spPr>
          <a:xfrm>
            <a:off x="11694713" y="6400239"/>
            <a:ext cx="385041" cy="523220"/>
          </a:xfrm>
          <a:prstGeom prst="rect">
            <a:avLst/>
          </a:prstGeom>
        </p:spPr>
        <p:txBody>
          <a:bodyPr wrap="none">
            <a:spAutoFit/>
          </a:bodyPr>
          <a:lstStyle/>
          <a:p>
            <a:fld id="{7914B2A8-2025-4840-92BB-C8B9D5B037F6}" type="slidenum">
              <a:rPr lang="en-US"/>
              <a:pPr/>
              <a:t>5</a:t>
            </a:fld>
            <a:endParaRPr lang="en-US" dirty="0"/>
          </a:p>
        </p:txBody>
      </p:sp>
      <p:sp>
        <p:nvSpPr>
          <p:cNvPr id="57" name="Oval 56"/>
          <p:cNvSpPr>
            <a:spLocks noChangeAspect="1"/>
          </p:cNvSpPr>
          <p:nvPr/>
        </p:nvSpPr>
        <p:spPr>
          <a:xfrm>
            <a:off x="3995482" y="2842926"/>
            <a:ext cx="1825955" cy="1825955"/>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pic>
        <p:nvPicPr>
          <p:cNvPr id="58" name="Picture 57"/>
          <p:cNvPicPr>
            <a:picLocks noChangeAspect="1"/>
          </p:cNvPicPr>
          <p:nvPr/>
        </p:nvPicPr>
        <p:blipFill>
          <a:blip r:embed="rId3"/>
          <a:stretch>
            <a:fillRect/>
          </a:stretch>
        </p:blipFill>
        <p:spPr>
          <a:xfrm>
            <a:off x="8404766" y="2402119"/>
            <a:ext cx="2495550" cy="2476500"/>
          </a:xfrm>
          <a:prstGeom prst="rect">
            <a:avLst/>
          </a:prstGeom>
        </p:spPr>
      </p:pic>
      <p:sp>
        <p:nvSpPr>
          <p:cNvPr id="62" name="Right Arrow 61"/>
          <p:cNvSpPr/>
          <p:nvPr/>
        </p:nvSpPr>
        <p:spPr bwMode="auto">
          <a:xfrm>
            <a:off x="5830119" y="3665043"/>
            <a:ext cx="2828558" cy="250567"/>
          </a:xfrm>
          <a:prstGeom prst="rightArrow">
            <a:avLst/>
          </a:prstGeom>
          <a:solidFill>
            <a:srgbClr val="ED7D3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smtClean="0">
              <a:ln>
                <a:noFill/>
              </a:ln>
              <a:solidFill>
                <a:schemeClr val="bg1"/>
              </a:solidFill>
              <a:effectLst/>
              <a:latin typeface="Arial" charset="0"/>
            </a:endParaRPr>
          </a:p>
        </p:txBody>
      </p:sp>
    </p:spTree>
    <p:extLst>
      <p:ext uri="{BB962C8B-B14F-4D97-AF65-F5344CB8AC3E}">
        <p14:creationId xmlns:p14="http://schemas.microsoft.com/office/powerpoint/2010/main" val="402994918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p:nvPr/>
        </p:nvPicPr>
        <p:blipFill>
          <a:blip r:embed="rId2"/>
          <a:stretch>
            <a:fillRect/>
          </a:stretch>
        </p:blipFill>
        <p:spPr>
          <a:xfrm>
            <a:off x="2247899" y="1123950"/>
            <a:ext cx="8087592" cy="5172076"/>
          </a:xfrm>
          <a:prstGeom prst="rect">
            <a:avLst/>
          </a:prstGeom>
        </p:spPr>
      </p:pic>
      <p:sp>
        <p:nvSpPr>
          <p:cNvPr id="3" name="Title 1"/>
          <p:cNvSpPr txBox="1">
            <a:spLocks/>
          </p:cNvSpPr>
          <p:nvPr/>
        </p:nvSpPr>
        <p:spPr>
          <a:xfrm>
            <a:off x="1462835" y="109370"/>
            <a:ext cx="9679517" cy="1014579"/>
          </a:xfrm>
          <a:prstGeom prst="rect">
            <a:avLst/>
          </a:prstGeom>
        </p:spPr>
        <p:txBody>
          <a:bodyPr/>
          <a:lst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a:lstStyle>
          <a:p>
            <a:r>
              <a:rPr lang="en-US" kern="0" dirty="0" smtClean="0"/>
              <a:t>Different time </a:t>
            </a:r>
            <a:r>
              <a:rPr lang="en-US" kern="0" dirty="0" err="1" smtClean="0"/>
              <a:t>steppings</a:t>
            </a:r>
            <a:r>
              <a:rPr lang="en-US" kern="0" dirty="0" smtClean="0"/>
              <a:t> in TOUGH and the UTB model allow for fast and accurate calculation</a:t>
            </a:r>
            <a:endParaRPr lang="en-US" kern="0" dirty="0"/>
          </a:p>
        </p:txBody>
      </p:sp>
      <p:sp>
        <p:nvSpPr>
          <p:cNvPr id="4" name="Rectangle 3"/>
          <p:cNvSpPr/>
          <p:nvPr/>
        </p:nvSpPr>
        <p:spPr>
          <a:xfrm>
            <a:off x="11694713" y="6400239"/>
            <a:ext cx="385041" cy="523220"/>
          </a:xfrm>
          <a:prstGeom prst="rect">
            <a:avLst/>
          </a:prstGeom>
        </p:spPr>
        <p:txBody>
          <a:bodyPr wrap="none">
            <a:spAutoFit/>
          </a:bodyPr>
          <a:lstStyle/>
          <a:p>
            <a:r>
              <a:rPr lang="en-US" dirty="0" smtClean="0"/>
              <a:t>4</a:t>
            </a:r>
            <a:endParaRPr lang="en-US" dirty="0"/>
          </a:p>
        </p:txBody>
      </p:sp>
    </p:spTree>
    <p:extLst>
      <p:ext uri="{BB962C8B-B14F-4D97-AF65-F5344CB8AC3E}">
        <p14:creationId xmlns:p14="http://schemas.microsoft.com/office/powerpoint/2010/main" val="9600656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1462835" y="109370"/>
            <a:ext cx="9679517" cy="1014579"/>
          </a:xfrm>
          <a:prstGeom prst="rect">
            <a:avLst/>
          </a:prstGeom>
        </p:spPr>
        <p:txBody>
          <a:bodyPr/>
          <a:lst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a:lstStyle>
          <a:p>
            <a:r>
              <a:rPr lang="en-US" kern="0" dirty="0" smtClean="0"/>
              <a:t>Comparison with original 1D Matlab code verifies correct implementation of the code</a:t>
            </a:r>
            <a:endParaRPr lang="en-US" kern="0" dirty="0"/>
          </a:p>
        </p:txBody>
      </p:sp>
      <p:sp>
        <p:nvSpPr>
          <p:cNvPr id="4" name="Rectangle 3"/>
          <p:cNvSpPr/>
          <p:nvPr/>
        </p:nvSpPr>
        <p:spPr>
          <a:xfrm>
            <a:off x="11694713" y="6400239"/>
            <a:ext cx="385041" cy="523220"/>
          </a:xfrm>
          <a:prstGeom prst="rect">
            <a:avLst/>
          </a:prstGeom>
        </p:spPr>
        <p:txBody>
          <a:bodyPr wrap="none">
            <a:spAutoFit/>
          </a:bodyPr>
          <a:lstStyle/>
          <a:p>
            <a:r>
              <a:rPr lang="en-US" dirty="0" smtClean="0"/>
              <a:t>5</a:t>
            </a:r>
            <a:endParaRPr lang="en-US" dirty="0"/>
          </a:p>
        </p:txBody>
      </p:sp>
      <p:sp>
        <p:nvSpPr>
          <p:cNvPr id="5" name="TextBox 4"/>
          <p:cNvSpPr txBox="1"/>
          <p:nvPr/>
        </p:nvSpPr>
        <p:spPr>
          <a:xfrm>
            <a:off x="1462835" y="5406873"/>
            <a:ext cx="2835969" cy="523220"/>
          </a:xfrm>
          <a:prstGeom prst="rect">
            <a:avLst/>
          </a:prstGeom>
          <a:noFill/>
        </p:spPr>
        <p:txBody>
          <a:bodyPr wrap="none" rtlCol="0">
            <a:spAutoFit/>
          </a:bodyPr>
          <a:lstStyle/>
          <a:p>
            <a:r>
              <a:rPr lang="en-US" dirty="0" smtClean="0">
                <a:solidFill>
                  <a:schemeClr val="tx1"/>
                </a:solidFill>
              </a:rPr>
              <a:t>iTOUGH2 Model</a:t>
            </a:r>
            <a:endParaRPr lang="en-US" dirty="0">
              <a:solidFill>
                <a:schemeClr val="tx1"/>
              </a:solidFill>
            </a:endParaRPr>
          </a:p>
        </p:txBody>
      </p:sp>
      <p:sp>
        <p:nvSpPr>
          <p:cNvPr id="6" name="TextBox 5"/>
          <p:cNvSpPr txBox="1"/>
          <p:nvPr/>
        </p:nvSpPr>
        <p:spPr>
          <a:xfrm>
            <a:off x="7144301" y="5646644"/>
            <a:ext cx="3685624" cy="523220"/>
          </a:xfrm>
          <a:prstGeom prst="rect">
            <a:avLst/>
          </a:prstGeom>
          <a:noFill/>
        </p:spPr>
        <p:txBody>
          <a:bodyPr wrap="none" rtlCol="0">
            <a:spAutoFit/>
          </a:bodyPr>
          <a:lstStyle/>
          <a:p>
            <a:r>
              <a:rPr lang="en-US" dirty="0" smtClean="0">
                <a:solidFill>
                  <a:schemeClr val="tx1"/>
                </a:solidFill>
              </a:rPr>
              <a:t>Original Matlab Model</a:t>
            </a:r>
            <a:endParaRPr lang="en-US" dirty="0">
              <a:solidFill>
                <a:schemeClr val="tx1"/>
              </a:solidFill>
            </a:endParaRPr>
          </a:p>
        </p:txBody>
      </p:sp>
      <p:pic>
        <p:nvPicPr>
          <p:cNvPr id="11" name="Picture 10">
            <a:extLst>
              <a:ext uri="{FF2B5EF4-FFF2-40B4-BE49-F238E27FC236}">
                <a16:creationId xmlns:a16="http://schemas.microsoft.com/office/drawing/2014/main" id="{2F838662-D2BD-A24D-8209-69B78546935E}"/>
              </a:ext>
            </a:extLst>
          </p:cNvPr>
          <p:cNvPicPr>
            <a:picLocks noChangeAspect="1"/>
          </p:cNvPicPr>
          <p:nvPr/>
        </p:nvPicPr>
        <p:blipFill>
          <a:blip r:embed="rId2"/>
          <a:stretch>
            <a:fillRect/>
          </a:stretch>
        </p:blipFill>
        <p:spPr>
          <a:xfrm>
            <a:off x="5676095" y="1123949"/>
            <a:ext cx="5466257" cy="4099693"/>
          </a:xfrm>
          <a:prstGeom prst="rect">
            <a:avLst/>
          </a:prstGeom>
        </p:spPr>
      </p:pic>
      <p:pic>
        <p:nvPicPr>
          <p:cNvPr id="13" name="Picture 12"/>
          <p:cNvPicPr>
            <a:picLocks noChangeAspect="1"/>
          </p:cNvPicPr>
          <p:nvPr/>
        </p:nvPicPr>
        <p:blipFill>
          <a:blip r:embed="rId3"/>
          <a:stretch>
            <a:fillRect/>
          </a:stretch>
        </p:blipFill>
        <p:spPr>
          <a:xfrm>
            <a:off x="0" y="1299241"/>
            <a:ext cx="5728138" cy="4107632"/>
          </a:xfrm>
          <a:prstGeom prst="rect">
            <a:avLst/>
          </a:prstGeom>
        </p:spPr>
      </p:pic>
    </p:spTree>
    <p:extLst>
      <p:ext uri="{BB962C8B-B14F-4D97-AF65-F5344CB8AC3E}">
        <p14:creationId xmlns:p14="http://schemas.microsoft.com/office/powerpoint/2010/main" val="212638756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362" y="2903095"/>
            <a:ext cx="4529138" cy="3445925"/>
          </a:xfrm>
          <a:prstGeom prst="rect">
            <a:avLst/>
          </a:prstGeom>
        </p:spPr>
      </p:pic>
      <p:pic>
        <p:nvPicPr>
          <p:cNvPr id="3" name="Picture 2"/>
          <p:cNvPicPr>
            <a:picLocks noChangeAspect="1"/>
          </p:cNvPicPr>
          <p:nvPr/>
        </p:nvPicPr>
        <p:blipFill>
          <a:blip r:embed="rId3"/>
          <a:stretch>
            <a:fillRect/>
          </a:stretch>
        </p:blipFill>
        <p:spPr>
          <a:xfrm>
            <a:off x="4553500" y="2903095"/>
            <a:ext cx="4520162" cy="3543408"/>
          </a:xfrm>
          <a:prstGeom prst="rect">
            <a:avLst/>
          </a:prstGeom>
        </p:spPr>
      </p:pic>
      <p:pic>
        <p:nvPicPr>
          <p:cNvPr id="4" name="Picture 3"/>
          <p:cNvPicPr>
            <a:picLocks noChangeAspect="1"/>
          </p:cNvPicPr>
          <p:nvPr/>
        </p:nvPicPr>
        <p:blipFill>
          <a:blip r:embed="rId4"/>
          <a:stretch>
            <a:fillRect/>
          </a:stretch>
        </p:blipFill>
        <p:spPr>
          <a:xfrm>
            <a:off x="9171239" y="288936"/>
            <a:ext cx="3020761" cy="2363410"/>
          </a:xfrm>
          <a:prstGeom prst="rect">
            <a:avLst/>
          </a:prstGeom>
        </p:spPr>
      </p:pic>
      <p:pic>
        <p:nvPicPr>
          <p:cNvPr id="5" name="Picture 4"/>
          <p:cNvPicPr>
            <a:picLocks noChangeAspect="1"/>
          </p:cNvPicPr>
          <p:nvPr/>
        </p:nvPicPr>
        <p:blipFill>
          <a:blip r:embed="rId5"/>
          <a:stretch>
            <a:fillRect/>
          </a:stretch>
        </p:blipFill>
        <p:spPr>
          <a:xfrm>
            <a:off x="8546856" y="2984923"/>
            <a:ext cx="3533775" cy="3317442"/>
          </a:xfrm>
          <a:prstGeom prst="rect">
            <a:avLst/>
          </a:prstGeom>
        </p:spPr>
      </p:pic>
      <p:sp>
        <p:nvSpPr>
          <p:cNvPr id="6" name="Rectangle 5"/>
          <p:cNvSpPr/>
          <p:nvPr/>
        </p:nvSpPr>
        <p:spPr>
          <a:xfrm>
            <a:off x="9574823" y="78747"/>
            <a:ext cx="2705100" cy="338554"/>
          </a:xfrm>
          <a:prstGeom prst="rect">
            <a:avLst/>
          </a:prstGeom>
          <a:solidFill>
            <a:schemeClr val="bg1"/>
          </a:solidFill>
        </p:spPr>
        <p:txBody>
          <a:bodyPr wrap="square">
            <a:spAutoFit/>
          </a:bodyPr>
          <a:lstStyle/>
          <a:p>
            <a:pPr algn="l"/>
            <a:r>
              <a:rPr lang="en-US" sz="800" dirty="0">
                <a:solidFill>
                  <a:schemeClr val="tx1"/>
                </a:solidFill>
                <a:latin typeface="AdvOT833fb896"/>
              </a:rPr>
              <a:t>Hourly thermal load of a UTB in a residential building</a:t>
            </a:r>
          </a:p>
          <a:p>
            <a:pPr algn="l"/>
            <a:r>
              <a:rPr lang="en-US" sz="800" dirty="0">
                <a:solidFill>
                  <a:schemeClr val="tx1"/>
                </a:solidFill>
                <a:latin typeface="AdvOT833fb896"/>
              </a:rPr>
              <a:t>in Knoxville, Tennessee</a:t>
            </a:r>
            <a:endParaRPr lang="en-US" sz="800" dirty="0">
              <a:solidFill>
                <a:schemeClr val="tx1"/>
              </a:solidFill>
            </a:endParaRPr>
          </a:p>
        </p:txBody>
      </p:sp>
      <p:sp>
        <p:nvSpPr>
          <p:cNvPr id="7" name="Title 1"/>
          <p:cNvSpPr txBox="1">
            <a:spLocks/>
          </p:cNvSpPr>
          <p:nvPr/>
        </p:nvSpPr>
        <p:spPr>
          <a:xfrm>
            <a:off x="255717" y="381855"/>
            <a:ext cx="8595565" cy="1014579"/>
          </a:xfrm>
          <a:prstGeom prst="rect">
            <a:avLst/>
          </a:prstGeom>
        </p:spPr>
        <p:txBody>
          <a:bodyPr/>
          <a:lst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a:lstStyle>
          <a:p>
            <a:r>
              <a:rPr lang="en-US" kern="0" dirty="0" smtClean="0"/>
              <a:t>One element – 20 m x 20 m x 6.71 m (UTB </a:t>
            </a:r>
            <a:r>
              <a:rPr lang="en-US" kern="0" dirty="0"/>
              <a:t>height) – </a:t>
            </a:r>
            <a:r>
              <a:rPr lang="en-US" kern="0" dirty="0" smtClean="0"/>
              <a:t>test compares well to the 1D soil model, verifying TOUGH coupled code</a:t>
            </a:r>
            <a:endParaRPr lang="en-US" kern="0" dirty="0"/>
          </a:p>
        </p:txBody>
      </p:sp>
      <p:sp>
        <p:nvSpPr>
          <p:cNvPr id="8" name="TextBox 7"/>
          <p:cNvSpPr txBox="1"/>
          <p:nvPr/>
        </p:nvSpPr>
        <p:spPr>
          <a:xfrm>
            <a:off x="5188195" y="2236847"/>
            <a:ext cx="3358661" cy="830997"/>
          </a:xfrm>
          <a:prstGeom prst="rect">
            <a:avLst/>
          </a:prstGeom>
          <a:noFill/>
        </p:spPr>
        <p:txBody>
          <a:bodyPr wrap="square" rtlCol="0">
            <a:spAutoFit/>
          </a:bodyPr>
          <a:lstStyle/>
          <a:p>
            <a:pPr algn="l"/>
            <a:r>
              <a:rPr lang="en-US" sz="2400" dirty="0" smtClean="0">
                <a:solidFill>
                  <a:schemeClr val="tx1"/>
                </a:solidFill>
              </a:rPr>
              <a:t>No </a:t>
            </a:r>
            <a:r>
              <a:rPr lang="en-US" sz="2400" dirty="0">
                <a:solidFill>
                  <a:schemeClr val="tx1"/>
                </a:solidFill>
              </a:rPr>
              <a:t>UTB heat loss to soil top and bottom </a:t>
            </a:r>
          </a:p>
        </p:txBody>
      </p:sp>
      <p:sp>
        <p:nvSpPr>
          <p:cNvPr id="9" name="TextBox 8"/>
          <p:cNvSpPr txBox="1"/>
          <p:nvPr/>
        </p:nvSpPr>
        <p:spPr>
          <a:xfrm>
            <a:off x="668033" y="2153926"/>
            <a:ext cx="3464352" cy="830997"/>
          </a:xfrm>
          <a:prstGeom prst="rect">
            <a:avLst/>
          </a:prstGeom>
          <a:noFill/>
        </p:spPr>
        <p:txBody>
          <a:bodyPr wrap="square" rtlCol="0">
            <a:spAutoFit/>
          </a:bodyPr>
          <a:lstStyle/>
          <a:p>
            <a:pPr algn="l"/>
            <a:r>
              <a:rPr lang="en-US" sz="2400" dirty="0" smtClean="0">
                <a:solidFill>
                  <a:schemeClr val="tx1"/>
                </a:solidFill>
              </a:rPr>
              <a:t>Include UTB heat loss to soil top and bottom </a:t>
            </a:r>
            <a:endParaRPr lang="en-US" sz="2400" dirty="0">
              <a:solidFill>
                <a:schemeClr val="tx1"/>
              </a:solidFill>
            </a:endParaRPr>
          </a:p>
        </p:txBody>
      </p:sp>
      <p:sp>
        <p:nvSpPr>
          <p:cNvPr id="10" name="Rectangle 9"/>
          <p:cNvSpPr/>
          <p:nvPr/>
        </p:nvSpPr>
        <p:spPr>
          <a:xfrm>
            <a:off x="11694713" y="6400239"/>
            <a:ext cx="385041" cy="523220"/>
          </a:xfrm>
          <a:prstGeom prst="rect">
            <a:avLst/>
          </a:prstGeom>
        </p:spPr>
        <p:txBody>
          <a:bodyPr wrap="none">
            <a:spAutoFit/>
          </a:bodyPr>
          <a:lstStyle/>
          <a:p>
            <a:r>
              <a:rPr lang="en-US" dirty="0" smtClean="0"/>
              <a:t>6</a:t>
            </a:r>
            <a:endParaRPr lang="en-US" dirty="0"/>
          </a:p>
        </p:txBody>
      </p:sp>
    </p:spTree>
    <p:extLst>
      <p:ext uri="{BB962C8B-B14F-4D97-AF65-F5344CB8AC3E}">
        <p14:creationId xmlns:p14="http://schemas.microsoft.com/office/powerpoint/2010/main" val="3141686079"/>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4382" y="522206"/>
            <a:ext cx="4143375" cy="3209925"/>
          </a:xfrm>
          <a:prstGeom prst="rect">
            <a:avLst/>
          </a:prstGeom>
        </p:spPr>
      </p:pic>
      <p:pic>
        <p:nvPicPr>
          <p:cNvPr id="3" name="Picture 2"/>
          <p:cNvPicPr>
            <a:picLocks noChangeAspect="1"/>
          </p:cNvPicPr>
          <p:nvPr/>
        </p:nvPicPr>
        <p:blipFill rotWithShape="1">
          <a:blip r:embed="rId3"/>
          <a:srcRect t="-1" b="2152"/>
          <a:stretch/>
        </p:blipFill>
        <p:spPr>
          <a:xfrm>
            <a:off x="-3328" y="3670586"/>
            <a:ext cx="4229100" cy="3187413"/>
          </a:xfrm>
          <a:prstGeom prst="rect">
            <a:avLst/>
          </a:prstGeom>
        </p:spPr>
      </p:pic>
      <p:pic>
        <p:nvPicPr>
          <p:cNvPr id="4" name="Picture 3"/>
          <p:cNvPicPr>
            <a:picLocks noChangeAspect="1"/>
          </p:cNvPicPr>
          <p:nvPr/>
        </p:nvPicPr>
        <p:blipFill>
          <a:blip r:embed="rId4"/>
          <a:stretch>
            <a:fillRect/>
          </a:stretch>
        </p:blipFill>
        <p:spPr>
          <a:xfrm>
            <a:off x="3174560" y="513074"/>
            <a:ext cx="4191000" cy="3200400"/>
          </a:xfrm>
          <a:prstGeom prst="rect">
            <a:avLst/>
          </a:prstGeom>
        </p:spPr>
      </p:pic>
      <p:pic>
        <p:nvPicPr>
          <p:cNvPr id="5" name="Picture 4"/>
          <p:cNvPicPr>
            <a:picLocks noChangeAspect="1"/>
          </p:cNvPicPr>
          <p:nvPr/>
        </p:nvPicPr>
        <p:blipFill rotWithShape="1">
          <a:blip r:embed="rId5"/>
          <a:srcRect b="1705"/>
          <a:stretch/>
        </p:blipFill>
        <p:spPr>
          <a:xfrm>
            <a:off x="3203135" y="3712152"/>
            <a:ext cx="4133850" cy="3145848"/>
          </a:xfrm>
          <a:prstGeom prst="rect">
            <a:avLst/>
          </a:prstGeom>
        </p:spPr>
      </p:pic>
      <p:sp>
        <p:nvSpPr>
          <p:cNvPr id="7" name="Rectangle 6"/>
          <p:cNvSpPr/>
          <p:nvPr/>
        </p:nvSpPr>
        <p:spPr>
          <a:xfrm>
            <a:off x="24382" y="0"/>
            <a:ext cx="12161982" cy="461665"/>
          </a:xfrm>
          <a:prstGeom prst="rect">
            <a:avLst/>
          </a:prstGeom>
        </p:spPr>
        <p:txBody>
          <a:bodyPr wrap="square">
            <a:spAutoFit/>
          </a:bodyPr>
          <a:lstStyle/>
          <a:p>
            <a:r>
              <a:rPr lang="en-US" sz="2400" b="1" kern="0" dirty="0">
                <a:solidFill>
                  <a:srgbClr val="00279F"/>
                </a:solidFill>
              </a:rPr>
              <a:t>Soil temperature </a:t>
            </a:r>
            <a:r>
              <a:rPr lang="en-US" sz="2400" b="1" kern="0" dirty="0" smtClean="0">
                <a:solidFill>
                  <a:srgbClr val="00279F"/>
                </a:solidFill>
              </a:rPr>
              <a:t>is 2°C elevated in the center after a year of operation at Knoxville</a:t>
            </a:r>
            <a:endParaRPr lang="en-US" sz="2400" b="1" kern="0" dirty="0">
              <a:solidFill>
                <a:srgbClr val="00279F"/>
              </a:solidFill>
            </a:endParaRPr>
          </a:p>
        </p:txBody>
      </p:sp>
      <p:pic>
        <p:nvPicPr>
          <p:cNvPr id="6" name="Picture 5"/>
          <p:cNvPicPr>
            <a:picLocks noChangeAspect="1"/>
          </p:cNvPicPr>
          <p:nvPr/>
        </p:nvPicPr>
        <p:blipFill>
          <a:blip r:embed="rId6"/>
          <a:stretch>
            <a:fillRect/>
          </a:stretch>
        </p:blipFill>
        <p:spPr>
          <a:xfrm>
            <a:off x="6351721" y="3732130"/>
            <a:ext cx="4191727" cy="3129823"/>
          </a:xfrm>
          <a:prstGeom prst="rect">
            <a:avLst/>
          </a:prstGeom>
        </p:spPr>
      </p:pic>
      <p:sp>
        <p:nvSpPr>
          <p:cNvPr id="8" name="TextBox 7"/>
          <p:cNvSpPr txBox="1"/>
          <p:nvPr/>
        </p:nvSpPr>
        <p:spPr>
          <a:xfrm>
            <a:off x="2131237" y="593567"/>
            <a:ext cx="982962" cy="400110"/>
          </a:xfrm>
          <a:prstGeom prst="rect">
            <a:avLst/>
          </a:prstGeom>
          <a:noFill/>
        </p:spPr>
        <p:txBody>
          <a:bodyPr wrap="none" rtlCol="0">
            <a:spAutoFit/>
          </a:bodyPr>
          <a:lstStyle/>
          <a:p>
            <a:r>
              <a:rPr lang="en-US" sz="2000" b="1" dirty="0" smtClean="0">
                <a:solidFill>
                  <a:schemeClr val="tx1"/>
                </a:solidFill>
              </a:rPr>
              <a:t>90 day</a:t>
            </a:r>
            <a:endParaRPr lang="en-US" sz="2000" b="1" dirty="0">
              <a:solidFill>
                <a:schemeClr val="tx1"/>
              </a:solidFill>
            </a:endParaRPr>
          </a:p>
        </p:txBody>
      </p:sp>
      <p:sp>
        <p:nvSpPr>
          <p:cNvPr id="9" name="TextBox 8"/>
          <p:cNvSpPr txBox="1"/>
          <p:nvPr/>
        </p:nvSpPr>
        <p:spPr>
          <a:xfrm>
            <a:off x="5156332" y="589257"/>
            <a:ext cx="1125629" cy="400110"/>
          </a:xfrm>
          <a:prstGeom prst="rect">
            <a:avLst/>
          </a:prstGeom>
          <a:noFill/>
        </p:spPr>
        <p:txBody>
          <a:bodyPr wrap="none" rtlCol="0">
            <a:spAutoFit/>
          </a:bodyPr>
          <a:lstStyle/>
          <a:p>
            <a:r>
              <a:rPr lang="en-US" sz="2000" b="1" dirty="0" smtClean="0">
                <a:solidFill>
                  <a:schemeClr val="tx1"/>
                </a:solidFill>
              </a:rPr>
              <a:t>180 day</a:t>
            </a:r>
            <a:endParaRPr lang="en-US" sz="2000" b="1" dirty="0">
              <a:solidFill>
                <a:schemeClr val="tx1"/>
              </a:solidFill>
            </a:endParaRPr>
          </a:p>
        </p:txBody>
      </p:sp>
      <p:pic>
        <p:nvPicPr>
          <p:cNvPr id="10" name="Picture 9"/>
          <p:cNvPicPr>
            <a:picLocks noChangeAspect="1"/>
          </p:cNvPicPr>
          <p:nvPr/>
        </p:nvPicPr>
        <p:blipFill>
          <a:blip r:embed="rId7"/>
          <a:stretch>
            <a:fillRect/>
          </a:stretch>
        </p:blipFill>
        <p:spPr>
          <a:xfrm>
            <a:off x="8045824" y="1141789"/>
            <a:ext cx="3020761" cy="2363410"/>
          </a:xfrm>
          <a:prstGeom prst="rect">
            <a:avLst/>
          </a:prstGeom>
        </p:spPr>
      </p:pic>
      <p:cxnSp>
        <p:nvCxnSpPr>
          <p:cNvPr id="12" name="Straight Connector 11"/>
          <p:cNvCxnSpPr/>
          <p:nvPr/>
        </p:nvCxnSpPr>
        <p:spPr bwMode="auto">
          <a:xfrm>
            <a:off x="9073661" y="1176957"/>
            <a:ext cx="17585" cy="201168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4" name="Straight Connector 13"/>
          <p:cNvCxnSpPr/>
          <p:nvPr/>
        </p:nvCxnSpPr>
        <p:spPr bwMode="auto">
          <a:xfrm>
            <a:off x="9727221" y="1176957"/>
            <a:ext cx="17585" cy="201168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5" name="Straight Connector 14"/>
          <p:cNvCxnSpPr/>
          <p:nvPr/>
        </p:nvCxnSpPr>
        <p:spPr bwMode="auto">
          <a:xfrm>
            <a:off x="10361734" y="1188074"/>
            <a:ext cx="17585" cy="201168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6" name="TextBox 15"/>
          <p:cNvSpPr txBox="1"/>
          <p:nvPr/>
        </p:nvSpPr>
        <p:spPr>
          <a:xfrm>
            <a:off x="8762052" y="913152"/>
            <a:ext cx="580608" cy="246221"/>
          </a:xfrm>
          <a:prstGeom prst="rect">
            <a:avLst/>
          </a:prstGeom>
          <a:noFill/>
        </p:spPr>
        <p:txBody>
          <a:bodyPr wrap="none" rtlCol="0">
            <a:spAutoFit/>
          </a:bodyPr>
          <a:lstStyle/>
          <a:p>
            <a:r>
              <a:rPr lang="en-US" sz="1000" b="1" dirty="0" smtClean="0">
                <a:solidFill>
                  <a:schemeClr val="tx1"/>
                </a:solidFill>
              </a:rPr>
              <a:t>90 day</a:t>
            </a:r>
            <a:endParaRPr lang="en-US" sz="1000" b="1" dirty="0">
              <a:solidFill>
                <a:schemeClr val="tx1"/>
              </a:solidFill>
            </a:endParaRPr>
          </a:p>
        </p:txBody>
      </p:sp>
      <p:sp>
        <p:nvSpPr>
          <p:cNvPr id="17" name="TextBox 16"/>
          <p:cNvSpPr txBox="1"/>
          <p:nvPr/>
        </p:nvSpPr>
        <p:spPr>
          <a:xfrm>
            <a:off x="9383969" y="912062"/>
            <a:ext cx="651140" cy="246221"/>
          </a:xfrm>
          <a:prstGeom prst="rect">
            <a:avLst/>
          </a:prstGeom>
          <a:noFill/>
        </p:spPr>
        <p:txBody>
          <a:bodyPr wrap="none" rtlCol="0">
            <a:spAutoFit/>
          </a:bodyPr>
          <a:lstStyle/>
          <a:p>
            <a:r>
              <a:rPr lang="en-US" sz="1000" b="1" dirty="0" smtClean="0">
                <a:solidFill>
                  <a:schemeClr val="tx1"/>
                </a:solidFill>
              </a:rPr>
              <a:t>180 day</a:t>
            </a:r>
            <a:endParaRPr lang="en-US" sz="1000" b="1" dirty="0">
              <a:solidFill>
                <a:schemeClr val="tx1"/>
              </a:solidFill>
            </a:endParaRPr>
          </a:p>
        </p:txBody>
      </p:sp>
      <p:sp>
        <p:nvSpPr>
          <p:cNvPr id="18" name="TextBox 17"/>
          <p:cNvSpPr txBox="1"/>
          <p:nvPr/>
        </p:nvSpPr>
        <p:spPr>
          <a:xfrm>
            <a:off x="10058833" y="914005"/>
            <a:ext cx="651140" cy="246221"/>
          </a:xfrm>
          <a:prstGeom prst="rect">
            <a:avLst/>
          </a:prstGeom>
          <a:noFill/>
        </p:spPr>
        <p:txBody>
          <a:bodyPr wrap="none" rtlCol="0">
            <a:spAutoFit/>
          </a:bodyPr>
          <a:lstStyle/>
          <a:p>
            <a:r>
              <a:rPr lang="en-US" sz="1000" b="1" dirty="0" smtClean="0">
                <a:solidFill>
                  <a:schemeClr val="tx1"/>
                </a:solidFill>
              </a:rPr>
              <a:t>270 day</a:t>
            </a:r>
            <a:endParaRPr lang="en-US" sz="1000" b="1" dirty="0">
              <a:solidFill>
                <a:schemeClr val="tx1"/>
              </a:solidFill>
            </a:endParaRPr>
          </a:p>
        </p:txBody>
      </p:sp>
      <p:sp>
        <p:nvSpPr>
          <p:cNvPr id="19" name="TextBox 18"/>
          <p:cNvSpPr txBox="1"/>
          <p:nvPr/>
        </p:nvSpPr>
        <p:spPr>
          <a:xfrm>
            <a:off x="1997136" y="3773929"/>
            <a:ext cx="1125629" cy="400110"/>
          </a:xfrm>
          <a:prstGeom prst="rect">
            <a:avLst/>
          </a:prstGeom>
          <a:noFill/>
        </p:spPr>
        <p:txBody>
          <a:bodyPr wrap="none" rtlCol="0">
            <a:spAutoFit/>
          </a:bodyPr>
          <a:lstStyle/>
          <a:p>
            <a:r>
              <a:rPr lang="en-US" sz="2000" b="1" dirty="0" smtClean="0">
                <a:solidFill>
                  <a:schemeClr val="tx1"/>
                </a:solidFill>
              </a:rPr>
              <a:t>270 day</a:t>
            </a:r>
            <a:endParaRPr lang="en-US" sz="2000" b="1" dirty="0">
              <a:solidFill>
                <a:schemeClr val="tx1"/>
              </a:solidFill>
            </a:endParaRPr>
          </a:p>
        </p:txBody>
      </p:sp>
      <p:sp>
        <p:nvSpPr>
          <p:cNvPr id="20" name="TextBox 19"/>
          <p:cNvSpPr txBox="1"/>
          <p:nvPr/>
        </p:nvSpPr>
        <p:spPr>
          <a:xfrm>
            <a:off x="5169586" y="3760813"/>
            <a:ext cx="1125629" cy="400110"/>
          </a:xfrm>
          <a:prstGeom prst="rect">
            <a:avLst/>
          </a:prstGeom>
          <a:noFill/>
        </p:spPr>
        <p:txBody>
          <a:bodyPr wrap="none" rtlCol="0">
            <a:spAutoFit/>
          </a:bodyPr>
          <a:lstStyle/>
          <a:p>
            <a:r>
              <a:rPr lang="en-US" sz="2000" b="1" dirty="0" smtClean="0">
                <a:solidFill>
                  <a:schemeClr val="tx1"/>
                </a:solidFill>
              </a:rPr>
              <a:t>365 day</a:t>
            </a:r>
            <a:endParaRPr lang="en-US" sz="2000" b="1" dirty="0">
              <a:solidFill>
                <a:schemeClr val="tx1"/>
              </a:solidFill>
            </a:endParaRPr>
          </a:p>
        </p:txBody>
      </p:sp>
      <p:sp>
        <p:nvSpPr>
          <p:cNvPr id="21" name="TextBox 20"/>
          <p:cNvSpPr txBox="1"/>
          <p:nvPr/>
        </p:nvSpPr>
        <p:spPr>
          <a:xfrm>
            <a:off x="8511304" y="3756211"/>
            <a:ext cx="925254" cy="400110"/>
          </a:xfrm>
          <a:prstGeom prst="rect">
            <a:avLst/>
          </a:prstGeom>
          <a:noFill/>
        </p:spPr>
        <p:txBody>
          <a:bodyPr wrap="none" rtlCol="0">
            <a:spAutoFit/>
          </a:bodyPr>
          <a:lstStyle/>
          <a:p>
            <a:r>
              <a:rPr lang="en-US" sz="2000" b="1" dirty="0" smtClean="0">
                <a:solidFill>
                  <a:schemeClr val="tx1"/>
                </a:solidFill>
              </a:rPr>
              <a:t>5 year</a:t>
            </a:r>
            <a:endParaRPr lang="en-US" sz="2000" b="1" dirty="0">
              <a:solidFill>
                <a:schemeClr val="tx1"/>
              </a:solidFill>
            </a:endParaRPr>
          </a:p>
        </p:txBody>
      </p:sp>
      <p:sp>
        <p:nvSpPr>
          <p:cNvPr id="22" name="Rectangle 21"/>
          <p:cNvSpPr/>
          <p:nvPr/>
        </p:nvSpPr>
        <p:spPr>
          <a:xfrm>
            <a:off x="11694713" y="6400239"/>
            <a:ext cx="385041" cy="523220"/>
          </a:xfrm>
          <a:prstGeom prst="rect">
            <a:avLst/>
          </a:prstGeom>
        </p:spPr>
        <p:txBody>
          <a:bodyPr wrap="none">
            <a:spAutoFit/>
          </a:bodyPr>
          <a:lstStyle/>
          <a:p>
            <a:r>
              <a:rPr lang="en-US" dirty="0" smtClean="0"/>
              <a:t>7</a:t>
            </a:r>
            <a:endParaRPr lang="en-US" dirty="0"/>
          </a:p>
        </p:txBody>
      </p:sp>
    </p:spTree>
    <p:extLst>
      <p:ext uri="{BB962C8B-B14F-4D97-AF65-F5344CB8AC3E}">
        <p14:creationId xmlns:p14="http://schemas.microsoft.com/office/powerpoint/2010/main" val="58281031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9131" y="2186808"/>
            <a:ext cx="6009175" cy="4571545"/>
          </a:xfrm>
          <a:prstGeom prst="rect">
            <a:avLst/>
          </a:prstGeom>
        </p:spPr>
      </p:pic>
      <p:pic>
        <p:nvPicPr>
          <p:cNvPr id="3" name="Picture 2"/>
          <p:cNvPicPr>
            <a:picLocks noChangeAspect="1"/>
          </p:cNvPicPr>
          <p:nvPr/>
        </p:nvPicPr>
        <p:blipFill>
          <a:blip r:embed="rId3"/>
          <a:stretch>
            <a:fillRect/>
          </a:stretch>
        </p:blipFill>
        <p:spPr>
          <a:xfrm>
            <a:off x="6088307" y="2137671"/>
            <a:ext cx="5412032" cy="4620681"/>
          </a:xfrm>
          <a:prstGeom prst="rect">
            <a:avLst/>
          </a:prstGeom>
        </p:spPr>
      </p:pic>
      <p:sp>
        <p:nvSpPr>
          <p:cNvPr id="4" name="Rectangle 3"/>
          <p:cNvSpPr/>
          <p:nvPr/>
        </p:nvSpPr>
        <p:spPr>
          <a:xfrm>
            <a:off x="848228" y="332424"/>
            <a:ext cx="10023231" cy="1077218"/>
          </a:xfrm>
          <a:prstGeom prst="rect">
            <a:avLst/>
          </a:prstGeom>
        </p:spPr>
        <p:txBody>
          <a:bodyPr wrap="square">
            <a:spAutoFit/>
          </a:bodyPr>
          <a:lstStyle/>
          <a:p>
            <a:pPr algn="ctr"/>
            <a:r>
              <a:rPr lang="en-US" sz="3200" b="1" kern="0" dirty="0" smtClean="0">
                <a:solidFill>
                  <a:srgbClr val="00279F"/>
                </a:solidFill>
              </a:rPr>
              <a:t>Tank water </a:t>
            </a:r>
            <a:r>
              <a:rPr lang="en-US" sz="3200" b="1" kern="0" dirty="0">
                <a:solidFill>
                  <a:srgbClr val="00279F"/>
                </a:solidFill>
              </a:rPr>
              <a:t>temperature </a:t>
            </a:r>
            <a:r>
              <a:rPr lang="en-US" sz="3200" b="1" kern="0" dirty="0" smtClean="0">
                <a:solidFill>
                  <a:srgbClr val="00279F"/>
                </a:solidFill>
              </a:rPr>
              <a:t>is slightly elevated after years of operation at Knoxville</a:t>
            </a:r>
            <a:endParaRPr lang="en-US" sz="3200" b="1" kern="0" dirty="0">
              <a:solidFill>
                <a:srgbClr val="00279F"/>
              </a:solidFill>
            </a:endParaRPr>
          </a:p>
        </p:txBody>
      </p:sp>
      <p:cxnSp>
        <p:nvCxnSpPr>
          <p:cNvPr id="6" name="Straight Connector 5"/>
          <p:cNvCxnSpPr/>
          <p:nvPr/>
        </p:nvCxnSpPr>
        <p:spPr bwMode="auto">
          <a:xfrm>
            <a:off x="782515" y="3657600"/>
            <a:ext cx="0" cy="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8" name="Straight Connector 7"/>
          <p:cNvCxnSpPr/>
          <p:nvPr/>
        </p:nvCxnSpPr>
        <p:spPr bwMode="auto">
          <a:xfrm flipV="1">
            <a:off x="782515" y="3648808"/>
            <a:ext cx="4615962" cy="0"/>
          </a:xfrm>
          <a:prstGeom prst="line">
            <a:avLst/>
          </a:prstGeom>
          <a:solidFill>
            <a:schemeClr val="accent1"/>
          </a:solidFill>
          <a:ln w="19050" cap="flat" cmpd="sng" algn="ctr">
            <a:solidFill>
              <a:schemeClr val="tx1"/>
            </a:solidFill>
            <a:prstDash val="dashDot"/>
            <a:round/>
            <a:headEnd type="none" w="med" len="med"/>
            <a:tailEnd type="none" w="med" len="med"/>
          </a:ln>
          <a:effectLst/>
        </p:spPr>
      </p:cxnSp>
      <p:sp>
        <p:nvSpPr>
          <p:cNvPr id="10" name="TextBox 9"/>
          <p:cNvSpPr txBox="1"/>
          <p:nvPr/>
        </p:nvSpPr>
        <p:spPr>
          <a:xfrm>
            <a:off x="848228" y="2409977"/>
            <a:ext cx="1859803" cy="338554"/>
          </a:xfrm>
          <a:prstGeom prst="rect">
            <a:avLst/>
          </a:prstGeom>
          <a:noFill/>
        </p:spPr>
        <p:txBody>
          <a:bodyPr wrap="none" rtlCol="0">
            <a:spAutoFit/>
          </a:bodyPr>
          <a:lstStyle/>
          <a:p>
            <a:r>
              <a:rPr lang="en-US" sz="1600" dirty="0" smtClean="0">
                <a:solidFill>
                  <a:schemeClr val="tx1"/>
                </a:solidFill>
              </a:rPr>
              <a:t>PCM melting point</a:t>
            </a:r>
            <a:endParaRPr lang="en-US" sz="1600" dirty="0">
              <a:solidFill>
                <a:schemeClr val="tx1"/>
              </a:solidFill>
            </a:endParaRPr>
          </a:p>
        </p:txBody>
      </p:sp>
      <p:cxnSp>
        <p:nvCxnSpPr>
          <p:cNvPr id="12" name="Straight Arrow Connector 11"/>
          <p:cNvCxnSpPr/>
          <p:nvPr/>
        </p:nvCxnSpPr>
        <p:spPr bwMode="auto">
          <a:xfrm>
            <a:off x="1767254" y="2748531"/>
            <a:ext cx="8792" cy="900277"/>
          </a:xfrm>
          <a:prstGeom prst="straightConnector1">
            <a:avLst/>
          </a:prstGeom>
          <a:solidFill>
            <a:schemeClr val="accent1"/>
          </a:solidFill>
          <a:ln w="12700" cap="flat" cmpd="sng" algn="ctr">
            <a:solidFill>
              <a:schemeClr val="tx1"/>
            </a:solidFill>
            <a:prstDash val="solid"/>
            <a:round/>
            <a:headEnd type="none" w="med" len="med"/>
            <a:tailEnd type="triangle"/>
          </a:ln>
          <a:effectLst/>
        </p:spPr>
      </p:cxnSp>
      <p:sp>
        <p:nvSpPr>
          <p:cNvPr id="15" name="Rectangle 14"/>
          <p:cNvSpPr/>
          <p:nvPr/>
        </p:nvSpPr>
        <p:spPr>
          <a:xfrm>
            <a:off x="11694713" y="6400239"/>
            <a:ext cx="385041" cy="523220"/>
          </a:xfrm>
          <a:prstGeom prst="rect">
            <a:avLst/>
          </a:prstGeom>
        </p:spPr>
        <p:txBody>
          <a:bodyPr wrap="none">
            <a:spAutoFit/>
          </a:bodyPr>
          <a:lstStyle/>
          <a:p>
            <a:r>
              <a:rPr lang="en-US" dirty="0" smtClean="0"/>
              <a:t>8</a:t>
            </a:r>
            <a:endParaRPr lang="en-US" dirty="0"/>
          </a:p>
        </p:txBody>
      </p:sp>
    </p:spTree>
    <p:extLst>
      <p:ext uri="{BB962C8B-B14F-4D97-AF65-F5344CB8AC3E}">
        <p14:creationId xmlns:p14="http://schemas.microsoft.com/office/powerpoint/2010/main" val="13653368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stretch>
            <a:fillRect/>
          </a:stretch>
        </p:blipFill>
        <p:spPr>
          <a:xfrm>
            <a:off x="105507" y="703385"/>
            <a:ext cx="4064365" cy="3077306"/>
          </a:xfrm>
          <a:prstGeom prst="rect">
            <a:avLst/>
          </a:prstGeom>
        </p:spPr>
      </p:pic>
      <p:pic>
        <p:nvPicPr>
          <p:cNvPr id="3" name="Picture 2"/>
          <p:cNvPicPr>
            <a:picLocks noChangeAspect="1"/>
          </p:cNvPicPr>
          <p:nvPr/>
        </p:nvPicPr>
        <p:blipFill>
          <a:blip r:embed="rId4"/>
          <a:stretch>
            <a:fillRect/>
          </a:stretch>
        </p:blipFill>
        <p:spPr>
          <a:xfrm>
            <a:off x="3193807" y="703385"/>
            <a:ext cx="4052755" cy="3077306"/>
          </a:xfrm>
          <a:prstGeom prst="rect">
            <a:avLst/>
          </a:prstGeom>
        </p:spPr>
      </p:pic>
      <p:pic>
        <p:nvPicPr>
          <p:cNvPr id="4" name="Picture 3"/>
          <p:cNvPicPr>
            <a:picLocks noChangeAspect="1"/>
          </p:cNvPicPr>
          <p:nvPr/>
        </p:nvPicPr>
        <p:blipFill>
          <a:blip r:embed="rId5"/>
          <a:stretch>
            <a:fillRect/>
          </a:stretch>
        </p:blipFill>
        <p:spPr>
          <a:xfrm>
            <a:off x="105507" y="3780691"/>
            <a:ext cx="4079950" cy="3078771"/>
          </a:xfrm>
          <a:prstGeom prst="rect">
            <a:avLst/>
          </a:prstGeom>
        </p:spPr>
      </p:pic>
      <p:pic>
        <p:nvPicPr>
          <p:cNvPr id="5" name="Picture 4"/>
          <p:cNvPicPr>
            <a:picLocks noChangeAspect="1"/>
          </p:cNvPicPr>
          <p:nvPr/>
        </p:nvPicPr>
        <p:blipFill>
          <a:blip r:embed="rId6"/>
          <a:stretch>
            <a:fillRect/>
          </a:stretch>
        </p:blipFill>
        <p:spPr>
          <a:xfrm>
            <a:off x="3193807" y="3776770"/>
            <a:ext cx="4050276" cy="3081227"/>
          </a:xfrm>
          <a:prstGeom prst="rect">
            <a:avLst/>
          </a:prstGeom>
        </p:spPr>
      </p:pic>
      <p:pic>
        <p:nvPicPr>
          <p:cNvPr id="6" name="Picture 5"/>
          <p:cNvPicPr>
            <a:picLocks noChangeAspect="1"/>
          </p:cNvPicPr>
          <p:nvPr/>
        </p:nvPicPr>
        <p:blipFill>
          <a:blip r:embed="rId7"/>
          <a:stretch>
            <a:fillRect/>
          </a:stretch>
        </p:blipFill>
        <p:spPr>
          <a:xfrm>
            <a:off x="6268661" y="3801575"/>
            <a:ext cx="4063722" cy="3056425"/>
          </a:xfrm>
          <a:prstGeom prst="rect">
            <a:avLst/>
          </a:prstGeom>
        </p:spPr>
      </p:pic>
      <p:sp>
        <p:nvSpPr>
          <p:cNvPr id="7" name="TextBox 6"/>
          <p:cNvSpPr txBox="1"/>
          <p:nvPr/>
        </p:nvSpPr>
        <p:spPr>
          <a:xfrm>
            <a:off x="2137689" y="703385"/>
            <a:ext cx="982962" cy="400110"/>
          </a:xfrm>
          <a:prstGeom prst="rect">
            <a:avLst/>
          </a:prstGeom>
          <a:noFill/>
        </p:spPr>
        <p:txBody>
          <a:bodyPr wrap="none" rtlCol="0">
            <a:spAutoFit/>
          </a:bodyPr>
          <a:lstStyle/>
          <a:p>
            <a:r>
              <a:rPr lang="en-US" sz="2000" b="1" dirty="0" smtClean="0">
                <a:solidFill>
                  <a:schemeClr val="tx1"/>
                </a:solidFill>
              </a:rPr>
              <a:t>90 day</a:t>
            </a:r>
            <a:endParaRPr lang="en-US" sz="2000" b="1" dirty="0">
              <a:solidFill>
                <a:schemeClr val="tx1"/>
              </a:solidFill>
            </a:endParaRPr>
          </a:p>
        </p:txBody>
      </p:sp>
      <p:sp>
        <p:nvSpPr>
          <p:cNvPr id="8" name="TextBox 7"/>
          <p:cNvSpPr txBox="1"/>
          <p:nvPr/>
        </p:nvSpPr>
        <p:spPr>
          <a:xfrm>
            <a:off x="5127282" y="685801"/>
            <a:ext cx="1125629" cy="400110"/>
          </a:xfrm>
          <a:prstGeom prst="rect">
            <a:avLst/>
          </a:prstGeom>
          <a:noFill/>
        </p:spPr>
        <p:txBody>
          <a:bodyPr wrap="none" rtlCol="0">
            <a:spAutoFit/>
          </a:bodyPr>
          <a:lstStyle/>
          <a:p>
            <a:r>
              <a:rPr lang="en-US" sz="2000" b="1" dirty="0" smtClean="0">
                <a:solidFill>
                  <a:schemeClr val="tx1"/>
                </a:solidFill>
              </a:rPr>
              <a:t>180 day</a:t>
            </a:r>
            <a:endParaRPr lang="en-US" sz="2000" b="1" dirty="0">
              <a:solidFill>
                <a:schemeClr val="tx1"/>
              </a:solidFill>
            </a:endParaRPr>
          </a:p>
        </p:txBody>
      </p:sp>
      <p:sp>
        <p:nvSpPr>
          <p:cNvPr id="9" name="TextBox 8"/>
          <p:cNvSpPr txBox="1"/>
          <p:nvPr/>
        </p:nvSpPr>
        <p:spPr>
          <a:xfrm>
            <a:off x="1995022" y="3776770"/>
            <a:ext cx="1125629" cy="400110"/>
          </a:xfrm>
          <a:prstGeom prst="rect">
            <a:avLst/>
          </a:prstGeom>
          <a:noFill/>
        </p:spPr>
        <p:txBody>
          <a:bodyPr wrap="none" rtlCol="0">
            <a:spAutoFit/>
          </a:bodyPr>
          <a:lstStyle/>
          <a:p>
            <a:r>
              <a:rPr lang="en-US" sz="2000" b="1" smtClean="0">
                <a:solidFill>
                  <a:schemeClr val="tx1"/>
                </a:solidFill>
              </a:rPr>
              <a:t>270 </a:t>
            </a:r>
            <a:r>
              <a:rPr lang="en-US" sz="2000" b="1" dirty="0" smtClean="0">
                <a:solidFill>
                  <a:schemeClr val="tx1"/>
                </a:solidFill>
              </a:rPr>
              <a:t>day</a:t>
            </a:r>
            <a:endParaRPr lang="en-US" sz="2000" b="1" dirty="0">
              <a:solidFill>
                <a:schemeClr val="tx1"/>
              </a:solidFill>
            </a:endParaRPr>
          </a:p>
        </p:txBody>
      </p:sp>
      <p:sp>
        <p:nvSpPr>
          <p:cNvPr id="10" name="TextBox 9"/>
          <p:cNvSpPr txBox="1"/>
          <p:nvPr/>
        </p:nvSpPr>
        <p:spPr>
          <a:xfrm>
            <a:off x="5140553" y="3805496"/>
            <a:ext cx="1125629" cy="400110"/>
          </a:xfrm>
          <a:prstGeom prst="rect">
            <a:avLst/>
          </a:prstGeom>
          <a:noFill/>
        </p:spPr>
        <p:txBody>
          <a:bodyPr wrap="none" rtlCol="0">
            <a:spAutoFit/>
          </a:bodyPr>
          <a:lstStyle/>
          <a:p>
            <a:r>
              <a:rPr lang="en-US" sz="2000" b="1" dirty="0" smtClean="0">
                <a:solidFill>
                  <a:schemeClr val="tx1"/>
                </a:solidFill>
              </a:rPr>
              <a:t>365 day</a:t>
            </a:r>
            <a:endParaRPr lang="en-US" sz="2000" b="1" dirty="0">
              <a:solidFill>
                <a:schemeClr val="tx1"/>
              </a:solidFill>
            </a:endParaRPr>
          </a:p>
        </p:txBody>
      </p:sp>
      <p:sp>
        <p:nvSpPr>
          <p:cNvPr id="11" name="TextBox 10"/>
          <p:cNvSpPr txBox="1"/>
          <p:nvPr/>
        </p:nvSpPr>
        <p:spPr>
          <a:xfrm>
            <a:off x="8402033" y="3805496"/>
            <a:ext cx="925254" cy="400110"/>
          </a:xfrm>
          <a:prstGeom prst="rect">
            <a:avLst/>
          </a:prstGeom>
          <a:noFill/>
        </p:spPr>
        <p:txBody>
          <a:bodyPr wrap="none" rtlCol="0">
            <a:spAutoFit/>
          </a:bodyPr>
          <a:lstStyle/>
          <a:p>
            <a:r>
              <a:rPr lang="en-US" sz="2000" b="1" dirty="0" smtClean="0">
                <a:solidFill>
                  <a:schemeClr val="tx1"/>
                </a:solidFill>
              </a:rPr>
              <a:t>5 year</a:t>
            </a:r>
            <a:endParaRPr lang="en-US" sz="2000" b="1" dirty="0">
              <a:solidFill>
                <a:schemeClr val="tx1"/>
              </a:solidFill>
            </a:endParaRPr>
          </a:p>
        </p:txBody>
      </p:sp>
      <p:sp>
        <p:nvSpPr>
          <p:cNvPr id="12" name="Rectangle 11"/>
          <p:cNvSpPr/>
          <p:nvPr/>
        </p:nvSpPr>
        <p:spPr>
          <a:xfrm>
            <a:off x="-138546" y="76363"/>
            <a:ext cx="12402916" cy="461665"/>
          </a:xfrm>
          <a:prstGeom prst="rect">
            <a:avLst/>
          </a:prstGeom>
        </p:spPr>
        <p:txBody>
          <a:bodyPr wrap="square">
            <a:spAutoFit/>
          </a:bodyPr>
          <a:lstStyle/>
          <a:p>
            <a:r>
              <a:rPr lang="en-US" sz="2400" b="1" kern="0" dirty="0">
                <a:solidFill>
                  <a:srgbClr val="00279F"/>
                </a:solidFill>
              </a:rPr>
              <a:t>Soil temperature </a:t>
            </a:r>
            <a:r>
              <a:rPr lang="en-US" sz="2400" b="1" kern="0" dirty="0" smtClean="0">
                <a:solidFill>
                  <a:srgbClr val="00279F"/>
                </a:solidFill>
              </a:rPr>
              <a:t>would be </a:t>
            </a:r>
            <a:r>
              <a:rPr lang="en-US" sz="2400" b="1" kern="0" dirty="0">
                <a:solidFill>
                  <a:srgbClr val="00279F"/>
                </a:solidFill>
              </a:rPr>
              <a:t>elevated </a:t>
            </a:r>
            <a:r>
              <a:rPr lang="en-US" sz="2400" b="1" kern="0" dirty="0" smtClean="0">
                <a:solidFill>
                  <a:srgbClr val="00279F"/>
                </a:solidFill>
              </a:rPr>
              <a:t>by 6~7°C after five years of operation at Orlando</a:t>
            </a:r>
            <a:endParaRPr lang="en-US" sz="2400" b="1" kern="0" dirty="0">
              <a:solidFill>
                <a:srgbClr val="00279F"/>
              </a:solidFill>
            </a:endParaRPr>
          </a:p>
        </p:txBody>
      </p:sp>
      <p:pic>
        <p:nvPicPr>
          <p:cNvPr id="13" name="Picture 12"/>
          <p:cNvPicPr>
            <a:picLocks noChangeAspect="1"/>
          </p:cNvPicPr>
          <p:nvPr/>
        </p:nvPicPr>
        <p:blipFill rotWithShape="1">
          <a:blip r:embed="rId8"/>
          <a:srcRect l="3872" t="1992" r="2028"/>
          <a:stretch/>
        </p:blipFill>
        <p:spPr>
          <a:xfrm>
            <a:off x="8012951" y="810401"/>
            <a:ext cx="3652577" cy="2863274"/>
          </a:xfrm>
          <a:prstGeom prst="rect">
            <a:avLst/>
          </a:prstGeom>
        </p:spPr>
      </p:pic>
      <p:sp>
        <p:nvSpPr>
          <p:cNvPr id="14" name="Rectangle 13"/>
          <p:cNvSpPr/>
          <p:nvPr/>
        </p:nvSpPr>
        <p:spPr>
          <a:xfrm>
            <a:off x="11694713" y="6400239"/>
            <a:ext cx="385041" cy="523220"/>
          </a:xfrm>
          <a:prstGeom prst="rect">
            <a:avLst/>
          </a:prstGeom>
        </p:spPr>
        <p:txBody>
          <a:bodyPr wrap="none">
            <a:spAutoFit/>
          </a:bodyPr>
          <a:lstStyle/>
          <a:p>
            <a:r>
              <a:rPr lang="en-US" dirty="0" smtClean="0"/>
              <a:t>9</a:t>
            </a:r>
            <a:endParaRPr lang="en-US" dirty="0"/>
          </a:p>
        </p:txBody>
      </p:sp>
      <p:sp>
        <p:nvSpPr>
          <p:cNvPr id="15" name="Rectangle 14"/>
          <p:cNvSpPr/>
          <p:nvPr/>
        </p:nvSpPr>
        <p:spPr>
          <a:xfrm>
            <a:off x="5929505" y="484841"/>
            <a:ext cx="2780425" cy="523220"/>
          </a:xfrm>
          <a:prstGeom prst="rect">
            <a:avLst/>
          </a:prstGeom>
        </p:spPr>
        <p:txBody>
          <a:bodyPr wrap="square">
            <a:spAutoFit/>
          </a:bodyPr>
          <a:lstStyle/>
          <a:p>
            <a:pPr algn="ctr"/>
            <a:r>
              <a:rPr lang="en-US" sz="1400" b="1" kern="0" dirty="0" smtClean="0">
                <a:solidFill>
                  <a:schemeClr val="tx1"/>
                </a:solidFill>
              </a:rPr>
              <a:t>Thermal conductivity 1.72 </a:t>
            </a:r>
            <a:r>
              <a:rPr lang="en-US" sz="1400" dirty="0">
                <a:solidFill>
                  <a:srgbClr val="202122"/>
                </a:solidFill>
                <a:latin typeface="Arial" panose="020B0604020202020204" pitchFamily="34" charset="0"/>
              </a:rPr>
              <a:t>W·m</a:t>
            </a:r>
            <a:r>
              <a:rPr lang="en-US" sz="1400" baseline="30000" dirty="0">
                <a:solidFill>
                  <a:srgbClr val="202122"/>
                </a:solidFill>
                <a:latin typeface="Arial" panose="020B0604020202020204" pitchFamily="34" charset="0"/>
              </a:rPr>
              <a:t>−1</a:t>
            </a:r>
            <a:r>
              <a:rPr lang="en-US" sz="1400" dirty="0">
                <a:solidFill>
                  <a:srgbClr val="202122"/>
                </a:solidFill>
                <a:latin typeface="Arial" panose="020B0604020202020204" pitchFamily="34" charset="0"/>
              </a:rPr>
              <a:t>·K</a:t>
            </a:r>
            <a:r>
              <a:rPr lang="en-US" sz="1400" baseline="30000" dirty="0">
                <a:solidFill>
                  <a:srgbClr val="202122"/>
                </a:solidFill>
                <a:latin typeface="Arial" panose="020B0604020202020204" pitchFamily="34" charset="0"/>
              </a:rPr>
              <a:t>−</a:t>
            </a:r>
            <a:r>
              <a:rPr lang="en-US" sz="1400" baseline="30000" dirty="0" smtClean="0">
                <a:solidFill>
                  <a:srgbClr val="202122"/>
                </a:solidFill>
                <a:latin typeface="Arial" panose="020B0604020202020204" pitchFamily="34" charset="0"/>
              </a:rPr>
              <a:t>1</a:t>
            </a:r>
            <a:r>
              <a:rPr lang="en-US" sz="1400" b="1" kern="0" dirty="0" smtClean="0">
                <a:solidFill>
                  <a:schemeClr val="tx1"/>
                </a:solidFill>
              </a:rPr>
              <a:t>  </a:t>
            </a:r>
            <a:endParaRPr lang="en-US" sz="1400" b="1" kern="0" dirty="0">
              <a:solidFill>
                <a:schemeClr val="tx1"/>
              </a:solidFill>
            </a:endParaRPr>
          </a:p>
        </p:txBody>
      </p:sp>
    </p:spTree>
    <p:extLst>
      <p:ext uri="{BB962C8B-B14F-4D97-AF65-F5344CB8AC3E}">
        <p14:creationId xmlns:p14="http://schemas.microsoft.com/office/powerpoint/2010/main" val="1759645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16071" y="5981911"/>
            <a:ext cx="4574501" cy="338554"/>
          </a:xfrm>
          <a:prstGeom prst="rect">
            <a:avLst/>
          </a:prstGeom>
        </p:spPr>
        <p:txBody>
          <a:bodyPr wrap="square">
            <a:spAutoFit/>
          </a:bodyPr>
          <a:lstStyle/>
          <a:p>
            <a:pPr algn="ctr"/>
            <a:r>
              <a:rPr lang="en-US" sz="1600" b="1" kern="0" dirty="0" smtClean="0">
                <a:solidFill>
                  <a:schemeClr val="tx1"/>
                </a:solidFill>
              </a:rPr>
              <a:t>Soil temperature at the battery in the middle</a:t>
            </a:r>
            <a:endParaRPr lang="en-US" sz="1600" b="1" kern="0" dirty="0">
              <a:solidFill>
                <a:schemeClr val="tx1"/>
              </a:solidFill>
            </a:endParaRPr>
          </a:p>
        </p:txBody>
      </p:sp>
      <p:pic>
        <p:nvPicPr>
          <p:cNvPr id="4" name="Picture 3"/>
          <p:cNvPicPr>
            <a:picLocks noChangeAspect="1"/>
          </p:cNvPicPr>
          <p:nvPr/>
        </p:nvPicPr>
        <p:blipFill>
          <a:blip r:embed="rId2"/>
          <a:stretch>
            <a:fillRect/>
          </a:stretch>
        </p:blipFill>
        <p:spPr>
          <a:xfrm>
            <a:off x="0" y="1359482"/>
            <a:ext cx="5991225" cy="4486275"/>
          </a:xfrm>
          <a:prstGeom prst="rect">
            <a:avLst/>
          </a:prstGeom>
        </p:spPr>
      </p:pic>
      <p:sp>
        <p:nvSpPr>
          <p:cNvPr id="6" name="Content Placeholder 2"/>
          <p:cNvSpPr txBox="1">
            <a:spLocks/>
          </p:cNvSpPr>
          <p:nvPr/>
        </p:nvSpPr>
        <p:spPr>
          <a:xfrm>
            <a:off x="6609144" y="738004"/>
            <a:ext cx="4685712" cy="4943037"/>
          </a:xfrm>
          <a:prstGeom prst="rect">
            <a:avLst/>
          </a:prstGeom>
        </p:spPr>
        <p:txBody>
          <a:bodyPr>
            <a:noAutofit/>
          </a:bodyPr>
          <a:lstStyle>
            <a:lvl1pPr marL="285750" indent="-285750" algn="l" rtl="0" eaLnBrk="0" fontAlgn="base" hangingPunct="0">
              <a:spcBef>
                <a:spcPct val="20000"/>
              </a:spcBef>
              <a:spcAft>
                <a:spcPct val="0"/>
              </a:spcAft>
              <a:buClr>
                <a:srgbClr val="0033CC"/>
              </a:buClr>
              <a:buSzPct val="100000"/>
              <a:buFont typeface="Wingdings" pitchFamily="2" charset="2"/>
              <a:buChar char="v"/>
              <a:defRPr sz="2400" b="1">
                <a:solidFill>
                  <a:schemeClr val="tx1"/>
                </a:solidFill>
                <a:latin typeface="+mn-lt"/>
                <a:ea typeface="+mn-ea"/>
                <a:cs typeface="+mn-cs"/>
              </a:defRPr>
            </a:lvl1pPr>
            <a:lvl2pPr marL="685800" indent="-285750" algn="l" rtl="0" eaLnBrk="0" fontAlgn="base" hangingPunct="0">
              <a:spcBef>
                <a:spcPct val="20000"/>
              </a:spcBef>
              <a:spcAft>
                <a:spcPct val="0"/>
              </a:spcAft>
              <a:buClr>
                <a:schemeClr val="hlink"/>
              </a:buClr>
              <a:buSzPct val="100000"/>
              <a:buFont typeface="Wingdings" pitchFamily="2" charset="2"/>
              <a:buChar char="Ø"/>
              <a:defRPr sz="2000" b="1">
                <a:solidFill>
                  <a:schemeClr val="tx1"/>
                </a:solidFill>
                <a:latin typeface="+mn-lt"/>
              </a:defRPr>
            </a:lvl2pPr>
            <a:lvl3pPr marL="1028700" indent="-228600" algn="l" rtl="0" eaLnBrk="0" fontAlgn="base" hangingPunct="0">
              <a:spcBef>
                <a:spcPct val="20000"/>
              </a:spcBef>
              <a:spcAft>
                <a:spcPct val="0"/>
              </a:spcAft>
              <a:buClr>
                <a:schemeClr val="tx1"/>
              </a:buClr>
              <a:buSzPct val="100000"/>
              <a:buFont typeface="Wingdings" pitchFamily="2" charset="2"/>
              <a:buChar char="§"/>
              <a:defRPr b="1">
                <a:solidFill>
                  <a:schemeClr val="tx1"/>
                </a:solidFill>
                <a:latin typeface="+mn-lt"/>
              </a:defRPr>
            </a:lvl3pPr>
            <a:lvl4pPr marL="1428750" indent="-285750" algn="l" rtl="0" eaLnBrk="0" fontAlgn="base" hangingPunct="0">
              <a:spcBef>
                <a:spcPct val="20000"/>
              </a:spcBef>
              <a:spcAft>
                <a:spcPct val="0"/>
              </a:spcAft>
              <a:buClr>
                <a:srgbClr val="003399"/>
              </a:buClr>
              <a:buSzPct val="100000"/>
              <a:buChar char="—"/>
              <a:defRPr sz="1600" b="1">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eaLnBrk="0" fontAlgn="base" hangingPunct="0">
              <a:spcBef>
                <a:spcPct val="20000"/>
              </a:spcBef>
              <a:spcAft>
                <a:spcPct val="0"/>
              </a:spcAft>
              <a:buChar char="»"/>
              <a:defRPr sz="2000">
                <a:solidFill>
                  <a:schemeClr val="tx1"/>
                </a:solidFill>
                <a:latin typeface="Times" pitchFamily="18" charset="0"/>
              </a:defRPr>
            </a:lvl6pPr>
            <a:lvl7pPr marL="2971800" indent="-228600" algn="l" rtl="0" eaLnBrk="0" fontAlgn="base" hangingPunct="0">
              <a:spcBef>
                <a:spcPct val="20000"/>
              </a:spcBef>
              <a:spcAft>
                <a:spcPct val="0"/>
              </a:spcAft>
              <a:buChar char="»"/>
              <a:defRPr sz="2000">
                <a:solidFill>
                  <a:schemeClr val="tx1"/>
                </a:solidFill>
                <a:latin typeface="Times" pitchFamily="18" charset="0"/>
              </a:defRPr>
            </a:lvl7pPr>
            <a:lvl8pPr marL="3429000" indent="-228600" algn="l" rtl="0" eaLnBrk="0" fontAlgn="base" hangingPunct="0">
              <a:spcBef>
                <a:spcPct val="20000"/>
              </a:spcBef>
              <a:spcAft>
                <a:spcPct val="0"/>
              </a:spcAft>
              <a:buChar char="»"/>
              <a:defRPr sz="2000">
                <a:solidFill>
                  <a:schemeClr val="tx1"/>
                </a:solidFill>
                <a:latin typeface="Times" pitchFamily="18" charset="0"/>
              </a:defRPr>
            </a:lvl8pPr>
            <a:lvl9pPr marL="3886200" indent="-228600" algn="l" rtl="0" eaLnBrk="0" fontAlgn="base" hangingPunct="0">
              <a:spcBef>
                <a:spcPct val="20000"/>
              </a:spcBef>
              <a:spcAft>
                <a:spcPct val="0"/>
              </a:spcAft>
              <a:buChar char="»"/>
              <a:defRPr sz="2000">
                <a:solidFill>
                  <a:schemeClr val="tx1"/>
                </a:solidFill>
                <a:latin typeface="Times" pitchFamily="18" charset="0"/>
              </a:defRPr>
            </a:lvl9pPr>
          </a:lstStyle>
          <a:p>
            <a:pPr>
              <a:spcBef>
                <a:spcPts val="600"/>
              </a:spcBef>
              <a:spcAft>
                <a:spcPts val="600"/>
              </a:spcAft>
              <a:buFont typeface="Wingdings" panose="05000000000000000000" pitchFamily="2" charset="2"/>
              <a:buChar char="Ø"/>
            </a:pPr>
            <a:r>
              <a:rPr lang="en-US" sz="2000" b="0" kern="0" dirty="0" smtClean="0"/>
              <a:t>The 1</a:t>
            </a:r>
            <a:r>
              <a:rPr lang="en-US" sz="2000" b="0" kern="0" baseline="30000" dirty="0" smtClean="0"/>
              <a:t>st</a:t>
            </a:r>
            <a:r>
              <a:rPr lang="en-US" sz="2000" b="0" kern="0" dirty="0" smtClean="0"/>
              <a:t> year has the highest temperature increase </a:t>
            </a:r>
          </a:p>
          <a:p>
            <a:pPr>
              <a:spcBef>
                <a:spcPts val="600"/>
              </a:spcBef>
              <a:spcAft>
                <a:spcPts val="600"/>
              </a:spcAft>
              <a:buFont typeface="Wingdings" panose="05000000000000000000" pitchFamily="2" charset="2"/>
              <a:buChar char="Ø"/>
            </a:pPr>
            <a:r>
              <a:rPr lang="en-US" sz="2000" b="0" kern="0" dirty="0" smtClean="0"/>
              <a:t>At year 5, the soil temperature next to the hottest battery (the one in the middle) is between 29.7-37.7, with the average being 34C, ~10C increased of the annual average temperature without UTB.</a:t>
            </a:r>
          </a:p>
        </p:txBody>
      </p:sp>
      <p:sp>
        <p:nvSpPr>
          <p:cNvPr id="7" name="Rectangle 6"/>
          <p:cNvSpPr/>
          <p:nvPr/>
        </p:nvSpPr>
        <p:spPr>
          <a:xfrm>
            <a:off x="407043" y="326020"/>
            <a:ext cx="11714046" cy="430887"/>
          </a:xfrm>
          <a:prstGeom prst="rect">
            <a:avLst/>
          </a:prstGeom>
        </p:spPr>
        <p:txBody>
          <a:bodyPr wrap="square">
            <a:spAutoFit/>
          </a:bodyPr>
          <a:lstStyle/>
          <a:p>
            <a:pPr algn="ctr"/>
            <a:r>
              <a:rPr lang="en-US" sz="2200" b="1" kern="0" dirty="0" smtClean="0">
                <a:solidFill>
                  <a:srgbClr val="00279F"/>
                </a:solidFill>
              </a:rPr>
              <a:t>Soil at the battery in the middle has the highest temperature increase </a:t>
            </a:r>
            <a:endParaRPr lang="en-US" sz="2200" b="1" kern="0" dirty="0">
              <a:solidFill>
                <a:srgbClr val="00279F"/>
              </a:solidFill>
            </a:endParaRPr>
          </a:p>
        </p:txBody>
      </p:sp>
      <p:sp>
        <p:nvSpPr>
          <p:cNvPr id="9" name="Rectangle 8"/>
          <p:cNvSpPr/>
          <p:nvPr/>
        </p:nvSpPr>
        <p:spPr>
          <a:xfrm>
            <a:off x="1650714" y="983628"/>
            <a:ext cx="3541487" cy="307777"/>
          </a:xfrm>
          <a:prstGeom prst="rect">
            <a:avLst/>
          </a:prstGeom>
        </p:spPr>
        <p:txBody>
          <a:bodyPr wrap="square">
            <a:spAutoFit/>
          </a:bodyPr>
          <a:lstStyle/>
          <a:p>
            <a:pPr algn="ctr"/>
            <a:r>
              <a:rPr lang="en-US" sz="1400" b="1" kern="0" dirty="0" smtClean="0">
                <a:solidFill>
                  <a:schemeClr val="tx1"/>
                </a:solidFill>
              </a:rPr>
              <a:t>Thermal conductivity 1.72 </a:t>
            </a:r>
            <a:r>
              <a:rPr lang="en-US" sz="1400" dirty="0">
                <a:solidFill>
                  <a:srgbClr val="202122"/>
                </a:solidFill>
                <a:latin typeface="Arial" panose="020B0604020202020204" pitchFamily="34" charset="0"/>
              </a:rPr>
              <a:t>W·m</a:t>
            </a:r>
            <a:r>
              <a:rPr lang="en-US" sz="1400" baseline="30000" dirty="0">
                <a:solidFill>
                  <a:srgbClr val="202122"/>
                </a:solidFill>
                <a:latin typeface="Arial" panose="020B0604020202020204" pitchFamily="34" charset="0"/>
              </a:rPr>
              <a:t>−1</a:t>
            </a:r>
            <a:r>
              <a:rPr lang="en-US" sz="1400" dirty="0">
                <a:solidFill>
                  <a:srgbClr val="202122"/>
                </a:solidFill>
                <a:latin typeface="Arial" panose="020B0604020202020204" pitchFamily="34" charset="0"/>
              </a:rPr>
              <a:t>·K</a:t>
            </a:r>
            <a:r>
              <a:rPr lang="en-US" sz="1400" baseline="30000" dirty="0">
                <a:solidFill>
                  <a:srgbClr val="202122"/>
                </a:solidFill>
                <a:latin typeface="Arial" panose="020B0604020202020204" pitchFamily="34" charset="0"/>
              </a:rPr>
              <a:t>−</a:t>
            </a:r>
            <a:r>
              <a:rPr lang="en-US" sz="1400" baseline="30000" dirty="0" smtClean="0">
                <a:solidFill>
                  <a:srgbClr val="202122"/>
                </a:solidFill>
                <a:latin typeface="Arial" panose="020B0604020202020204" pitchFamily="34" charset="0"/>
              </a:rPr>
              <a:t>1</a:t>
            </a:r>
            <a:r>
              <a:rPr lang="en-US" sz="1400" b="1" kern="0" dirty="0" smtClean="0">
                <a:solidFill>
                  <a:schemeClr val="tx1"/>
                </a:solidFill>
              </a:rPr>
              <a:t>  </a:t>
            </a:r>
            <a:endParaRPr lang="en-US" sz="1400" b="1" kern="0" dirty="0">
              <a:solidFill>
                <a:schemeClr val="tx1"/>
              </a:solidFill>
            </a:endParaRPr>
          </a:p>
        </p:txBody>
      </p:sp>
      <p:sp>
        <p:nvSpPr>
          <p:cNvPr id="8" name="Rectangle 7"/>
          <p:cNvSpPr/>
          <p:nvPr/>
        </p:nvSpPr>
        <p:spPr>
          <a:xfrm>
            <a:off x="6720355" y="5089283"/>
            <a:ext cx="4574501" cy="584775"/>
          </a:xfrm>
          <a:prstGeom prst="rect">
            <a:avLst/>
          </a:prstGeom>
        </p:spPr>
        <p:txBody>
          <a:bodyPr wrap="square">
            <a:spAutoFit/>
          </a:bodyPr>
          <a:lstStyle/>
          <a:p>
            <a:pPr algn="ctr"/>
            <a:r>
              <a:rPr lang="en-US" sz="1600" b="1" kern="0" dirty="0" smtClean="0">
                <a:solidFill>
                  <a:schemeClr val="tx1"/>
                </a:solidFill>
              </a:rPr>
              <a:t>Battery model is 2m radius, the TOUGH grid around the battery model is 4x4 m2. </a:t>
            </a:r>
            <a:endParaRPr lang="en-US" sz="1600" b="1" kern="0" dirty="0">
              <a:solidFill>
                <a:schemeClr val="tx1"/>
              </a:solidFill>
            </a:endParaRPr>
          </a:p>
        </p:txBody>
      </p:sp>
    </p:spTree>
    <p:extLst>
      <p:ext uri="{BB962C8B-B14F-4D97-AF65-F5344CB8AC3E}">
        <p14:creationId xmlns:p14="http://schemas.microsoft.com/office/powerpoint/2010/main" val="2062088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7043" y="326020"/>
            <a:ext cx="11714046" cy="430887"/>
          </a:xfrm>
          <a:prstGeom prst="rect">
            <a:avLst/>
          </a:prstGeom>
        </p:spPr>
        <p:txBody>
          <a:bodyPr wrap="square">
            <a:spAutoFit/>
          </a:bodyPr>
          <a:lstStyle/>
          <a:p>
            <a:pPr algn="ctr"/>
            <a:r>
              <a:rPr lang="en-US" sz="2200" b="1" kern="0" dirty="0" smtClean="0">
                <a:solidFill>
                  <a:srgbClr val="00279F"/>
                </a:solidFill>
              </a:rPr>
              <a:t>Temperature increase at the warmest location is less for a larger thermal conductivity</a:t>
            </a:r>
            <a:endParaRPr lang="en-US" sz="2200" b="1" kern="0" dirty="0">
              <a:solidFill>
                <a:srgbClr val="00279F"/>
              </a:solidFill>
            </a:endParaRPr>
          </a:p>
        </p:txBody>
      </p:sp>
      <p:pic>
        <p:nvPicPr>
          <p:cNvPr id="3" name="Picture 2"/>
          <p:cNvPicPr>
            <a:picLocks noChangeAspect="1"/>
          </p:cNvPicPr>
          <p:nvPr/>
        </p:nvPicPr>
        <p:blipFill>
          <a:blip r:embed="rId2"/>
          <a:stretch>
            <a:fillRect/>
          </a:stretch>
        </p:blipFill>
        <p:spPr>
          <a:xfrm>
            <a:off x="377616" y="1445067"/>
            <a:ext cx="5886450" cy="4543425"/>
          </a:xfrm>
          <a:prstGeom prst="rect">
            <a:avLst/>
          </a:prstGeom>
        </p:spPr>
      </p:pic>
      <p:sp>
        <p:nvSpPr>
          <p:cNvPr id="4" name="Rectangle 3"/>
          <p:cNvSpPr/>
          <p:nvPr/>
        </p:nvSpPr>
        <p:spPr>
          <a:xfrm>
            <a:off x="1630019" y="1096000"/>
            <a:ext cx="4304906" cy="307777"/>
          </a:xfrm>
          <a:prstGeom prst="rect">
            <a:avLst/>
          </a:prstGeom>
        </p:spPr>
        <p:txBody>
          <a:bodyPr wrap="square">
            <a:spAutoFit/>
          </a:bodyPr>
          <a:lstStyle/>
          <a:p>
            <a:pPr algn="ctr"/>
            <a:r>
              <a:rPr lang="en-US" sz="1400" b="1" kern="0" dirty="0" smtClean="0">
                <a:solidFill>
                  <a:schemeClr val="tx1"/>
                </a:solidFill>
              </a:rPr>
              <a:t>Thermal conductivity 2.22 </a:t>
            </a:r>
            <a:r>
              <a:rPr lang="en-US" sz="1400" dirty="0">
                <a:solidFill>
                  <a:srgbClr val="202122"/>
                </a:solidFill>
                <a:latin typeface="Arial" panose="020B0604020202020204" pitchFamily="34" charset="0"/>
              </a:rPr>
              <a:t>W·m</a:t>
            </a:r>
            <a:r>
              <a:rPr lang="en-US" sz="1400" baseline="30000" dirty="0">
                <a:solidFill>
                  <a:srgbClr val="202122"/>
                </a:solidFill>
                <a:latin typeface="Arial" panose="020B0604020202020204" pitchFamily="34" charset="0"/>
              </a:rPr>
              <a:t>−1</a:t>
            </a:r>
            <a:r>
              <a:rPr lang="en-US" sz="1400" dirty="0">
                <a:solidFill>
                  <a:srgbClr val="202122"/>
                </a:solidFill>
                <a:latin typeface="Arial" panose="020B0604020202020204" pitchFamily="34" charset="0"/>
              </a:rPr>
              <a:t>·K</a:t>
            </a:r>
            <a:r>
              <a:rPr lang="en-US" sz="1400" baseline="30000" dirty="0">
                <a:solidFill>
                  <a:srgbClr val="202122"/>
                </a:solidFill>
                <a:latin typeface="Arial" panose="020B0604020202020204" pitchFamily="34" charset="0"/>
              </a:rPr>
              <a:t>−</a:t>
            </a:r>
            <a:r>
              <a:rPr lang="en-US" sz="1400" baseline="30000" dirty="0" smtClean="0">
                <a:solidFill>
                  <a:srgbClr val="202122"/>
                </a:solidFill>
                <a:latin typeface="Arial" panose="020B0604020202020204" pitchFamily="34" charset="0"/>
              </a:rPr>
              <a:t>1</a:t>
            </a:r>
            <a:r>
              <a:rPr lang="en-US" sz="1400" b="1" kern="0" dirty="0" smtClean="0">
                <a:solidFill>
                  <a:schemeClr val="tx1"/>
                </a:solidFill>
              </a:rPr>
              <a:t>  </a:t>
            </a:r>
            <a:endParaRPr lang="en-US" sz="1400" b="1" kern="0" dirty="0">
              <a:solidFill>
                <a:schemeClr val="tx1"/>
              </a:solidFill>
            </a:endParaRPr>
          </a:p>
        </p:txBody>
      </p:sp>
      <p:sp>
        <p:nvSpPr>
          <p:cNvPr id="5" name="Content Placeholder 2"/>
          <p:cNvSpPr txBox="1">
            <a:spLocks/>
          </p:cNvSpPr>
          <p:nvPr/>
        </p:nvSpPr>
        <p:spPr>
          <a:xfrm>
            <a:off x="6885025" y="1045455"/>
            <a:ext cx="4685712" cy="4943037"/>
          </a:xfrm>
          <a:prstGeom prst="rect">
            <a:avLst/>
          </a:prstGeom>
        </p:spPr>
        <p:txBody>
          <a:bodyPr>
            <a:noAutofit/>
          </a:bodyPr>
          <a:lstStyle>
            <a:lvl1pPr marL="285750" indent="-285750" algn="l" rtl="0" eaLnBrk="0" fontAlgn="base" hangingPunct="0">
              <a:spcBef>
                <a:spcPct val="20000"/>
              </a:spcBef>
              <a:spcAft>
                <a:spcPct val="0"/>
              </a:spcAft>
              <a:buClr>
                <a:srgbClr val="0033CC"/>
              </a:buClr>
              <a:buSzPct val="100000"/>
              <a:buFont typeface="Wingdings" pitchFamily="2" charset="2"/>
              <a:buChar char="v"/>
              <a:defRPr sz="2400" b="1">
                <a:solidFill>
                  <a:schemeClr val="tx1"/>
                </a:solidFill>
                <a:latin typeface="+mn-lt"/>
                <a:ea typeface="+mn-ea"/>
                <a:cs typeface="+mn-cs"/>
              </a:defRPr>
            </a:lvl1pPr>
            <a:lvl2pPr marL="685800" indent="-285750" algn="l" rtl="0" eaLnBrk="0" fontAlgn="base" hangingPunct="0">
              <a:spcBef>
                <a:spcPct val="20000"/>
              </a:spcBef>
              <a:spcAft>
                <a:spcPct val="0"/>
              </a:spcAft>
              <a:buClr>
                <a:schemeClr val="hlink"/>
              </a:buClr>
              <a:buSzPct val="100000"/>
              <a:buFont typeface="Wingdings" pitchFamily="2" charset="2"/>
              <a:buChar char="Ø"/>
              <a:defRPr sz="2000" b="1">
                <a:solidFill>
                  <a:schemeClr val="tx1"/>
                </a:solidFill>
                <a:latin typeface="+mn-lt"/>
              </a:defRPr>
            </a:lvl2pPr>
            <a:lvl3pPr marL="1028700" indent="-228600" algn="l" rtl="0" eaLnBrk="0" fontAlgn="base" hangingPunct="0">
              <a:spcBef>
                <a:spcPct val="20000"/>
              </a:spcBef>
              <a:spcAft>
                <a:spcPct val="0"/>
              </a:spcAft>
              <a:buClr>
                <a:schemeClr val="tx1"/>
              </a:buClr>
              <a:buSzPct val="100000"/>
              <a:buFont typeface="Wingdings" pitchFamily="2" charset="2"/>
              <a:buChar char="§"/>
              <a:defRPr b="1">
                <a:solidFill>
                  <a:schemeClr val="tx1"/>
                </a:solidFill>
                <a:latin typeface="+mn-lt"/>
              </a:defRPr>
            </a:lvl3pPr>
            <a:lvl4pPr marL="1428750" indent="-285750" algn="l" rtl="0" eaLnBrk="0" fontAlgn="base" hangingPunct="0">
              <a:spcBef>
                <a:spcPct val="20000"/>
              </a:spcBef>
              <a:spcAft>
                <a:spcPct val="0"/>
              </a:spcAft>
              <a:buClr>
                <a:srgbClr val="003399"/>
              </a:buClr>
              <a:buSzPct val="100000"/>
              <a:buChar char="—"/>
              <a:defRPr sz="1600" b="1">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eaLnBrk="0" fontAlgn="base" hangingPunct="0">
              <a:spcBef>
                <a:spcPct val="20000"/>
              </a:spcBef>
              <a:spcAft>
                <a:spcPct val="0"/>
              </a:spcAft>
              <a:buChar char="»"/>
              <a:defRPr sz="2000">
                <a:solidFill>
                  <a:schemeClr val="tx1"/>
                </a:solidFill>
                <a:latin typeface="Times" pitchFamily="18" charset="0"/>
              </a:defRPr>
            </a:lvl6pPr>
            <a:lvl7pPr marL="2971800" indent="-228600" algn="l" rtl="0" eaLnBrk="0" fontAlgn="base" hangingPunct="0">
              <a:spcBef>
                <a:spcPct val="20000"/>
              </a:spcBef>
              <a:spcAft>
                <a:spcPct val="0"/>
              </a:spcAft>
              <a:buChar char="»"/>
              <a:defRPr sz="2000">
                <a:solidFill>
                  <a:schemeClr val="tx1"/>
                </a:solidFill>
                <a:latin typeface="Times" pitchFamily="18" charset="0"/>
              </a:defRPr>
            </a:lvl7pPr>
            <a:lvl8pPr marL="3429000" indent="-228600" algn="l" rtl="0" eaLnBrk="0" fontAlgn="base" hangingPunct="0">
              <a:spcBef>
                <a:spcPct val="20000"/>
              </a:spcBef>
              <a:spcAft>
                <a:spcPct val="0"/>
              </a:spcAft>
              <a:buChar char="»"/>
              <a:defRPr sz="2000">
                <a:solidFill>
                  <a:schemeClr val="tx1"/>
                </a:solidFill>
                <a:latin typeface="Times" pitchFamily="18" charset="0"/>
              </a:defRPr>
            </a:lvl8pPr>
            <a:lvl9pPr marL="3886200" indent="-228600" algn="l" rtl="0" eaLnBrk="0" fontAlgn="base" hangingPunct="0">
              <a:spcBef>
                <a:spcPct val="20000"/>
              </a:spcBef>
              <a:spcAft>
                <a:spcPct val="0"/>
              </a:spcAft>
              <a:buChar char="»"/>
              <a:defRPr sz="2000">
                <a:solidFill>
                  <a:schemeClr val="tx1"/>
                </a:solidFill>
                <a:latin typeface="Times" pitchFamily="18" charset="0"/>
              </a:defRPr>
            </a:lvl9pPr>
          </a:lstStyle>
          <a:p>
            <a:pPr>
              <a:spcBef>
                <a:spcPts val="600"/>
              </a:spcBef>
              <a:spcAft>
                <a:spcPts val="600"/>
              </a:spcAft>
              <a:buFont typeface="Wingdings" panose="05000000000000000000" pitchFamily="2" charset="2"/>
              <a:buChar char="Ø"/>
            </a:pPr>
            <a:r>
              <a:rPr lang="en-US" sz="2000" b="0" kern="0" dirty="0" smtClean="0"/>
              <a:t>The 1</a:t>
            </a:r>
            <a:r>
              <a:rPr lang="en-US" sz="2000" b="0" kern="0" baseline="30000" dirty="0" smtClean="0"/>
              <a:t>st</a:t>
            </a:r>
            <a:r>
              <a:rPr lang="en-US" sz="2000" b="0" kern="0" dirty="0" smtClean="0"/>
              <a:t> year has the highest temperature increase </a:t>
            </a:r>
          </a:p>
          <a:p>
            <a:pPr>
              <a:spcBef>
                <a:spcPts val="600"/>
              </a:spcBef>
              <a:spcAft>
                <a:spcPts val="600"/>
              </a:spcAft>
              <a:buFont typeface="Wingdings" panose="05000000000000000000" pitchFamily="2" charset="2"/>
              <a:buChar char="Ø"/>
            </a:pPr>
            <a:r>
              <a:rPr lang="en-US" sz="2000" b="0" kern="0" dirty="0" smtClean="0"/>
              <a:t>At year 5, the soil temperature next to the hottest battery (the one in the middle) is between 28-35, with the average being 32C, ~2C lower than the field with a thermal conductivity of 1.72 </a:t>
            </a:r>
            <a:r>
              <a:rPr lang="en-US" sz="2000" b="0" dirty="0">
                <a:solidFill>
                  <a:srgbClr val="202122"/>
                </a:solidFill>
                <a:latin typeface="Arial" panose="020B0604020202020204" pitchFamily="34" charset="0"/>
              </a:rPr>
              <a:t>W·m</a:t>
            </a:r>
            <a:r>
              <a:rPr lang="en-US" sz="2000" b="0" baseline="30000" dirty="0">
                <a:solidFill>
                  <a:srgbClr val="202122"/>
                </a:solidFill>
                <a:latin typeface="Arial" panose="020B0604020202020204" pitchFamily="34" charset="0"/>
              </a:rPr>
              <a:t>−1</a:t>
            </a:r>
            <a:r>
              <a:rPr lang="en-US" sz="2000" b="0" dirty="0">
                <a:solidFill>
                  <a:srgbClr val="202122"/>
                </a:solidFill>
                <a:latin typeface="Arial" panose="020B0604020202020204" pitchFamily="34" charset="0"/>
              </a:rPr>
              <a:t>·K</a:t>
            </a:r>
            <a:r>
              <a:rPr lang="en-US" sz="2000" b="0" baseline="30000" dirty="0">
                <a:solidFill>
                  <a:srgbClr val="202122"/>
                </a:solidFill>
                <a:latin typeface="Arial" panose="020B0604020202020204" pitchFamily="34" charset="0"/>
              </a:rPr>
              <a:t>−1</a:t>
            </a:r>
            <a:r>
              <a:rPr lang="en-US" sz="2000" b="0" kern="0" dirty="0"/>
              <a:t> </a:t>
            </a:r>
            <a:r>
              <a:rPr lang="en-US" sz="2000" b="0" kern="0" dirty="0" smtClean="0"/>
              <a:t>.</a:t>
            </a:r>
          </a:p>
        </p:txBody>
      </p:sp>
    </p:spTree>
    <p:extLst>
      <p:ext uri="{BB962C8B-B14F-4D97-AF65-F5344CB8AC3E}">
        <p14:creationId xmlns:p14="http://schemas.microsoft.com/office/powerpoint/2010/main" val="190299006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00277" y="671868"/>
            <a:ext cx="3106341" cy="3093038"/>
          </a:xfrm>
          <a:prstGeom prst="rect">
            <a:avLst/>
          </a:prstGeom>
        </p:spPr>
      </p:pic>
      <p:pic>
        <p:nvPicPr>
          <p:cNvPr id="3" name="Picture 2"/>
          <p:cNvPicPr>
            <a:picLocks noChangeAspect="1"/>
          </p:cNvPicPr>
          <p:nvPr/>
        </p:nvPicPr>
        <p:blipFill>
          <a:blip r:embed="rId3"/>
          <a:stretch>
            <a:fillRect/>
          </a:stretch>
        </p:blipFill>
        <p:spPr>
          <a:xfrm>
            <a:off x="3306616" y="669103"/>
            <a:ext cx="3091933" cy="3098568"/>
          </a:xfrm>
          <a:prstGeom prst="rect">
            <a:avLst/>
          </a:prstGeom>
        </p:spPr>
      </p:pic>
      <p:pic>
        <p:nvPicPr>
          <p:cNvPr id="4" name="Picture 3"/>
          <p:cNvPicPr>
            <a:picLocks noChangeAspect="1"/>
          </p:cNvPicPr>
          <p:nvPr/>
        </p:nvPicPr>
        <p:blipFill>
          <a:blip r:embed="rId4"/>
          <a:stretch>
            <a:fillRect/>
          </a:stretch>
        </p:blipFill>
        <p:spPr>
          <a:xfrm>
            <a:off x="200277" y="3764906"/>
            <a:ext cx="3106341" cy="3093094"/>
          </a:xfrm>
          <a:prstGeom prst="rect">
            <a:avLst/>
          </a:prstGeom>
        </p:spPr>
      </p:pic>
      <p:pic>
        <p:nvPicPr>
          <p:cNvPr id="5" name="Picture 4"/>
          <p:cNvPicPr>
            <a:picLocks noChangeAspect="1"/>
          </p:cNvPicPr>
          <p:nvPr/>
        </p:nvPicPr>
        <p:blipFill>
          <a:blip r:embed="rId5"/>
          <a:stretch>
            <a:fillRect/>
          </a:stretch>
        </p:blipFill>
        <p:spPr>
          <a:xfrm>
            <a:off x="3306617" y="3764906"/>
            <a:ext cx="4117473" cy="3093094"/>
          </a:xfrm>
          <a:prstGeom prst="rect">
            <a:avLst/>
          </a:prstGeom>
        </p:spPr>
      </p:pic>
      <p:pic>
        <p:nvPicPr>
          <p:cNvPr id="6" name="Picture 5"/>
          <p:cNvPicPr>
            <a:picLocks noChangeAspect="1"/>
          </p:cNvPicPr>
          <p:nvPr/>
        </p:nvPicPr>
        <p:blipFill rotWithShape="1">
          <a:blip r:embed="rId6"/>
          <a:srcRect b="758"/>
          <a:stretch/>
        </p:blipFill>
        <p:spPr>
          <a:xfrm>
            <a:off x="6412958" y="3764905"/>
            <a:ext cx="4108487" cy="3097713"/>
          </a:xfrm>
          <a:prstGeom prst="rect">
            <a:avLst/>
          </a:prstGeom>
        </p:spPr>
      </p:pic>
      <p:sp>
        <p:nvSpPr>
          <p:cNvPr id="7" name="Rectangle 6"/>
          <p:cNvSpPr/>
          <p:nvPr/>
        </p:nvSpPr>
        <p:spPr>
          <a:xfrm>
            <a:off x="-748145" y="0"/>
            <a:ext cx="12763133" cy="430887"/>
          </a:xfrm>
          <a:prstGeom prst="rect">
            <a:avLst/>
          </a:prstGeom>
        </p:spPr>
        <p:txBody>
          <a:bodyPr wrap="square">
            <a:spAutoFit/>
          </a:bodyPr>
          <a:lstStyle/>
          <a:p>
            <a:r>
              <a:rPr lang="en-US" sz="2200" b="1" kern="0" dirty="0" smtClean="0">
                <a:solidFill>
                  <a:srgbClr val="00279F"/>
                </a:solidFill>
              </a:rPr>
              <a:t>Heterogeneous thermal conductivity results in asymmetric soil </a:t>
            </a:r>
            <a:r>
              <a:rPr lang="en-US" sz="2200" b="1" kern="0" dirty="0">
                <a:solidFill>
                  <a:srgbClr val="00279F"/>
                </a:solidFill>
              </a:rPr>
              <a:t>temperature </a:t>
            </a:r>
            <a:r>
              <a:rPr lang="en-US" sz="2200" b="1" kern="0" dirty="0" smtClean="0">
                <a:solidFill>
                  <a:srgbClr val="00279F"/>
                </a:solidFill>
              </a:rPr>
              <a:t>increase</a:t>
            </a:r>
            <a:endParaRPr lang="en-US" sz="2200" b="1" kern="0" dirty="0">
              <a:solidFill>
                <a:srgbClr val="00279F"/>
              </a:solidFill>
            </a:endParaRPr>
          </a:p>
        </p:txBody>
      </p:sp>
      <p:sp>
        <p:nvSpPr>
          <p:cNvPr id="8" name="Rectangle 7"/>
          <p:cNvSpPr/>
          <p:nvPr/>
        </p:nvSpPr>
        <p:spPr>
          <a:xfrm>
            <a:off x="11494336" y="6400239"/>
            <a:ext cx="585418" cy="523220"/>
          </a:xfrm>
          <a:prstGeom prst="rect">
            <a:avLst/>
          </a:prstGeom>
        </p:spPr>
        <p:txBody>
          <a:bodyPr wrap="none">
            <a:spAutoFit/>
          </a:bodyPr>
          <a:lstStyle/>
          <a:p>
            <a:r>
              <a:rPr lang="en-US" dirty="0" smtClean="0"/>
              <a:t>10</a:t>
            </a:r>
            <a:endParaRPr lang="en-US" dirty="0"/>
          </a:p>
        </p:txBody>
      </p:sp>
      <p:sp>
        <p:nvSpPr>
          <p:cNvPr id="9" name="TextBox 8"/>
          <p:cNvSpPr txBox="1"/>
          <p:nvPr/>
        </p:nvSpPr>
        <p:spPr>
          <a:xfrm>
            <a:off x="2299058" y="703385"/>
            <a:ext cx="982962" cy="400110"/>
          </a:xfrm>
          <a:prstGeom prst="rect">
            <a:avLst/>
          </a:prstGeom>
          <a:noFill/>
        </p:spPr>
        <p:txBody>
          <a:bodyPr wrap="none" rtlCol="0">
            <a:spAutoFit/>
          </a:bodyPr>
          <a:lstStyle/>
          <a:p>
            <a:r>
              <a:rPr lang="en-US" sz="2000" b="1" dirty="0" smtClean="0">
                <a:solidFill>
                  <a:schemeClr val="tx1"/>
                </a:solidFill>
              </a:rPr>
              <a:t>90 day</a:t>
            </a:r>
            <a:endParaRPr lang="en-US" sz="2000" b="1" dirty="0">
              <a:solidFill>
                <a:schemeClr val="tx1"/>
              </a:solidFill>
            </a:endParaRPr>
          </a:p>
        </p:txBody>
      </p:sp>
      <p:sp>
        <p:nvSpPr>
          <p:cNvPr id="10" name="TextBox 9"/>
          <p:cNvSpPr txBox="1"/>
          <p:nvPr/>
        </p:nvSpPr>
        <p:spPr>
          <a:xfrm>
            <a:off x="5249581" y="716488"/>
            <a:ext cx="1125629" cy="400110"/>
          </a:xfrm>
          <a:prstGeom prst="rect">
            <a:avLst/>
          </a:prstGeom>
          <a:noFill/>
        </p:spPr>
        <p:txBody>
          <a:bodyPr wrap="none" rtlCol="0">
            <a:spAutoFit/>
          </a:bodyPr>
          <a:lstStyle/>
          <a:p>
            <a:r>
              <a:rPr lang="en-US" sz="2000" b="1" dirty="0" smtClean="0">
                <a:solidFill>
                  <a:schemeClr val="tx1"/>
                </a:solidFill>
              </a:rPr>
              <a:t>180 day</a:t>
            </a:r>
            <a:endParaRPr lang="en-US" sz="2000" b="1" dirty="0">
              <a:solidFill>
                <a:schemeClr val="tx1"/>
              </a:solidFill>
            </a:endParaRPr>
          </a:p>
        </p:txBody>
      </p:sp>
      <p:sp>
        <p:nvSpPr>
          <p:cNvPr id="11" name="TextBox 10"/>
          <p:cNvSpPr txBox="1"/>
          <p:nvPr/>
        </p:nvSpPr>
        <p:spPr>
          <a:xfrm>
            <a:off x="2156391" y="3805832"/>
            <a:ext cx="1125629" cy="400110"/>
          </a:xfrm>
          <a:prstGeom prst="rect">
            <a:avLst/>
          </a:prstGeom>
          <a:noFill/>
        </p:spPr>
        <p:txBody>
          <a:bodyPr wrap="none" rtlCol="0">
            <a:spAutoFit/>
          </a:bodyPr>
          <a:lstStyle/>
          <a:p>
            <a:r>
              <a:rPr lang="en-US" sz="2000" b="1" dirty="0" smtClean="0">
                <a:solidFill>
                  <a:schemeClr val="tx1"/>
                </a:solidFill>
              </a:rPr>
              <a:t>270 day</a:t>
            </a:r>
            <a:endParaRPr lang="en-US" sz="2000" b="1" dirty="0">
              <a:solidFill>
                <a:schemeClr val="tx1"/>
              </a:solidFill>
            </a:endParaRPr>
          </a:p>
        </p:txBody>
      </p:sp>
      <p:sp>
        <p:nvSpPr>
          <p:cNvPr id="12" name="TextBox 11"/>
          <p:cNvSpPr txBox="1"/>
          <p:nvPr/>
        </p:nvSpPr>
        <p:spPr>
          <a:xfrm>
            <a:off x="5249581" y="3767671"/>
            <a:ext cx="1125629" cy="400110"/>
          </a:xfrm>
          <a:prstGeom prst="rect">
            <a:avLst/>
          </a:prstGeom>
          <a:noFill/>
        </p:spPr>
        <p:txBody>
          <a:bodyPr wrap="none" rtlCol="0">
            <a:spAutoFit/>
          </a:bodyPr>
          <a:lstStyle/>
          <a:p>
            <a:r>
              <a:rPr lang="en-US" sz="2000" b="1" dirty="0" smtClean="0">
                <a:solidFill>
                  <a:schemeClr val="tx1"/>
                </a:solidFill>
              </a:rPr>
              <a:t>365 day</a:t>
            </a:r>
            <a:endParaRPr lang="en-US" sz="2000" b="1" dirty="0">
              <a:solidFill>
                <a:schemeClr val="tx1"/>
              </a:solidFill>
            </a:endParaRPr>
          </a:p>
        </p:txBody>
      </p:sp>
      <p:sp>
        <p:nvSpPr>
          <p:cNvPr id="13" name="TextBox 12"/>
          <p:cNvSpPr txBox="1"/>
          <p:nvPr/>
        </p:nvSpPr>
        <p:spPr>
          <a:xfrm>
            <a:off x="8579634" y="3764904"/>
            <a:ext cx="925254" cy="400110"/>
          </a:xfrm>
          <a:prstGeom prst="rect">
            <a:avLst/>
          </a:prstGeom>
          <a:noFill/>
        </p:spPr>
        <p:txBody>
          <a:bodyPr wrap="none" rtlCol="0">
            <a:spAutoFit/>
          </a:bodyPr>
          <a:lstStyle/>
          <a:p>
            <a:r>
              <a:rPr lang="en-US" sz="2000" b="1" dirty="0" smtClean="0">
                <a:solidFill>
                  <a:schemeClr val="tx1"/>
                </a:solidFill>
              </a:rPr>
              <a:t>5 year</a:t>
            </a:r>
            <a:endParaRPr lang="en-US" sz="2000" b="1" dirty="0">
              <a:solidFill>
                <a:schemeClr val="tx1"/>
              </a:solidFill>
            </a:endParaRPr>
          </a:p>
        </p:txBody>
      </p:sp>
      <p:sp>
        <p:nvSpPr>
          <p:cNvPr id="14" name="Rectangle 13"/>
          <p:cNvSpPr/>
          <p:nvPr/>
        </p:nvSpPr>
        <p:spPr bwMode="auto">
          <a:xfrm>
            <a:off x="6435223" y="690920"/>
            <a:ext cx="3091930" cy="3052168"/>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bg1"/>
              </a:solidFill>
              <a:effectLst/>
              <a:latin typeface="Arial" charset="0"/>
            </a:endParaRPr>
          </a:p>
        </p:txBody>
      </p:sp>
      <p:cxnSp>
        <p:nvCxnSpPr>
          <p:cNvPr id="16" name="Straight Connector 15"/>
          <p:cNvCxnSpPr/>
          <p:nvPr/>
        </p:nvCxnSpPr>
        <p:spPr bwMode="auto">
          <a:xfrm flipV="1">
            <a:off x="7548282" y="703385"/>
            <a:ext cx="0" cy="305690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7" name="Straight Connector 16"/>
          <p:cNvCxnSpPr/>
          <p:nvPr/>
        </p:nvCxnSpPr>
        <p:spPr bwMode="auto">
          <a:xfrm flipV="1">
            <a:off x="8337177" y="703385"/>
            <a:ext cx="0" cy="3056901"/>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9" name="Straight Connector 18"/>
          <p:cNvCxnSpPr/>
          <p:nvPr/>
        </p:nvCxnSpPr>
        <p:spPr bwMode="auto">
          <a:xfrm>
            <a:off x="6435223" y="1855694"/>
            <a:ext cx="3091930" cy="1793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20" name="Straight Connector 19"/>
          <p:cNvCxnSpPr/>
          <p:nvPr/>
        </p:nvCxnSpPr>
        <p:spPr bwMode="auto">
          <a:xfrm>
            <a:off x="6435223" y="2653553"/>
            <a:ext cx="3091930" cy="1793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21" name="TextBox 20"/>
          <p:cNvSpPr txBox="1"/>
          <p:nvPr/>
        </p:nvSpPr>
        <p:spPr>
          <a:xfrm flipH="1">
            <a:off x="6584831" y="3022619"/>
            <a:ext cx="741307" cy="369332"/>
          </a:xfrm>
          <a:prstGeom prst="rect">
            <a:avLst/>
          </a:prstGeom>
          <a:noFill/>
        </p:spPr>
        <p:txBody>
          <a:bodyPr wrap="square" rtlCol="0">
            <a:spAutoFit/>
          </a:bodyPr>
          <a:lstStyle/>
          <a:p>
            <a:r>
              <a:rPr lang="en-US" sz="1800" dirty="0" smtClean="0"/>
              <a:t>0.72</a:t>
            </a:r>
            <a:endParaRPr lang="en-US" sz="1800" dirty="0"/>
          </a:p>
        </p:txBody>
      </p:sp>
      <p:sp>
        <p:nvSpPr>
          <p:cNvPr id="22" name="TextBox 21"/>
          <p:cNvSpPr txBox="1"/>
          <p:nvPr/>
        </p:nvSpPr>
        <p:spPr>
          <a:xfrm flipH="1">
            <a:off x="7548282" y="2078922"/>
            <a:ext cx="741307" cy="369332"/>
          </a:xfrm>
          <a:prstGeom prst="rect">
            <a:avLst/>
          </a:prstGeom>
          <a:noFill/>
        </p:spPr>
        <p:txBody>
          <a:bodyPr wrap="square" rtlCol="0">
            <a:spAutoFit/>
          </a:bodyPr>
          <a:lstStyle/>
          <a:p>
            <a:r>
              <a:rPr lang="en-US" sz="1800" dirty="0"/>
              <a:t>1</a:t>
            </a:r>
            <a:r>
              <a:rPr lang="en-US" sz="1800" dirty="0" smtClean="0"/>
              <a:t>.72</a:t>
            </a:r>
            <a:endParaRPr lang="en-US" sz="1800" dirty="0"/>
          </a:p>
        </p:txBody>
      </p:sp>
      <p:sp>
        <p:nvSpPr>
          <p:cNvPr id="23" name="TextBox 22"/>
          <p:cNvSpPr txBox="1"/>
          <p:nvPr/>
        </p:nvSpPr>
        <p:spPr>
          <a:xfrm flipH="1">
            <a:off x="6586804" y="2097246"/>
            <a:ext cx="741307" cy="369332"/>
          </a:xfrm>
          <a:prstGeom prst="rect">
            <a:avLst/>
          </a:prstGeom>
          <a:noFill/>
        </p:spPr>
        <p:txBody>
          <a:bodyPr wrap="square" rtlCol="0">
            <a:spAutoFit/>
          </a:bodyPr>
          <a:lstStyle/>
          <a:p>
            <a:r>
              <a:rPr lang="en-US" sz="1800" dirty="0" smtClean="0"/>
              <a:t>0.92</a:t>
            </a:r>
            <a:endParaRPr lang="en-US" sz="1800" dirty="0"/>
          </a:p>
        </p:txBody>
      </p:sp>
      <p:sp>
        <p:nvSpPr>
          <p:cNvPr id="24" name="TextBox 23"/>
          <p:cNvSpPr txBox="1"/>
          <p:nvPr/>
        </p:nvSpPr>
        <p:spPr>
          <a:xfrm flipH="1">
            <a:off x="6608625" y="1176026"/>
            <a:ext cx="741307" cy="369332"/>
          </a:xfrm>
          <a:prstGeom prst="rect">
            <a:avLst/>
          </a:prstGeom>
          <a:noFill/>
        </p:spPr>
        <p:txBody>
          <a:bodyPr wrap="square" rtlCol="0">
            <a:spAutoFit/>
          </a:bodyPr>
          <a:lstStyle/>
          <a:p>
            <a:r>
              <a:rPr lang="en-US" sz="1800" dirty="0" smtClean="0"/>
              <a:t>1.22</a:t>
            </a:r>
            <a:endParaRPr lang="en-US" sz="1800" dirty="0"/>
          </a:p>
        </p:txBody>
      </p:sp>
      <p:sp>
        <p:nvSpPr>
          <p:cNvPr id="25" name="TextBox 24"/>
          <p:cNvSpPr txBox="1"/>
          <p:nvPr/>
        </p:nvSpPr>
        <p:spPr>
          <a:xfrm flipH="1">
            <a:off x="7547873" y="3022619"/>
            <a:ext cx="741307" cy="369332"/>
          </a:xfrm>
          <a:prstGeom prst="rect">
            <a:avLst/>
          </a:prstGeom>
          <a:noFill/>
        </p:spPr>
        <p:txBody>
          <a:bodyPr wrap="square" rtlCol="0">
            <a:spAutoFit/>
          </a:bodyPr>
          <a:lstStyle/>
          <a:p>
            <a:r>
              <a:rPr lang="en-US" sz="1800" dirty="0" smtClean="0"/>
              <a:t>1.42</a:t>
            </a:r>
            <a:endParaRPr lang="en-US" sz="1800" dirty="0"/>
          </a:p>
        </p:txBody>
      </p:sp>
      <p:sp>
        <p:nvSpPr>
          <p:cNvPr id="26" name="TextBox 25"/>
          <p:cNvSpPr txBox="1"/>
          <p:nvPr/>
        </p:nvSpPr>
        <p:spPr>
          <a:xfrm flipH="1">
            <a:off x="7547872" y="1172888"/>
            <a:ext cx="741307" cy="369332"/>
          </a:xfrm>
          <a:prstGeom prst="rect">
            <a:avLst/>
          </a:prstGeom>
          <a:noFill/>
        </p:spPr>
        <p:txBody>
          <a:bodyPr wrap="square" rtlCol="0">
            <a:spAutoFit/>
          </a:bodyPr>
          <a:lstStyle/>
          <a:p>
            <a:r>
              <a:rPr lang="en-US" sz="1800" dirty="0" smtClean="0"/>
              <a:t>2.02</a:t>
            </a:r>
            <a:endParaRPr lang="en-US" sz="1800" dirty="0"/>
          </a:p>
        </p:txBody>
      </p:sp>
      <p:sp>
        <p:nvSpPr>
          <p:cNvPr id="27" name="TextBox 26"/>
          <p:cNvSpPr txBox="1"/>
          <p:nvPr/>
        </p:nvSpPr>
        <p:spPr>
          <a:xfrm flipH="1">
            <a:off x="8522702" y="1178738"/>
            <a:ext cx="741307" cy="369332"/>
          </a:xfrm>
          <a:prstGeom prst="rect">
            <a:avLst/>
          </a:prstGeom>
          <a:noFill/>
        </p:spPr>
        <p:txBody>
          <a:bodyPr wrap="square" rtlCol="0">
            <a:spAutoFit/>
          </a:bodyPr>
          <a:lstStyle/>
          <a:p>
            <a:r>
              <a:rPr lang="en-US" sz="1800" dirty="0" smtClean="0"/>
              <a:t>2.22</a:t>
            </a:r>
            <a:endParaRPr lang="en-US" sz="1800" dirty="0"/>
          </a:p>
        </p:txBody>
      </p:sp>
      <p:sp>
        <p:nvSpPr>
          <p:cNvPr id="28" name="TextBox 27"/>
          <p:cNvSpPr txBox="1"/>
          <p:nvPr/>
        </p:nvSpPr>
        <p:spPr>
          <a:xfrm flipH="1">
            <a:off x="8504140" y="2088647"/>
            <a:ext cx="741307" cy="369332"/>
          </a:xfrm>
          <a:prstGeom prst="rect">
            <a:avLst/>
          </a:prstGeom>
          <a:noFill/>
        </p:spPr>
        <p:txBody>
          <a:bodyPr wrap="square" rtlCol="0">
            <a:spAutoFit/>
          </a:bodyPr>
          <a:lstStyle/>
          <a:p>
            <a:r>
              <a:rPr lang="en-US" sz="1800" dirty="0" smtClean="0"/>
              <a:t>2.52</a:t>
            </a:r>
            <a:endParaRPr lang="en-US" sz="1800" dirty="0"/>
          </a:p>
        </p:txBody>
      </p:sp>
      <p:sp>
        <p:nvSpPr>
          <p:cNvPr id="29" name="TextBox 28"/>
          <p:cNvSpPr txBox="1"/>
          <p:nvPr/>
        </p:nvSpPr>
        <p:spPr>
          <a:xfrm flipH="1">
            <a:off x="8498674" y="3046231"/>
            <a:ext cx="741307" cy="369332"/>
          </a:xfrm>
          <a:prstGeom prst="rect">
            <a:avLst/>
          </a:prstGeom>
          <a:noFill/>
        </p:spPr>
        <p:txBody>
          <a:bodyPr wrap="square" rtlCol="0">
            <a:spAutoFit/>
          </a:bodyPr>
          <a:lstStyle/>
          <a:p>
            <a:r>
              <a:rPr lang="en-US" sz="1800" dirty="0"/>
              <a:t>2</a:t>
            </a:r>
            <a:r>
              <a:rPr lang="en-US" sz="1800" dirty="0" smtClean="0"/>
              <a:t>.72</a:t>
            </a:r>
            <a:endParaRPr lang="en-US" sz="1800" dirty="0"/>
          </a:p>
        </p:txBody>
      </p:sp>
      <p:sp>
        <p:nvSpPr>
          <p:cNvPr id="30" name="TextBox 29"/>
          <p:cNvSpPr txBox="1"/>
          <p:nvPr/>
        </p:nvSpPr>
        <p:spPr>
          <a:xfrm>
            <a:off x="4909836" y="425308"/>
            <a:ext cx="4767652" cy="307777"/>
          </a:xfrm>
          <a:prstGeom prst="rect">
            <a:avLst/>
          </a:prstGeom>
          <a:noFill/>
        </p:spPr>
        <p:txBody>
          <a:bodyPr wrap="none" rtlCol="0">
            <a:spAutoFit/>
          </a:bodyPr>
          <a:lstStyle/>
          <a:p>
            <a:r>
              <a:rPr lang="en-US" sz="1400" dirty="0" smtClean="0">
                <a:solidFill>
                  <a:schemeClr val="tx1"/>
                </a:solidFill>
              </a:rPr>
              <a:t>Thermal conductivity of soil (</a:t>
            </a:r>
            <a:r>
              <a:rPr lang="en-US" sz="1400" dirty="0">
                <a:solidFill>
                  <a:srgbClr val="202122"/>
                </a:solidFill>
                <a:latin typeface="Arial" panose="020B0604020202020204" pitchFamily="34" charset="0"/>
              </a:rPr>
              <a:t>W·m</a:t>
            </a:r>
            <a:r>
              <a:rPr lang="en-US" sz="1400" baseline="30000" dirty="0">
                <a:solidFill>
                  <a:srgbClr val="202122"/>
                </a:solidFill>
                <a:latin typeface="Arial" panose="020B0604020202020204" pitchFamily="34" charset="0"/>
              </a:rPr>
              <a:t>−1</a:t>
            </a:r>
            <a:r>
              <a:rPr lang="en-US" sz="1400" dirty="0">
                <a:solidFill>
                  <a:srgbClr val="202122"/>
                </a:solidFill>
                <a:latin typeface="Arial" panose="020B0604020202020204" pitchFamily="34" charset="0"/>
              </a:rPr>
              <a:t>·K</a:t>
            </a:r>
            <a:r>
              <a:rPr lang="en-US" sz="1400" baseline="30000" dirty="0">
                <a:solidFill>
                  <a:srgbClr val="202122"/>
                </a:solidFill>
                <a:latin typeface="Arial" panose="020B0604020202020204" pitchFamily="34" charset="0"/>
              </a:rPr>
              <a:t>−1</a:t>
            </a:r>
            <a:r>
              <a:rPr lang="en-US" sz="1400" dirty="0" smtClean="0">
                <a:solidFill>
                  <a:schemeClr val="tx1"/>
                </a:solidFill>
              </a:rPr>
              <a:t>) – average is 1.72</a:t>
            </a:r>
            <a:endParaRPr lang="en-US" sz="1400" dirty="0">
              <a:solidFill>
                <a:schemeClr val="tx1"/>
              </a:solidFill>
            </a:endParaRPr>
          </a:p>
        </p:txBody>
      </p:sp>
    </p:spTree>
    <p:extLst>
      <p:ext uri="{BB962C8B-B14F-4D97-AF65-F5344CB8AC3E}">
        <p14:creationId xmlns:p14="http://schemas.microsoft.com/office/powerpoint/2010/main" val="17865184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351530" y="2406316"/>
            <a:ext cx="5214953" cy="1384995"/>
          </a:xfrm>
          <a:prstGeom prst="rect">
            <a:avLst/>
          </a:prstGeom>
          <a:noFill/>
        </p:spPr>
        <p:txBody>
          <a:bodyPr wrap="none" rtlCol="0">
            <a:spAutoFit/>
          </a:bodyPr>
          <a:lstStyle/>
          <a:p>
            <a:r>
              <a:rPr lang="en-US" b="1" dirty="0" smtClean="0">
                <a:solidFill>
                  <a:schemeClr val="tx1"/>
                </a:solidFill>
              </a:rPr>
              <a:t>Using a bigger model domain</a:t>
            </a:r>
          </a:p>
          <a:p>
            <a:endParaRPr lang="en-US" b="1" dirty="0">
              <a:solidFill>
                <a:schemeClr val="tx1"/>
              </a:solidFill>
            </a:endParaRPr>
          </a:p>
          <a:p>
            <a:pPr algn="ctr"/>
            <a:r>
              <a:rPr lang="en-US" b="1" dirty="0" smtClean="0">
                <a:solidFill>
                  <a:schemeClr val="tx1"/>
                </a:solidFill>
              </a:rPr>
              <a:t>New slides</a:t>
            </a:r>
            <a:endParaRPr lang="en-US" b="1" dirty="0">
              <a:solidFill>
                <a:schemeClr val="tx1"/>
              </a:solidFill>
            </a:endParaRPr>
          </a:p>
        </p:txBody>
      </p:sp>
    </p:spTree>
    <p:extLst>
      <p:ext uri="{BB962C8B-B14F-4D97-AF65-F5344CB8AC3E}">
        <p14:creationId xmlns:p14="http://schemas.microsoft.com/office/powerpoint/2010/main" val="21608202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48126"/>
            <a:ext cx="12402916" cy="461665"/>
          </a:xfrm>
          <a:prstGeom prst="rect">
            <a:avLst/>
          </a:prstGeom>
        </p:spPr>
        <p:txBody>
          <a:bodyPr wrap="square">
            <a:spAutoFit/>
          </a:bodyPr>
          <a:lstStyle/>
          <a:p>
            <a:pPr algn="ctr"/>
            <a:r>
              <a:rPr lang="en-US" sz="2400" b="1" kern="0" dirty="0" smtClean="0">
                <a:solidFill>
                  <a:srgbClr val="00279F"/>
                </a:solidFill>
              </a:rPr>
              <a:t>Homogeneous Field Orlando (thermal k=1.72</a:t>
            </a:r>
            <a:r>
              <a:rPr lang="en-US" sz="2400" kern="0" dirty="0" smtClean="0"/>
              <a:t> </a:t>
            </a:r>
            <a:r>
              <a:rPr lang="en-US" sz="2400" dirty="0" smtClean="0">
                <a:solidFill>
                  <a:srgbClr val="032AB9"/>
                </a:solidFill>
                <a:latin typeface="Arial" panose="020B0604020202020204" pitchFamily="34" charset="0"/>
              </a:rPr>
              <a:t>W·m</a:t>
            </a:r>
            <a:r>
              <a:rPr lang="en-US" sz="2400" baseline="30000" dirty="0">
                <a:solidFill>
                  <a:srgbClr val="032AB9"/>
                </a:solidFill>
                <a:latin typeface="Arial" panose="020B0604020202020204" pitchFamily="34" charset="0"/>
              </a:rPr>
              <a:t>−1</a:t>
            </a:r>
            <a:r>
              <a:rPr lang="en-US" sz="2400" dirty="0">
                <a:solidFill>
                  <a:srgbClr val="032AB9"/>
                </a:solidFill>
                <a:latin typeface="Arial" panose="020B0604020202020204" pitchFamily="34" charset="0"/>
              </a:rPr>
              <a:t>·K</a:t>
            </a:r>
            <a:r>
              <a:rPr lang="en-US" sz="2400" baseline="30000" dirty="0">
                <a:solidFill>
                  <a:srgbClr val="032AB9"/>
                </a:solidFill>
                <a:latin typeface="Arial" panose="020B0604020202020204" pitchFamily="34" charset="0"/>
              </a:rPr>
              <a:t>−</a:t>
            </a:r>
            <a:r>
              <a:rPr lang="en-US" sz="2400" baseline="30000" dirty="0" smtClean="0">
                <a:solidFill>
                  <a:srgbClr val="032AB9"/>
                </a:solidFill>
                <a:latin typeface="Arial" panose="020B0604020202020204" pitchFamily="34" charset="0"/>
              </a:rPr>
              <a:t>1</a:t>
            </a:r>
            <a:r>
              <a:rPr lang="en-US" sz="2400" dirty="0" smtClean="0">
                <a:solidFill>
                  <a:srgbClr val="032AB9"/>
                </a:solidFill>
                <a:latin typeface="Arial" panose="020B0604020202020204" pitchFamily="34" charset="0"/>
              </a:rPr>
              <a:t>)</a:t>
            </a:r>
            <a:r>
              <a:rPr lang="en-US" sz="2400" kern="0" dirty="0" smtClean="0">
                <a:solidFill>
                  <a:srgbClr val="032AB9"/>
                </a:solidFill>
              </a:rPr>
              <a:t> </a:t>
            </a:r>
            <a:endParaRPr lang="en-US" sz="2400" b="1" kern="0" dirty="0">
              <a:solidFill>
                <a:srgbClr val="032AB9"/>
              </a:solidFill>
            </a:endParaRPr>
          </a:p>
        </p:txBody>
      </p:sp>
      <p:pic>
        <p:nvPicPr>
          <p:cNvPr id="9" name="Picture 8"/>
          <p:cNvPicPr>
            <a:picLocks noChangeAspect="1"/>
          </p:cNvPicPr>
          <p:nvPr/>
        </p:nvPicPr>
        <p:blipFill>
          <a:blip r:embed="rId2"/>
          <a:stretch>
            <a:fillRect/>
          </a:stretch>
        </p:blipFill>
        <p:spPr>
          <a:xfrm>
            <a:off x="353428" y="533302"/>
            <a:ext cx="3062434" cy="3046889"/>
          </a:xfrm>
          <a:prstGeom prst="rect">
            <a:avLst/>
          </a:prstGeom>
        </p:spPr>
      </p:pic>
      <p:pic>
        <p:nvPicPr>
          <p:cNvPr id="10" name="Picture 9"/>
          <p:cNvPicPr>
            <a:picLocks noChangeAspect="1"/>
          </p:cNvPicPr>
          <p:nvPr/>
        </p:nvPicPr>
        <p:blipFill>
          <a:blip r:embed="rId3"/>
          <a:stretch>
            <a:fillRect/>
          </a:stretch>
        </p:blipFill>
        <p:spPr>
          <a:xfrm>
            <a:off x="3586162" y="561335"/>
            <a:ext cx="4020829" cy="2990825"/>
          </a:xfrm>
          <a:prstGeom prst="rect">
            <a:avLst/>
          </a:prstGeom>
        </p:spPr>
      </p:pic>
      <p:pic>
        <p:nvPicPr>
          <p:cNvPr id="11" name="Picture 10"/>
          <p:cNvPicPr>
            <a:picLocks noChangeAspect="1"/>
          </p:cNvPicPr>
          <p:nvPr/>
        </p:nvPicPr>
        <p:blipFill>
          <a:blip r:embed="rId4"/>
          <a:stretch>
            <a:fillRect/>
          </a:stretch>
        </p:blipFill>
        <p:spPr>
          <a:xfrm>
            <a:off x="353428" y="3664912"/>
            <a:ext cx="3039894" cy="3024384"/>
          </a:xfrm>
          <a:prstGeom prst="rect">
            <a:avLst/>
          </a:prstGeom>
        </p:spPr>
      </p:pic>
      <p:pic>
        <p:nvPicPr>
          <p:cNvPr id="12" name="Picture 11"/>
          <p:cNvPicPr>
            <a:picLocks noChangeAspect="1"/>
          </p:cNvPicPr>
          <p:nvPr/>
        </p:nvPicPr>
        <p:blipFill>
          <a:blip r:embed="rId5"/>
          <a:stretch>
            <a:fillRect/>
          </a:stretch>
        </p:blipFill>
        <p:spPr>
          <a:xfrm>
            <a:off x="3586162" y="3649645"/>
            <a:ext cx="3050494" cy="3050494"/>
          </a:xfrm>
          <a:prstGeom prst="rect">
            <a:avLst/>
          </a:prstGeom>
        </p:spPr>
      </p:pic>
      <p:pic>
        <p:nvPicPr>
          <p:cNvPr id="13" name="Picture 12"/>
          <p:cNvPicPr>
            <a:picLocks noChangeAspect="1"/>
          </p:cNvPicPr>
          <p:nvPr/>
        </p:nvPicPr>
        <p:blipFill>
          <a:blip r:embed="rId6"/>
          <a:stretch>
            <a:fillRect/>
          </a:stretch>
        </p:blipFill>
        <p:spPr>
          <a:xfrm>
            <a:off x="6829496" y="3575381"/>
            <a:ext cx="4083763" cy="3124758"/>
          </a:xfrm>
          <a:prstGeom prst="rect">
            <a:avLst/>
          </a:prstGeom>
        </p:spPr>
      </p:pic>
      <p:sp>
        <p:nvSpPr>
          <p:cNvPr id="14" name="TextBox 13"/>
          <p:cNvSpPr txBox="1"/>
          <p:nvPr/>
        </p:nvSpPr>
        <p:spPr>
          <a:xfrm>
            <a:off x="2137689" y="703385"/>
            <a:ext cx="982962" cy="400110"/>
          </a:xfrm>
          <a:prstGeom prst="rect">
            <a:avLst/>
          </a:prstGeom>
          <a:noFill/>
        </p:spPr>
        <p:txBody>
          <a:bodyPr wrap="none" rtlCol="0">
            <a:spAutoFit/>
          </a:bodyPr>
          <a:lstStyle/>
          <a:p>
            <a:r>
              <a:rPr lang="en-US" sz="2000" b="1" dirty="0" smtClean="0">
                <a:solidFill>
                  <a:schemeClr val="tx1"/>
                </a:solidFill>
              </a:rPr>
              <a:t>90 day</a:t>
            </a:r>
            <a:endParaRPr lang="en-US" sz="2000" b="1" dirty="0">
              <a:solidFill>
                <a:schemeClr val="tx1"/>
              </a:solidFill>
            </a:endParaRPr>
          </a:p>
        </p:txBody>
      </p:sp>
      <p:sp>
        <p:nvSpPr>
          <p:cNvPr id="15" name="TextBox 14"/>
          <p:cNvSpPr txBox="1"/>
          <p:nvPr/>
        </p:nvSpPr>
        <p:spPr>
          <a:xfrm>
            <a:off x="2137689" y="3741187"/>
            <a:ext cx="1125629" cy="400110"/>
          </a:xfrm>
          <a:prstGeom prst="rect">
            <a:avLst/>
          </a:prstGeom>
          <a:noFill/>
        </p:spPr>
        <p:txBody>
          <a:bodyPr wrap="none" rtlCol="0">
            <a:spAutoFit/>
          </a:bodyPr>
          <a:lstStyle/>
          <a:p>
            <a:r>
              <a:rPr lang="en-US" sz="2000" b="1" dirty="0" smtClean="0">
                <a:solidFill>
                  <a:schemeClr val="tx1"/>
                </a:solidFill>
              </a:rPr>
              <a:t>270 day</a:t>
            </a:r>
            <a:endParaRPr lang="en-US" sz="2000" b="1" dirty="0">
              <a:solidFill>
                <a:schemeClr val="tx1"/>
              </a:solidFill>
            </a:endParaRPr>
          </a:p>
        </p:txBody>
      </p:sp>
      <p:sp>
        <p:nvSpPr>
          <p:cNvPr id="16" name="TextBox 15"/>
          <p:cNvSpPr txBox="1"/>
          <p:nvPr/>
        </p:nvSpPr>
        <p:spPr>
          <a:xfrm>
            <a:off x="5330751" y="561335"/>
            <a:ext cx="1125629" cy="400110"/>
          </a:xfrm>
          <a:prstGeom prst="rect">
            <a:avLst/>
          </a:prstGeom>
          <a:noFill/>
        </p:spPr>
        <p:txBody>
          <a:bodyPr wrap="none" rtlCol="0">
            <a:spAutoFit/>
          </a:bodyPr>
          <a:lstStyle/>
          <a:p>
            <a:r>
              <a:rPr lang="en-US" sz="2000" b="1" dirty="0" smtClean="0">
                <a:solidFill>
                  <a:schemeClr val="tx1"/>
                </a:solidFill>
              </a:rPr>
              <a:t>180 day</a:t>
            </a:r>
            <a:endParaRPr lang="en-US" sz="2000" b="1" dirty="0">
              <a:solidFill>
                <a:schemeClr val="tx1"/>
              </a:solidFill>
            </a:endParaRPr>
          </a:p>
        </p:txBody>
      </p:sp>
      <p:sp>
        <p:nvSpPr>
          <p:cNvPr id="17" name="TextBox 16"/>
          <p:cNvSpPr txBox="1"/>
          <p:nvPr/>
        </p:nvSpPr>
        <p:spPr>
          <a:xfrm>
            <a:off x="5330751" y="3704243"/>
            <a:ext cx="1125629" cy="400110"/>
          </a:xfrm>
          <a:prstGeom prst="rect">
            <a:avLst/>
          </a:prstGeom>
          <a:noFill/>
        </p:spPr>
        <p:txBody>
          <a:bodyPr wrap="none" rtlCol="0">
            <a:spAutoFit/>
          </a:bodyPr>
          <a:lstStyle/>
          <a:p>
            <a:r>
              <a:rPr lang="en-US" sz="2000" b="1" dirty="0" smtClean="0">
                <a:solidFill>
                  <a:schemeClr val="tx1"/>
                </a:solidFill>
              </a:rPr>
              <a:t>365 day</a:t>
            </a:r>
            <a:endParaRPr lang="en-US" sz="2000" b="1" dirty="0">
              <a:solidFill>
                <a:schemeClr val="tx1"/>
              </a:solidFill>
            </a:endParaRPr>
          </a:p>
        </p:txBody>
      </p:sp>
      <p:sp>
        <p:nvSpPr>
          <p:cNvPr id="18" name="TextBox 17"/>
          <p:cNvSpPr txBox="1"/>
          <p:nvPr/>
        </p:nvSpPr>
        <p:spPr>
          <a:xfrm>
            <a:off x="8944760" y="3575381"/>
            <a:ext cx="925254" cy="400110"/>
          </a:xfrm>
          <a:prstGeom prst="rect">
            <a:avLst/>
          </a:prstGeom>
          <a:noFill/>
        </p:spPr>
        <p:txBody>
          <a:bodyPr wrap="none" rtlCol="0">
            <a:spAutoFit/>
          </a:bodyPr>
          <a:lstStyle/>
          <a:p>
            <a:r>
              <a:rPr lang="en-US" sz="2000" b="1" dirty="0" smtClean="0">
                <a:solidFill>
                  <a:schemeClr val="tx1"/>
                </a:solidFill>
              </a:rPr>
              <a:t>5 year</a:t>
            </a:r>
            <a:endParaRPr lang="en-US" sz="2000" b="1" dirty="0">
              <a:solidFill>
                <a:schemeClr val="tx1"/>
              </a:solidFill>
            </a:endParaRPr>
          </a:p>
        </p:txBody>
      </p:sp>
    </p:spTree>
    <p:extLst>
      <p:ext uri="{BB962C8B-B14F-4D97-AF65-F5344CB8AC3E}">
        <p14:creationId xmlns:p14="http://schemas.microsoft.com/office/powerpoint/2010/main" val="3952770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48126"/>
            <a:ext cx="12402916" cy="461665"/>
          </a:xfrm>
          <a:prstGeom prst="rect">
            <a:avLst/>
          </a:prstGeom>
        </p:spPr>
        <p:txBody>
          <a:bodyPr wrap="square">
            <a:spAutoFit/>
          </a:bodyPr>
          <a:lstStyle/>
          <a:p>
            <a:pPr algn="ctr"/>
            <a:r>
              <a:rPr lang="en-US" sz="2400" b="1" kern="0" dirty="0" smtClean="0">
                <a:solidFill>
                  <a:srgbClr val="00279F"/>
                </a:solidFill>
              </a:rPr>
              <a:t>Homogeneous Field Orlando (thermal k=2.22</a:t>
            </a:r>
            <a:r>
              <a:rPr lang="en-US" sz="2400" kern="0" dirty="0" smtClean="0"/>
              <a:t> </a:t>
            </a:r>
            <a:r>
              <a:rPr lang="en-US" sz="2400" dirty="0" smtClean="0">
                <a:solidFill>
                  <a:srgbClr val="032AB9"/>
                </a:solidFill>
                <a:latin typeface="Arial" panose="020B0604020202020204" pitchFamily="34" charset="0"/>
              </a:rPr>
              <a:t>W·m</a:t>
            </a:r>
            <a:r>
              <a:rPr lang="en-US" sz="2400" baseline="30000" dirty="0">
                <a:solidFill>
                  <a:srgbClr val="032AB9"/>
                </a:solidFill>
                <a:latin typeface="Arial" panose="020B0604020202020204" pitchFamily="34" charset="0"/>
              </a:rPr>
              <a:t>−1</a:t>
            </a:r>
            <a:r>
              <a:rPr lang="en-US" sz="2400" dirty="0">
                <a:solidFill>
                  <a:srgbClr val="032AB9"/>
                </a:solidFill>
                <a:latin typeface="Arial" panose="020B0604020202020204" pitchFamily="34" charset="0"/>
              </a:rPr>
              <a:t>·K</a:t>
            </a:r>
            <a:r>
              <a:rPr lang="en-US" sz="2400" baseline="30000" dirty="0">
                <a:solidFill>
                  <a:srgbClr val="032AB9"/>
                </a:solidFill>
                <a:latin typeface="Arial" panose="020B0604020202020204" pitchFamily="34" charset="0"/>
              </a:rPr>
              <a:t>−</a:t>
            </a:r>
            <a:r>
              <a:rPr lang="en-US" sz="2400" baseline="30000" dirty="0" smtClean="0">
                <a:solidFill>
                  <a:srgbClr val="032AB9"/>
                </a:solidFill>
                <a:latin typeface="Arial" panose="020B0604020202020204" pitchFamily="34" charset="0"/>
              </a:rPr>
              <a:t>1</a:t>
            </a:r>
            <a:r>
              <a:rPr lang="en-US" sz="2400" dirty="0" smtClean="0">
                <a:solidFill>
                  <a:srgbClr val="032AB9"/>
                </a:solidFill>
                <a:latin typeface="Arial" panose="020B0604020202020204" pitchFamily="34" charset="0"/>
              </a:rPr>
              <a:t>)</a:t>
            </a:r>
            <a:r>
              <a:rPr lang="en-US" sz="2400" kern="0" dirty="0" smtClean="0">
                <a:solidFill>
                  <a:srgbClr val="032AB9"/>
                </a:solidFill>
              </a:rPr>
              <a:t> </a:t>
            </a:r>
            <a:endParaRPr lang="en-US" sz="2400" b="1" kern="0" dirty="0">
              <a:solidFill>
                <a:srgbClr val="032AB9"/>
              </a:solidFill>
            </a:endParaRPr>
          </a:p>
        </p:txBody>
      </p:sp>
      <p:pic>
        <p:nvPicPr>
          <p:cNvPr id="3" name="Picture 2"/>
          <p:cNvPicPr>
            <a:picLocks noChangeAspect="1"/>
          </p:cNvPicPr>
          <p:nvPr/>
        </p:nvPicPr>
        <p:blipFill>
          <a:blip r:embed="rId2"/>
          <a:stretch>
            <a:fillRect/>
          </a:stretch>
        </p:blipFill>
        <p:spPr>
          <a:xfrm>
            <a:off x="693682" y="443064"/>
            <a:ext cx="3122781" cy="3106930"/>
          </a:xfrm>
          <a:prstGeom prst="rect">
            <a:avLst/>
          </a:prstGeom>
        </p:spPr>
      </p:pic>
      <p:pic>
        <p:nvPicPr>
          <p:cNvPr id="4" name="Picture 3"/>
          <p:cNvPicPr>
            <a:picLocks noChangeAspect="1"/>
          </p:cNvPicPr>
          <p:nvPr/>
        </p:nvPicPr>
        <p:blipFill>
          <a:blip r:embed="rId3"/>
          <a:stretch>
            <a:fillRect/>
          </a:stretch>
        </p:blipFill>
        <p:spPr>
          <a:xfrm>
            <a:off x="7748916" y="3613226"/>
            <a:ext cx="4117264" cy="3175248"/>
          </a:xfrm>
          <a:prstGeom prst="rect">
            <a:avLst/>
          </a:prstGeom>
        </p:spPr>
      </p:pic>
      <p:pic>
        <p:nvPicPr>
          <p:cNvPr id="5" name="Picture 4"/>
          <p:cNvPicPr>
            <a:picLocks noChangeAspect="1"/>
          </p:cNvPicPr>
          <p:nvPr/>
        </p:nvPicPr>
        <p:blipFill>
          <a:blip r:embed="rId4"/>
          <a:stretch>
            <a:fillRect/>
          </a:stretch>
        </p:blipFill>
        <p:spPr>
          <a:xfrm>
            <a:off x="4268296" y="3579519"/>
            <a:ext cx="3217972" cy="3242662"/>
          </a:xfrm>
          <a:prstGeom prst="rect">
            <a:avLst/>
          </a:prstGeom>
        </p:spPr>
      </p:pic>
      <p:pic>
        <p:nvPicPr>
          <p:cNvPr id="6" name="Picture 5"/>
          <p:cNvPicPr>
            <a:picLocks noChangeAspect="1"/>
          </p:cNvPicPr>
          <p:nvPr/>
        </p:nvPicPr>
        <p:blipFill>
          <a:blip r:embed="rId5"/>
          <a:stretch>
            <a:fillRect/>
          </a:stretch>
        </p:blipFill>
        <p:spPr>
          <a:xfrm>
            <a:off x="693682" y="3604240"/>
            <a:ext cx="3155866" cy="3147836"/>
          </a:xfrm>
          <a:prstGeom prst="rect">
            <a:avLst/>
          </a:prstGeom>
        </p:spPr>
      </p:pic>
      <p:pic>
        <p:nvPicPr>
          <p:cNvPr id="7" name="Picture 6"/>
          <p:cNvPicPr>
            <a:picLocks noChangeAspect="1"/>
          </p:cNvPicPr>
          <p:nvPr/>
        </p:nvPicPr>
        <p:blipFill>
          <a:blip r:embed="rId6"/>
          <a:stretch>
            <a:fillRect/>
          </a:stretch>
        </p:blipFill>
        <p:spPr>
          <a:xfrm>
            <a:off x="4252328" y="413539"/>
            <a:ext cx="3174078" cy="3165980"/>
          </a:xfrm>
          <a:prstGeom prst="rect">
            <a:avLst/>
          </a:prstGeom>
        </p:spPr>
      </p:pic>
      <p:sp>
        <p:nvSpPr>
          <p:cNvPr id="8" name="TextBox 7"/>
          <p:cNvSpPr txBox="1"/>
          <p:nvPr/>
        </p:nvSpPr>
        <p:spPr>
          <a:xfrm>
            <a:off x="2666186" y="619302"/>
            <a:ext cx="982962" cy="400110"/>
          </a:xfrm>
          <a:prstGeom prst="rect">
            <a:avLst/>
          </a:prstGeom>
          <a:noFill/>
        </p:spPr>
        <p:txBody>
          <a:bodyPr wrap="none" rtlCol="0">
            <a:spAutoFit/>
          </a:bodyPr>
          <a:lstStyle/>
          <a:p>
            <a:r>
              <a:rPr lang="en-US" sz="2000" b="1" dirty="0" smtClean="0">
                <a:solidFill>
                  <a:schemeClr val="tx1"/>
                </a:solidFill>
              </a:rPr>
              <a:t>90 day</a:t>
            </a:r>
            <a:endParaRPr lang="en-US" sz="2000" b="1" dirty="0">
              <a:solidFill>
                <a:schemeClr val="tx1"/>
              </a:solidFill>
            </a:endParaRPr>
          </a:p>
        </p:txBody>
      </p:sp>
      <p:sp>
        <p:nvSpPr>
          <p:cNvPr id="9" name="TextBox 8"/>
          <p:cNvSpPr txBox="1"/>
          <p:nvPr/>
        </p:nvSpPr>
        <p:spPr>
          <a:xfrm>
            <a:off x="6201458" y="419247"/>
            <a:ext cx="1125629" cy="400110"/>
          </a:xfrm>
          <a:prstGeom prst="rect">
            <a:avLst/>
          </a:prstGeom>
          <a:noFill/>
        </p:spPr>
        <p:txBody>
          <a:bodyPr wrap="none" rtlCol="0">
            <a:spAutoFit/>
          </a:bodyPr>
          <a:lstStyle/>
          <a:p>
            <a:r>
              <a:rPr lang="en-US" sz="2000" b="1" dirty="0" smtClean="0">
                <a:solidFill>
                  <a:schemeClr val="tx1"/>
                </a:solidFill>
              </a:rPr>
              <a:t>180 day</a:t>
            </a:r>
            <a:endParaRPr lang="en-US" sz="2000" b="1" dirty="0">
              <a:solidFill>
                <a:schemeClr val="tx1"/>
              </a:solidFill>
            </a:endParaRPr>
          </a:p>
        </p:txBody>
      </p:sp>
      <p:sp>
        <p:nvSpPr>
          <p:cNvPr id="10" name="TextBox 9"/>
          <p:cNvSpPr txBox="1"/>
          <p:nvPr/>
        </p:nvSpPr>
        <p:spPr>
          <a:xfrm>
            <a:off x="2571869" y="3654289"/>
            <a:ext cx="1125629" cy="400110"/>
          </a:xfrm>
          <a:prstGeom prst="rect">
            <a:avLst/>
          </a:prstGeom>
          <a:noFill/>
        </p:spPr>
        <p:txBody>
          <a:bodyPr wrap="none" rtlCol="0">
            <a:spAutoFit/>
          </a:bodyPr>
          <a:lstStyle/>
          <a:p>
            <a:r>
              <a:rPr lang="en-US" sz="2000" b="1" dirty="0" smtClean="0">
                <a:solidFill>
                  <a:schemeClr val="tx1"/>
                </a:solidFill>
              </a:rPr>
              <a:t>270 day</a:t>
            </a:r>
            <a:endParaRPr lang="en-US" sz="2000" b="1" dirty="0">
              <a:solidFill>
                <a:schemeClr val="tx1"/>
              </a:solidFill>
            </a:endParaRPr>
          </a:p>
        </p:txBody>
      </p:sp>
      <p:sp>
        <p:nvSpPr>
          <p:cNvPr id="11" name="TextBox 10"/>
          <p:cNvSpPr txBox="1"/>
          <p:nvPr/>
        </p:nvSpPr>
        <p:spPr>
          <a:xfrm>
            <a:off x="6300777" y="3654289"/>
            <a:ext cx="1125629" cy="400110"/>
          </a:xfrm>
          <a:prstGeom prst="rect">
            <a:avLst/>
          </a:prstGeom>
          <a:noFill/>
        </p:spPr>
        <p:txBody>
          <a:bodyPr wrap="none" rtlCol="0">
            <a:spAutoFit/>
          </a:bodyPr>
          <a:lstStyle/>
          <a:p>
            <a:r>
              <a:rPr lang="en-US" sz="2000" b="1" dirty="0" smtClean="0">
                <a:solidFill>
                  <a:schemeClr val="tx1"/>
                </a:solidFill>
              </a:rPr>
              <a:t>365 day</a:t>
            </a:r>
            <a:endParaRPr lang="en-US" sz="2000" b="1" dirty="0">
              <a:solidFill>
                <a:schemeClr val="tx1"/>
              </a:solidFill>
            </a:endParaRPr>
          </a:p>
        </p:txBody>
      </p:sp>
      <p:sp>
        <p:nvSpPr>
          <p:cNvPr id="12" name="TextBox 11"/>
          <p:cNvSpPr txBox="1"/>
          <p:nvPr/>
        </p:nvSpPr>
        <p:spPr>
          <a:xfrm>
            <a:off x="9914447" y="3654289"/>
            <a:ext cx="925254" cy="400110"/>
          </a:xfrm>
          <a:prstGeom prst="rect">
            <a:avLst/>
          </a:prstGeom>
          <a:noFill/>
        </p:spPr>
        <p:txBody>
          <a:bodyPr wrap="none" rtlCol="0">
            <a:spAutoFit/>
          </a:bodyPr>
          <a:lstStyle/>
          <a:p>
            <a:r>
              <a:rPr lang="en-US" sz="2000" b="1" dirty="0" smtClean="0">
                <a:solidFill>
                  <a:schemeClr val="tx1"/>
                </a:solidFill>
              </a:rPr>
              <a:t>5 year</a:t>
            </a:r>
            <a:endParaRPr lang="en-US" sz="2000" b="1" dirty="0">
              <a:solidFill>
                <a:schemeClr val="tx1"/>
              </a:solidFill>
            </a:endParaRPr>
          </a:p>
        </p:txBody>
      </p:sp>
    </p:spTree>
    <p:extLst>
      <p:ext uri="{BB962C8B-B14F-4D97-AF65-F5344CB8AC3E}">
        <p14:creationId xmlns:p14="http://schemas.microsoft.com/office/powerpoint/2010/main" val="201906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20585" y="29104"/>
            <a:ext cx="11920702" cy="769441"/>
          </a:xfrm>
          <a:prstGeom prst="rect">
            <a:avLst/>
          </a:prstGeom>
        </p:spPr>
        <p:txBody>
          <a:bodyPr wrap="square">
            <a:spAutoFit/>
          </a:bodyPr>
          <a:lstStyle/>
          <a:p>
            <a:pPr algn="l"/>
            <a:r>
              <a:rPr lang="en-US" sz="2200" b="1" kern="0" dirty="0" smtClean="0">
                <a:solidFill>
                  <a:srgbClr val="00279F"/>
                </a:solidFill>
              </a:rPr>
              <a:t>Modified </a:t>
            </a:r>
            <a:r>
              <a:rPr lang="en-US" sz="2200" b="1" kern="0" dirty="0" smtClean="0">
                <a:solidFill>
                  <a:srgbClr val="00279F"/>
                </a:solidFill>
              </a:rPr>
              <a:t>heterogeneous</a:t>
            </a:r>
            <a:r>
              <a:rPr lang="en-US" sz="2200" b="1" kern="0" dirty="0" smtClean="0">
                <a:solidFill>
                  <a:srgbClr val="00279F"/>
                </a:solidFill>
              </a:rPr>
              <a:t> slide (#14) </a:t>
            </a:r>
            <a:r>
              <a:rPr lang="en-US" sz="2200" b="1" kern="0" dirty="0" smtClean="0">
                <a:solidFill>
                  <a:srgbClr val="00279F"/>
                </a:solidFill>
              </a:rPr>
              <a:t>with a bigger model domain, in addition, the thermal conductivity is as claimed in the figure</a:t>
            </a:r>
            <a:endParaRPr lang="en-US" sz="2200" b="1" kern="0" dirty="0">
              <a:solidFill>
                <a:srgbClr val="00279F"/>
              </a:solidFill>
            </a:endParaRPr>
          </a:p>
        </p:txBody>
      </p:sp>
      <p:pic>
        <p:nvPicPr>
          <p:cNvPr id="3" name="Picture 2"/>
          <p:cNvPicPr>
            <a:picLocks noChangeAspect="1"/>
          </p:cNvPicPr>
          <p:nvPr/>
        </p:nvPicPr>
        <p:blipFill>
          <a:blip r:embed="rId2"/>
          <a:stretch>
            <a:fillRect/>
          </a:stretch>
        </p:blipFill>
        <p:spPr>
          <a:xfrm>
            <a:off x="314053" y="1534247"/>
            <a:ext cx="2628900" cy="2647950"/>
          </a:xfrm>
          <a:prstGeom prst="rect">
            <a:avLst/>
          </a:prstGeom>
        </p:spPr>
      </p:pic>
      <p:pic>
        <p:nvPicPr>
          <p:cNvPr id="4" name="Picture 3"/>
          <p:cNvPicPr>
            <a:picLocks noChangeAspect="1"/>
          </p:cNvPicPr>
          <p:nvPr/>
        </p:nvPicPr>
        <p:blipFill>
          <a:blip r:embed="rId3"/>
          <a:stretch>
            <a:fillRect/>
          </a:stretch>
        </p:blipFill>
        <p:spPr>
          <a:xfrm>
            <a:off x="2942953" y="1534247"/>
            <a:ext cx="2600325" cy="2600325"/>
          </a:xfrm>
          <a:prstGeom prst="rect">
            <a:avLst/>
          </a:prstGeom>
        </p:spPr>
      </p:pic>
      <p:pic>
        <p:nvPicPr>
          <p:cNvPr id="5" name="Picture 4"/>
          <p:cNvPicPr>
            <a:picLocks noChangeAspect="1"/>
          </p:cNvPicPr>
          <p:nvPr/>
        </p:nvPicPr>
        <p:blipFill>
          <a:blip r:embed="rId4"/>
          <a:stretch>
            <a:fillRect/>
          </a:stretch>
        </p:blipFill>
        <p:spPr>
          <a:xfrm>
            <a:off x="314053" y="4160702"/>
            <a:ext cx="2609850" cy="2600325"/>
          </a:xfrm>
          <a:prstGeom prst="rect">
            <a:avLst/>
          </a:prstGeom>
        </p:spPr>
      </p:pic>
      <p:pic>
        <p:nvPicPr>
          <p:cNvPr id="6" name="Picture 5"/>
          <p:cNvPicPr>
            <a:picLocks noChangeAspect="1"/>
          </p:cNvPicPr>
          <p:nvPr/>
        </p:nvPicPr>
        <p:blipFill>
          <a:blip r:embed="rId5"/>
          <a:stretch>
            <a:fillRect/>
          </a:stretch>
        </p:blipFill>
        <p:spPr>
          <a:xfrm>
            <a:off x="2923903" y="4170227"/>
            <a:ext cx="2600325" cy="2590800"/>
          </a:xfrm>
          <a:prstGeom prst="rect">
            <a:avLst/>
          </a:prstGeom>
        </p:spPr>
      </p:pic>
      <p:pic>
        <p:nvPicPr>
          <p:cNvPr id="8" name="Picture 7"/>
          <p:cNvPicPr>
            <a:picLocks noChangeAspect="1"/>
          </p:cNvPicPr>
          <p:nvPr/>
        </p:nvPicPr>
        <p:blipFill>
          <a:blip r:embed="rId6"/>
          <a:stretch>
            <a:fillRect/>
          </a:stretch>
        </p:blipFill>
        <p:spPr>
          <a:xfrm>
            <a:off x="5564775" y="4065037"/>
            <a:ext cx="3566160" cy="2720662"/>
          </a:xfrm>
          <a:prstGeom prst="rect">
            <a:avLst/>
          </a:prstGeom>
        </p:spPr>
      </p:pic>
      <p:sp>
        <p:nvSpPr>
          <p:cNvPr id="10" name="Rectangle 9"/>
          <p:cNvSpPr/>
          <p:nvPr/>
        </p:nvSpPr>
        <p:spPr bwMode="auto">
          <a:xfrm>
            <a:off x="6087291" y="522514"/>
            <a:ext cx="3775166" cy="3409406"/>
          </a:xfrm>
          <a:prstGeom prst="rect">
            <a:avLst/>
          </a:prstGeom>
          <a:solidFill>
            <a:schemeClr val="accent1"/>
          </a:solidFill>
          <a:ln w="127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smtClean="0">
              <a:ln>
                <a:noFill/>
              </a:ln>
              <a:solidFill>
                <a:schemeClr val="bg1"/>
              </a:solidFill>
              <a:effectLst/>
              <a:latin typeface="Arial" charset="0"/>
            </a:endParaRPr>
          </a:p>
        </p:txBody>
      </p:sp>
      <p:cxnSp>
        <p:nvCxnSpPr>
          <p:cNvPr id="11" name="Straight Connector 10"/>
          <p:cNvCxnSpPr/>
          <p:nvPr/>
        </p:nvCxnSpPr>
        <p:spPr bwMode="auto">
          <a:xfrm flipV="1">
            <a:off x="7548282" y="533565"/>
            <a:ext cx="0" cy="338328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2" name="Straight Connector 11"/>
          <p:cNvCxnSpPr/>
          <p:nvPr/>
        </p:nvCxnSpPr>
        <p:spPr bwMode="auto">
          <a:xfrm flipV="1">
            <a:off x="8337177" y="533565"/>
            <a:ext cx="0" cy="3383280"/>
          </a:xfrm>
          <a:prstGeom prst="line">
            <a:avLst/>
          </a:prstGeom>
          <a:solidFill>
            <a:schemeClr val="accent1"/>
          </a:solidFill>
          <a:ln w="12700" cap="flat" cmpd="sng" algn="ctr">
            <a:solidFill>
              <a:schemeClr val="tx1"/>
            </a:solidFill>
            <a:prstDash val="solid"/>
            <a:round/>
            <a:headEnd type="none" w="med" len="med"/>
            <a:tailEnd type="none" w="med" len="med"/>
          </a:ln>
          <a:effectLst/>
        </p:spPr>
      </p:cxnSp>
      <p:cxnSp>
        <p:nvCxnSpPr>
          <p:cNvPr id="13" name="Straight Connector 12"/>
          <p:cNvCxnSpPr/>
          <p:nvPr/>
        </p:nvCxnSpPr>
        <p:spPr bwMode="auto">
          <a:xfrm>
            <a:off x="6082522" y="1855694"/>
            <a:ext cx="3785616" cy="1793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15" name="TextBox 14"/>
          <p:cNvSpPr txBox="1"/>
          <p:nvPr/>
        </p:nvSpPr>
        <p:spPr>
          <a:xfrm flipH="1">
            <a:off x="6584831" y="3022619"/>
            <a:ext cx="741307" cy="369332"/>
          </a:xfrm>
          <a:prstGeom prst="rect">
            <a:avLst/>
          </a:prstGeom>
          <a:noFill/>
        </p:spPr>
        <p:txBody>
          <a:bodyPr wrap="square" rtlCol="0">
            <a:spAutoFit/>
          </a:bodyPr>
          <a:lstStyle/>
          <a:p>
            <a:r>
              <a:rPr lang="en-US" sz="1800" dirty="0" smtClean="0"/>
              <a:t>0.72</a:t>
            </a:r>
            <a:endParaRPr lang="en-US" sz="1800" dirty="0"/>
          </a:p>
        </p:txBody>
      </p:sp>
      <p:sp>
        <p:nvSpPr>
          <p:cNvPr id="16" name="TextBox 15"/>
          <p:cNvSpPr txBox="1"/>
          <p:nvPr/>
        </p:nvSpPr>
        <p:spPr>
          <a:xfrm flipH="1">
            <a:off x="7548282" y="2078922"/>
            <a:ext cx="741307" cy="369332"/>
          </a:xfrm>
          <a:prstGeom prst="rect">
            <a:avLst/>
          </a:prstGeom>
          <a:noFill/>
        </p:spPr>
        <p:txBody>
          <a:bodyPr wrap="square" rtlCol="0">
            <a:spAutoFit/>
          </a:bodyPr>
          <a:lstStyle/>
          <a:p>
            <a:r>
              <a:rPr lang="en-US" sz="1800" dirty="0"/>
              <a:t>1</a:t>
            </a:r>
            <a:r>
              <a:rPr lang="en-US" sz="1800" dirty="0" smtClean="0"/>
              <a:t>.72</a:t>
            </a:r>
            <a:endParaRPr lang="en-US" sz="1800" dirty="0"/>
          </a:p>
        </p:txBody>
      </p:sp>
      <p:sp>
        <p:nvSpPr>
          <p:cNvPr id="17" name="TextBox 16"/>
          <p:cNvSpPr txBox="1"/>
          <p:nvPr/>
        </p:nvSpPr>
        <p:spPr>
          <a:xfrm flipH="1">
            <a:off x="6586804" y="2097246"/>
            <a:ext cx="741307" cy="369332"/>
          </a:xfrm>
          <a:prstGeom prst="rect">
            <a:avLst/>
          </a:prstGeom>
          <a:noFill/>
        </p:spPr>
        <p:txBody>
          <a:bodyPr wrap="square" rtlCol="0">
            <a:spAutoFit/>
          </a:bodyPr>
          <a:lstStyle/>
          <a:p>
            <a:r>
              <a:rPr lang="en-US" sz="1800" dirty="0" smtClean="0"/>
              <a:t>0.92</a:t>
            </a:r>
            <a:endParaRPr lang="en-US" sz="1800" dirty="0"/>
          </a:p>
        </p:txBody>
      </p:sp>
      <p:sp>
        <p:nvSpPr>
          <p:cNvPr id="18" name="TextBox 17"/>
          <p:cNvSpPr txBox="1"/>
          <p:nvPr/>
        </p:nvSpPr>
        <p:spPr>
          <a:xfrm flipH="1">
            <a:off x="6608625" y="1176026"/>
            <a:ext cx="741307" cy="369332"/>
          </a:xfrm>
          <a:prstGeom prst="rect">
            <a:avLst/>
          </a:prstGeom>
          <a:noFill/>
        </p:spPr>
        <p:txBody>
          <a:bodyPr wrap="square" rtlCol="0">
            <a:spAutoFit/>
          </a:bodyPr>
          <a:lstStyle/>
          <a:p>
            <a:r>
              <a:rPr lang="en-US" sz="1800" dirty="0" smtClean="0"/>
              <a:t>1.22</a:t>
            </a:r>
            <a:endParaRPr lang="en-US" sz="1800" dirty="0"/>
          </a:p>
        </p:txBody>
      </p:sp>
      <p:sp>
        <p:nvSpPr>
          <p:cNvPr id="19" name="TextBox 18"/>
          <p:cNvSpPr txBox="1"/>
          <p:nvPr/>
        </p:nvSpPr>
        <p:spPr>
          <a:xfrm flipH="1">
            <a:off x="7547873" y="3022619"/>
            <a:ext cx="741307" cy="369332"/>
          </a:xfrm>
          <a:prstGeom prst="rect">
            <a:avLst/>
          </a:prstGeom>
          <a:noFill/>
        </p:spPr>
        <p:txBody>
          <a:bodyPr wrap="square" rtlCol="0">
            <a:spAutoFit/>
          </a:bodyPr>
          <a:lstStyle/>
          <a:p>
            <a:r>
              <a:rPr lang="en-US" sz="1800" dirty="0" smtClean="0"/>
              <a:t>1.42</a:t>
            </a:r>
            <a:endParaRPr lang="en-US" sz="1800" dirty="0"/>
          </a:p>
        </p:txBody>
      </p:sp>
      <p:sp>
        <p:nvSpPr>
          <p:cNvPr id="20" name="TextBox 19"/>
          <p:cNvSpPr txBox="1"/>
          <p:nvPr/>
        </p:nvSpPr>
        <p:spPr>
          <a:xfrm flipH="1">
            <a:off x="7547872" y="1172888"/>
            <a:ext cx="741307" cy="369332"/>
          </a:xfrm>
          <a:prstGeom prst="rect">
            <a:avLst/>
          </a:prstGeom>
          <a:noFill/>
        </p:spPr>
        <p:txBody>
          <a:bodyPr wrap="square" rtlCol="0">
            <a:spAutoFit/>
          </a:bodyPr>
          <a:lstStyle/>
          <a:p>
            <a:r>
              <a:rPr lang="en-US" sz="1800" dirty="0" smtClean="0"/>
              <a:t>2.02</a:t>
            </a:r>
            <a:endParaRPr lang="en-US" sz="1800" dirty="0"/>
          </a:p>
        </p:txBody>
      </p:sp>
      <p:sp>
        <p:nvSpPr>
          <p:cNvPr id="21" name="TextBox 20"/>
          <p:cNvSpPr txBox="1"/>
          <p:nvPr/>
        </p:nvSpPr>
        <p:spPr>
          <a:xfrm flipH="1">
            <a:off x="8522702" y="1178738"/>
            <a:ext cx="741307" cy="369332"/>
          </a:xfrm>
          <a:prstGeom prst="rect">
            <a:avLst/>
          </a:prstGeom>
          <a:noFill/>
        </p:spPr>
        <p:txBody>
          <a:bodyPr wrap="square" rtlCol="0">
            <a:spAutoFit/>
          </a:bodyPr>
          <a:lstStyle/>
          <a:p>
            <a:r>
              <a:rPr lang="en-US" sz="1800" dirty="0" smtClean="0"/>
              <a:t>2.22</a:t>
            </a:r>
            <a:endParaRPr lang="en-US" sz="1800" dirty="0"/>
          </a:p>
        </p:txBody>
      </p:sp>
      <p:sp>
        <p:nvSpPr>
          <p:cNvPr id="22" name="TextBox 21"/>
          <p:cNvSpPr txBox="1"/>
          <p:nvPr/>
        </p:nvSpPr>
        <p:spPr>
          <a:xfrm flipH="1">
            <a:off x="8504140" y="2088647"/>
            <a:ext cx="741307" cy="369332"/>
          </a:xfrm>
          <a:prstGeom prst="rect">
            <a:avLst/>
          </a:prstGeom>
          <a:noFill/>
        </p:spPr>
        <p:txBody>
          <a:bodyPr wrap="square" rtlCol="0">
            <a:spAutoFit/>
          </a:bodyPr>
          <a:lstStyle/>
          <a:p>
            <a:r>
              <a:rPr lang="en-US" sz="1800" dirty="0" smtClean="0"/>
              <a:t>2.52</a:t>
            </a:r>
            <a:endParaRPr lang="en-US" sz="1800" dirty="0"/>
          </a:p>
        </p:txBody>
      </p:sp>
      <p:sp>
        <p:nvSpPr>
          <p:cNvPr id="23" name="TextBox 22"/>
          <p:cNvSpPr txBox="1"/>
          <p:nvPr/>
        </p:nvSpPr>
        <p:spPr>
          <a:xfrm flipH="1">
            <a:off x="8498674" y="3046231"/>
            <a:ext cx="741307" cy="369332"/>
          </a:xfrm>
          <a:prstGeom prst="rect">
            <a:avLst/>
          </a:prstGeom>
          <a:noFill/>
        </p:spPr>
        <p:txBody>
          <a:bodyPr wrap="square" rtlCol="0">
            <a:spAutoFit/>
          </a:bodyPr>
          <a:lstStyle/>
          <a:p>
            <a:r>
              <a:rPr lang="en-US" sz="1800" dirty="0"/>
              <a:t>2</a:t>
            </a:r>
            <a:r>
              <a:rPr lang="en-US" sz="1800" dirty="0" smtClean="0"/>
              <a:t>.72</a:t>
            </a:r>
            <a:endParaRPr lang="en-US" sz="1800" dirty="0"/>
          </a:p>
        </p:txBody>
      </p:sp>
      <p:cxnSp>
        <p:nvCxnSpPr>
          <p:cNvPr id="25" name="Straight Connector 24"/>
          <p:cNvCxnSpPr/>
          <p:nvPr/>
        </p:nvCxnSpPr>
        <p:spPr bwMode="auto">
          <a:xfrm>
            <a:off x="6080936" y="2672101"/>
            <a:ext cx="3785616" cy="17930"/>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26" name="TextBox 25"/>
          <p:cNvSpPr txBox="1"/>
          <p:nvPr/>
        </p:nvSpPr>
        <p:spPr>
          <a:xfrm>
            <a:off x="4865558" y="647802"/>
            <a:ext cx="4767652" cy="307777"/>
          </a:xfrm>
          <a:prstGeom prst="rect">
            <a:avLst/>
          </a:prstGeom>
          <a:noFill/>
        </p:spPr>
        <p:txBody>
          <a:bodyPr wrap="none" rtlCol="0">
            <a:spAutoFit/>
          </a:bodyPr>
          <a:lstStyle/>
          <a:p>
            <a:r>
              <a:rPr lang="en-US" sz="1400" dirty="0" smtClean="0">
                <a:solidFill>
                  <a:schemeClr val="tx1"/>
                </a:solidFill>
              </a:rPr>
              <a:t>Thermal conductivity of soil (</a:t>
            </a:r>
            <a:r>
              <a:rPr lang="en-US" sz="1400" dirty="0">
                <a:solidFill>
                  <a:srgbClr val="202122"/>
                </a:solidFill>
                <a:latin typeface="Arial" panose="020B0604020202020204" pitchFamily="34" charset="0"/>
              </a:rPr>
              <a:t>W·m</a:t>
            </a:r>
            <a:r>
              <a:rPr lang="en-US" sz="1400" baseline="30000" dirty="0">
                <a:solidFill>
                  <a:srgbClr val="202122"/>
                </a:solidFill>
                <a:latin typeface="Arial" panose="020B0604020202020204" pitchFamily="34" charset="0"/>
              </a:rPr>
              <a:t>−1</a:t>
            </a:r>
            <a:r>
              <a:rPr lang="en-US" sz="1400" dirty="0">
                <a:solidFill>
                  <a:srgbClr val="202122"/>
                </a:solidFill>
                <a:latin typeface="Arial" panose="020B0604020202020204" pitchFamily="34" charset="0"/>
              </a:rPr>
              <a:t>·K</a:t>
            </a:r>
            <a:r>
              <a:rPr lang="en-US" sz="1400" baseline="30000" dirty="0">
                <a:solidFill>
                  <a:srgbClr val="202122"/>
                </a:solidFill>
                <a:latin typeface="Arial" panose="020B0604020202020204" pitchFamily="34" charset="0"/>
              </a:rPr>
              <a:t>−1</a:t>
            </a:r>
            <a:r>
              <a:rPr lang="en-US" sz="1400" dirty="0" smtClean="0">
                <a:solidFill>
                  <a:schemeClr val="tx1"/>
                </a:solidFill>
              </a:rPr>
              <a:t>) – average is 1.72</a:t>
            </a:r>
            <a:endParaRPr lang="en-US" sz="1400" dirty="0">
              <a:solidFill>
                <a:schemeClr val="tx1"/>
              </a:solidFill>
            </a:endParaRPr>
          </a:p>
        </p:txBody>
      </p:sp>
    </p:spTree>
    <p:extLst>
      <p:ext uri="{BB962C8B-B14F-4D97-AF65-F5344CB8AC3E}">
        <p14:creationId xmlns:p14="http://schemas.microsoft.com/office/powerpoint/2010/main" val="17842946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643285" y="1948254"/>
            <a:ext cx="6886575" cy="2886075"/>
          </a:xfrm>
          <a:prstGeom prst="rect">
            <a:avLst/>
          </a:prstGeom>
        </p:spPr>
      </p:pic>
      <p:pic>
        <p:nvPicPr>
          <p:cNvPr id="3" name="Picture 2"/>
          <p:cNvPicPr>
            <a:picLocks noChangeAspect="1"/>
          </p:cNvPicPr>
          <p:nvPr/>
        </p:nvPicPr>
        <p:blipFill>
          <a:blip r:embed="rId3"/>
          <a:stretch>
            <a:fillRect/>
          </a:stretch>
        </p:blipFill>
        <p:spPr>
          <a:xfrm>
            <a:off x="377071" y="1456716"/>
            <a:ext cx="5244755" cy="4689428"/>
          </a:xfrm>
          <a:prstGeom prst="rect">
            <a:avLst/>
          </a:prstGeom>
        </p:spPr>
      </p:pic>
      <p:pic>
        <p:nvPicPr>
          <p:cNvPr id="4" name="Picture 3"/>
          <p:cNvPicPr>
            <a:picLocks noChangeAspect="1"/>
          </p:cNvPicPr>
          <p:nvPr/>
        </p:nvPicPr>
        <p:blipFill>
          <a:blip r:embed="rId4"/>
          <a:stretch>
            <a:fillRect/>
          </a:stretch>
        </p:blipFill>
        <p:spPr>
          <a:xfrm>
            <a:off x="5538106" y="1308859"/>
            <a:ext cx="6425982" cy="3995738"/>
          </a:xfrm>
          <a:prstGeom prst="rect">
            <a:avLst/>
          </a:prstGeom>
        </p:spPr>
      </p:pic>
      <p:sp>
        <p:nvSpPr>
          <p:cNvPr id="5" name="Rectangle 4"/>
          <p:cNvSpPr/>
          <p:nvPr/>
        </p:nvSpPr>
        <p:spPr>
          <a:xfrm>
            <a:off x="1415006" y="6199356"/>
            <a:ext cx="7453461" cy="276999"/>
          </a:xfrm>
          <a:prstGeom prst="rect">
            <a:avLst/>
          </a:prstGeom>
        </p:spPr>
        <p:txBody>
          <a:bodyPr wrap="square">
            <a:spAutoFit/>
          </a:bodyPr>
          <a:lstStyle/>
          <a:p>
            <a:r>
              <a:rPr lang="en-US" sz="1200" dirty="0">
                <a:solidFill>
                  <a:schemeClr val="tx1"/>
                </a:solidFill>
              </a:rPr>
              <a:t>https://weatherspark.com/y/17721/Average-Weather-in-Orlando-Florida-United-States-Year-Round</a:t>
            </a:r>
          </a:p>
        </p:txBody>
      </p:sp>
      <p:sp>
        <p:nvSpPr>
          <p:cNvPr id="6" name="Rectangle 5"/>
          <p:cNvSpPr/>
          <p:nvPr/>
        </p:nvSpPr>
        <p:spPr>
          <a:xfrm>
            <a:off x="429644" y="64675"/>
            <a:ext cx="10510787" cy="1323439"/>
          </a:xfrm>
          <a:prstGeom prst="rect">
            <a:avLst/>
          </a:prstGeom>
        </p:spPr>
        <p:txBody>
          <a:bodyPr wrap="square">
            <a:spAutoFit/>
          </a:bodyPr>
          <a:lstStyle/>
          <a:p>
            <a:pPr algn="l"/>
            <a:r>
              <a:rPr lang="en-US" sz="2000" b="1" kern="0" dirty="0" smtClean="0">
                <a:solidFill>
                  <a:srgbClr val="00279F"/>
                </a:solidFill>
              </a:rPr>
              <a:t>Using 10% of precipitation as infiltration, average of a month</a:t>
            </a:r>
          </a:p>
          <a:p>
            <a:pPr algn="l"/>
            <a:endParaRPr lang="en-US" sz="2000" b="1" kern="0" dirty="0" smtClean="0">
              <a:solidFill>
                <a:srgbClr val="00279F"/>
              </a:solidFill>
            </a:endParaRPr>
          </a:p>
          <a:p>
            <a:pPr algn="l"/>
            <a:r>
              <a:rPr lang="en-US" sz="2000" b="1" kern="0" dirty="0" smtClean="0">
                <a:solidFill>
                  <a:srgbClr val="00279F"/>
                </a:solidFill>
              </a:rPr>
              <a:t>Change the battery model to have a radius of 0.5m so infiltration can get in the soil around the battery</a:t>
            </a:r>
            <a:endParaRPr lang="en-US" sz="2000" b="1" kern="0" dirty="0">
              <a:solidFill>
                <a:srgbClr val="00279F"/>
              </a:solidFill>
            </a:endParaRPr>
          </a:p>
        </p:txBody>
      </p:sp>
    </p:spTree>
    <p:extLst>
      <p:ext uri="{BB962C8B-B14F-4D97-AF65-F5344CB8AC3E}">
        <p14:creationId xmlns:p14="http://schemas.microsoft.com/office/powerpoint/2010/main" val="11712530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7418070" y="668655"/>
            <a:ext cx="4305300" cy="3143250"/>
          </a:xfrm>
          <a:prstGeom prst="rect">
            <a:avLst/>
          </a:prstGeom>
        </p:spPr>
      </p:pic>
      <p:pic>
        <p:nvPicPr>
          <p:cNvPr id="3" name="Picture 2"/>
          <p:cNvPicPr>
            <a:picLocks noChangeAspect="1"/>
          </p:cNvPicPr>
          <p:nvPr/>
        </p:nvPicPr>
        <p:blipFill>
          <a:blip r:embed="rId3"/>
          <a:stretch>
            <a:fillRect/>
          </a:stretch>
        </p:blipFill>
        <p:spPr>
          <a:xfrm>
            <a:off x="2237738" y="780783"/>
            <a:ext cx="4286250" cy="3086100"/>
          </a:xfrm>
          <a:prstGeom prst="rect">
            <a:avLst/>
          </a:prstGeom>
        </p:spPr>
      </p:pic>
      <p:sp>
        <p:nvSpPr>
          <p:cNvPr id="4" name="TextBox 3"/>
          <p:cNvSpPr txBox="1"/>
          <p:nvPr/>
        </p:nvSpPr>
        <p:spPr>
          <a:xfrm>
            <a:off x="1764284" y="0"/>
            <a:ext cx="7433503" cy="400110"/>
          </a:xfrm>
          <a:prstGeom prst="rect">
            <a:avLst/>
          </a:prstGeom>
          <a:noFill/>
        </p:spPr>
        <p:txBody>
          <a:bodyPr wrap="square" rtlCol="0">
            <a:spAutoFit/>
          </a:bodyPr>
          <a:lstStyle/>
          <a:p>
            <a:pPr algn="ctr"/>
            <a:r>
              <a:rPr lang="en-US" sz="2000" dirty="0" smtClean="0">
                <a:solidFill>
                  <a:schemeClr val="tx1"/>
                </a:solidFill>
              </a:rPr>
              <a:t>Homogeneous thermal conductivity</a:t>
            </a:r>
            <a:endParaRPr lang="en-US" sz="2000" dirty="0">
              <a:solidFill>
                <a:schemeClr val="tx1"/>
              </a:solidFill>
            </a:endParaRPr>
          </a:p>
        </p:txBody>
      </p:sp>
      <p:sp>
        <p:nvSpPr>
          <p:cNvPr id="5" name="TextBox 4"/>
          <p:cNvSpPr txBox="1"/>
          <p:nvPr/>
        </p:nvSpPr>
        <p:spPr>
          <a:xfrm>
            <a:off x="1331859" y="319118"/>
            <a:ext cx="3825961" cy="461665"/>
          </a:xfrm>
          <a:prstGeom prst="rect">
            <a:avLst/>
          </a:prstGeom>
          <a:noFill/>
        </p:spPr>
        <p:txBody>
          <a:bodyPr wrap="square" rtlCol="0">
            <a:spAutoFit/>
          </a:bodyPr>
          <a:lstStyle/>
          <a:p>
            <a:pPr algn="ctr"/>
            <a:r>
              <a:rPr lang="en-US" sz="1200" dirty="0" smtClean="0">
                <a:solidFill>
                  <a:schemeClr val="tx1"/>
                </a:solidFill>
              </a:rPr>
              <a:t>Rainfall temperature is the same as annual average temperature: 24C </a:t>
            </a:r>
            <a:endParaRPr lang="en-US" sz="1200" dirty="0">
              <a:solidFill>
                <a:schemeClr val="tx1"/>
              </a:solidFill>
            </a:endParaRPr>
          </a:p>
        </p:txBody>
      </p:sp>
      <p:sp>
        <p:nvSpPr>
          <p:cNvPr id="6" name="TextBox 5"/>
          <p:cNvSpPr txBox="1"/>
          <p:nvPr/>
        </p:nvSpPr>
        <p:spPr>
          <a:xfrm>
            <a:off x="6425464" y="303550"/>
            <a:ext cx="4717548" cy="461665"/>
          </a:xfrm>
          <a:prstGeom prst="rect">
            <a:avLst/>
          </a:prstGeom>
          <a:noFill/>
        </p:spPr>
        <p:txBody>
          <a:bodyPr wrap="square" rtlCol="0">
            <a:spAutoFit/>
          </a:bodyPr>
          <a:lstStyle/>
          <a:p>
            <a:pPr algn="ctr"/>
            <a:r>
              <a:rPr lang="en-US" sz="1200" dirty="0" smtClean="0">
                <a:solidFill>
                  <a:schemeClr val="tx1"/>
                </a:solidFill>
              </a:rPr>
              <a:t>Rainfall temperature is the same as monthly average temperature as shown in slide 16 </a:t>
            </a:r>
            <a:endParaRPr lang="en-US" sz="1200" dirty="0">
              <a:solidFill>
                <a:schemeClr val="tx1"/>
              </a:solidFill>
            </a:endParaRPr>
          </a:p>
        </p:txBody>
      </p:sp>
      <p:pic>
        <p:nvPicPr>
          <p:cNvPr id="7" name="Picture 6"/>
          <p:cNvPicPr>
            <a:picLocks noChangeAspect="1"/>
          </p:cNvPicPr>
          <p:nvPr/>
        </p:nvPicPr>
        <p:blipFill>
          <a:blip r:embed="rId4"/>
          <a:stretch>
            <a:fillRect/>
          </a:stretch>
        </p:blipFill>
        <p:spPr>
          <a:xfrm>
            <a:off x="1776469" y="3811905"/>
            <a:ext cx="3853437" cy="2957876"/>
          </a:xfrm>
          <a:prstGeom prst="rect">
            <a:avLst/>
          </a:prstGeom>
        </p:spPr>
      </p:pic>
      <p:pic>
        <p:nvPicPr>
          <p:cNvPr id="8" name="Picture 7"/>
          <p:cNvPicPr>
            <a:picLocks noChangeAspect="1"/>
          </p:cNvPicPr>
          <p:nvPr/>
        </p:nvPicPr>
        <p:blipFill>
          <a:blip r:embed="rId5"/>
          <a:stretch>
            <a:fillRect/>
          </a:stretch>
        </p:blipFill>
        <p:spPr>
          <a:xfrm>
            <a:off x="7114425" y="3811905"/>
            <a:ext cx="3819187" cy="2943568"/>
          </a:xfrm>
          <a:prstGeom prst="rect">
            <a:avLst/>
          </a:prstGeom>
        </p:spPr>
      </p:pic>
    </p:spTree>
    <p:extLst>
      <p:ext uri="{BB962C8B-B14F-4D97-AF65-F5344CB8AC3E}">
        <p14:creationId xmlns:p14="http://schemas.microsoft.com/office/powerpoint/2010/main" val="37329268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039721" y="734104"/>
            <a:ext cx="4391025" cy="3162300"/>
          </a:xfrm>
          <a:prstGeom prst="rect">
            <a:avLst/>
          </a:prstGeom>
        </p:spPr>
      </p:pic>
      <p:pic>
        <p:nvPicPr>
          <p:cNvPr id="3" name="Picture 2"/>
          <p:cNvPicPr>
            <a:picLocks noChangeAspect="1"/>
          </p:cNvPicPr>
          <p:nvPr/>
        </p:nvPicPr>
        <p:blipFill>
          <a:blip r:embed="rId3"/>
          <a:stretch>
            <a:fillRect/>
          </a:stretch>
        </p:blipFill>
        <p:spPr>
          <a:xfrm>
            <a:off x="6345692" y="696004"/>
            <a:ext cx="4333875" cy="3200400"/>
          </a:xfrm>
          <a:prstGeom prst="rect">
            <a:avLst/>
          </a:prstGeom>
        </p:spPr>
      </p:pic>
      <p:pic>
        <p:nvPicPr>
          <p:cNvPr id="4" name="Picture 3"/>
          <p:cNvPicPr>
            <a:picLocks noChangeAspect="1"/>
          </p:cNvPicPr>
          <p:nvPr/>
        </p:nvPicPr>
        <p:blipFill>
          <a:blip r:embed="rId4"/>
          <a:stretch>
            <a:fillRect/>
          </a:stretch>
        </p:blipFill>
        <p:spPr>
          <a:xfrm>
            <a:off x="5797323" y="3870824"/>
            <a:ext cx="3930495" cy="2987176"/>
          </a:xfrm>
          <a:prstGeom prst="rect">
            <a:avLst/>
          </a:prstGeom>
        </p:spPr>
      </p:pic>
      <p:sp>
        <p:nvSpPr>
          <p:cNvPr id="5" name="TextBox 4"/>
          <p:cNvSpPr txBox="1"/>
          <p:nvPr/>
        </p:nvSpPr>
        <p:spPr>
          <a:xfrm>
            <a:off x="1764284" y="0"/>
            <a:ext cx="7433503" cy="400110"/>
          </a:xfrm>
          <a:prstGeom prst="rect">
            <a:avLst/>
          </a:prstGeom>
          <a:noFill/>
        </p:spPr>
        <p:txBody>
          <a:bodyPr wrap="square" rtlCol="0">
            <a:spAutoFit/>
          </a:bodyPr>
          <a:lstStyle/>
          <a:p>
            <a:pPr algn="ctr"/>
            <a:r>
              <a:rPr lang="en-US" sz="2000" dirty="0" smtClean="0">
                <a:solidFill>
                  <a:schemeClr val="tx1"/>
                </a:solidFill>
              </a:rPr>
              <a:t>Heterogeneous thermal conductivity</a:t>
            </a:r>
            <a:endParaRPr lang="en-US" sz="2000" dirty="0">
              <a:solidFill>
                <a:schemeClr val="tx1"/>
              </a:solidFill>
            </a:endParaRPr>
          </a:p>
        </p:txBody>
      </p:sp>
      <p:pic>
        <p:nvPicPr>
          <p:cNvPr id="6" name="Picture 5"/>
          <p:cNvPicPr>
            <a:picLocks noChangeAspect="1"/>
          </p:cNvPicPr>
          <p:nvPr/>
        </p:nvPicPr>
        <p:blipFill>
          <a:blip r:embed="rId5"/>
          <a:stretch>
            <a:fillRect/>
          </a:stretch>
        </p:blipFill>
        <p:spPr>
          <a:xfrm>
            <a:off x="738460" y="3896405"/>
            <a:ext cx="3879186" cy="2961596"/>
          </a:xfrm>
          <a:prstGeom prst="rect">
            <a:avLst/>
          </a:prstGeom>
        </p:spPr>
      </p:pic>
      <p:sp>
        <p:nvSpPr>
          <p:cNvPr id="7" name="TextBox 6"/>
          <p:cNvSpPr txBox="1"/>
          <p:nvPr/>
        </p:nvSpPr>
        <p:spPr>
          <a:xfrm>
            <a:off x="332566" y="336275"/>
            <a:ext cx="3825961" cy="461665"/>
          </a:xfrm>
          <a:prstGeom prst="rect">
            <a:avLst/>
          </a:prstGeom>
          <a:noFill/>
        </p:spPr>
        <p:txBody>
          <a:bodyPr wrap="square" rtlCol="0">
            <a:spAutoFit/>
          </a:bodyPr>
          <a:lstStyle/>
          <a:p>
            <a:pPr algn="ctr"/>
            <a:r>
              <a:rPr lang="en-US" sz="1200" dirty="0" smtClean="0">
                <a:solidFill>
                  <a:schemeClr val="tx1"/>
                </a:solidFill>
              </a:rPr>
              <a:t>Rainfall temperature is the same as annual average temperature: 24C </a:t>
            </a:r>
            <a:endParaRPr lang="en-US" sz="1200" dirty="0">
              <a:solidFill>
                <a:schemeClr val="tx1"/>
              </a:solidFill>
            </a:endParaRPr>
          </a:p>
        </p:txBody>
      </p:sp>
      <p:sp>
        <p:nvSpPr>
          <p:cNvPr id="8" name="TextBox 7"/>
          <p:cNvSpPr txBox="1"/>
          <p:nvPr/>
        </p:nvSpPr>
        <p:spPr>
          <a:xfrm>
            <a:off x="5732007" y="317225"/>
            <a:ext cx="4717548" cy="461665"/>
          </a:xfrm>
          <a:prstGeom prst="rect">
            <a:avLst/>
          </a:prstGeom>
          <a:noFill/>
        </p:spPr>
        <p:txBody>
          <a:bodyPr wrap="square" rtlCol="0">
            <a:spAutoFit/>
          </a:bodyPr>
          <a:lstStyle/>
          <a:p>
            <a:pPr algn="ctr"/>
            <a:r>
              <a:rPr lang="en-US" sz="1200" dirty="0" smtClean="0">
                <a:solidFill>
                  <a:schemeClr val="tx1"/>
                </a:solidFill>
              </a:rPr>
              <a:t>Rainfall temperature is the same as monthly average temperature as shown in slide 16 </a:t>
            </a:r>
            <a:endParaRPr lang="en-US" sz="1200" dirty="0">
              <a:solidFill>
                <a:schemeClr val="tx1"/>
              </a:solidFill>
            </a:endParaRPr>
          </a:p>
        </p:txBody>
      </p:sp>
    </p:spTree>
    <p:extLst>
      <p:ext uri="{BB962C8B-B14F-4D97-AF65-F5344CB8AC3E}">
        <p14:creationId xmlns:p14="http://schemas.microsoft.com/office/powerpoint/2010/main" val="18731278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785305" y="903890"/>
            <a:ext cx="7433503" cy="523220"/>
          </a:xfrm>
          <a:prstGeom prst="rect">
            <a:avLst/>
          </a:prstGeom>
          <a:noFill/>
        </p:spPr>
        <p:txBody>
          <a:bodyPr wrap="square" rtlCol="0">
            <a:spAutoFit/>
          </a:bodyPr>
          <a:lstStyle/>
          <a:p>
            <a:pPr algn="ctr"/>
            <a:r>
              <a:rPr lang="en-US" b="1" dirty="0" smtClean="0">
                <a:solidFill>
                  <a:srgbClr val="032AB9"/>
                </a:solidFill>
              </a:rPr>
              <a:t>Comments</a:t>
            </a:r>
            <a:endParaRPr lang="en-US" b="1" dirty="0">
              <a:solidFill>
                <a:srgbClr val="032AB9"/>
              </a:solidFill>
            </a:endParaRPr>
          </a:p>
        </p:txBody>
      </p:sp>
      <p:sp>
        <p:nvSpPr>
          <p:cNvPr id="3" name="TextBox 2"/>
          <p:cNvSpPr txBox="1"/>
          <p:nvPr/>
        </p:nvSpPr>
        <p:spPr>
          <a:xfrm>
            <a:off x="631502" y="1478024"/>
            <a:ext cx="10717816" cy="4093428"/>
          </a:xfrm>
          <a:prstGeom prst="rect">
            <a:avLst/>
          </a:prstGeom>
          <a:noFill/>
        </p:spPr>
        <p:txBody>
          <a:bodyPr wrap="square" rtlCol="0">
            <a:spAutoFit/>
          </a:bodyPr>
          <a:lstStyle/>
          <a:p>
            <a:pPr marL="457200" indent="-457200" algn="l">
              <a:buFont typeface="Arial" panose="020B0604020202020204" pitchFamily="34" charset="0"/>
              <a:buChar char="•"/>
            </a:pPr>
            <a:endParaRPr lang="en-US" sz="2000" dirty="0" smtClean="0">
              <a:solidFill>
                <a:schemeClr val="tx1"/>
              </a:solidFill>
            </a:endParaRPr>
          </a:p>
          <a:p>
            <a:pPr marL="457200" indent="-457200" algn="l">
              <a:buFont typeface="Arial" panose="020B0604020202020204" pitchFamily="34" charset="0"/>
              <a:buChar char="•"/>
            </a:pPr>
            <a:r>
              <a:rPr lang="en-US" sz="2000" dirty="0" smtClean="0">
                <a:solidFill>
                  <a:schemeClr val="tx1"/>
                </a:solidFill>
              </a:rPr>
              <a:t>Sensitivity in thermal conductivities shows water content (higher content results in higher thermal conductivity) has an impact on temperature field</a:t>
            </a:r>
          </a:p>
          <a:p>
            <a:pPr marL="457200" indent="-457200" algn="l">
              <a:buFont typeface="Arial" panose="020B0604020202020204" pitchFamily="34" charset="0"/>
              <a:buChar char="•"/>
            </a:pPr>
            <a:r>
              <a:rPr lang="en-US" sz="2000" dirty="0" smtClean="0">
                <a:solidFill>
                  <a:schemeClr val="tx1"/>
                </a:solidFill>
              </a:rPr>
              <a:t>Apparently, heterogeneity has an impact on temperature increase. But keep in mind the variance used here for thermal conductivity is rather large. </a:t>
            </a:r>
          </a:p>
          <a:p>
            <a:pPr marL="457200" indent="-457200" algn="l">
              <a:buFont typeface="Arial" panose="020B0604020202020204" pitchFamily="34" charset="0"/>
              <a:buChar char="•"/>
            </a:pPr>
            <a:r>
              <a:rPr lang="en-US" sz="2000" dirty="0" smtClean="0">
                <a:solidFill>
                  <a:schemeClr val="tx1"/>
                </a:solidFill>
              </a:rPr>
              <a:t>Infiltration shows the impact due to (pure) heat convection, The dry and wet thermal conductivities are set the same in these simulation because : 1. there is no data on water table depth therefore it is not meaningful to get a realistic water content; 2. The simulation is to explore pure heat convection effect. Sensitivity in heat conduction is explore in the first item</a:t>
            </a:r>
          </a:p>
          <a:p>
            <a:pPr marL="457200" indent="-457200" algn="l">
              <a:buFont typeface="Arial" panose="020B0604020202020204" pitchFamily="34" charset="0"/>
              <a:buChar char="•"/>
            </a:pPr>
            <a:r>
              <a:rPr lang="en-US" sz="2000" dirty="0" smtClean="0">
                <a:solidFill>
                  <a:schemeClr val="tx1"/>
                </a:solidFill>
              </a:rPr>
              <a:t>Actual temperature of infiltration (instead of average) is preferred for accurate prediction of the temperature around heaters</a:t>
            </a:r>
          </a:p>
          <a:p>
            <a:pPr marL="457200" indent="-457200" algn="l">
              <a:buFont typeface="Arial" panose="020B0604020202020204" pitchFamily="34" charset="0"/>
              <a:buChar char="•"/>
            </a:pPr>
            <a:endParaRPr lang="en-US" sz="2000" dirty="0">
              <a:solidFill>
                <a:schemeClr val="tx1"/>
              </a:solidFill>
            </a:endParaRPr>
          </a:p>
        </p:txBody>
      </p:sp>
    </p:spTree>
    <p:extLst>
      <p:ext uri="{BB962C8B-B14F-4D97-AF65-F5344CB8AC3E}">
        <p14:creationId xmlns:p14="http://schemas.microsoft.com/office/powerpoint/2010/main" val="18740624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1" name="Group 50"/>
          <p:cNvGrpSpPr/>
          <p:nvPr/>
        </p:nvGrpSpPr>
        <p:grpSpPr>
          <a:xfrm>
            <a:off x="2520577" y="1400670"/>
            <a:ext cx="5474050" cy="5457330"/>
            <a:chOff x="2161762" y="1014793"/>
            <a:chExt cx="5474050" cy="5457330"/>
          </a:xfrm>
        </p:grpSpPr>
        <p:sp>
          <p:nvSpPr>
            <p:cNvPr id="2" name="Rectangle 1"/>
            <p:cNvSpPr>
              <a:spLocks noChangeAspect="1"/>
            </p:cNvSpPr>
            <p:nvPr/>
          </p:nvSpPr>
          <p:spPr>
            <a:xfrm>
              <a:off x="3994822" y="2830396"/>
              <a:ext cx="1817933" cy="1817933"/>
            </a:xfrm>
            <a:prstGeom prst="rect">
              <a:avLst/>
            </a:prstGeom>
            <a:solidFill>
              <a:srgbClr val="92D050"/>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3" name="Rectangle 2"/>
            <p:cNvSpPr>
              <a:spLocks noChangeAspect="1"/>
            </p:cNvSpPr>
            <p:nvPr/>
          </p:nvSpPr>
          <p:spPr>
            <a:xfrm>
              <a:off x="5812755" y="2830395"/>
              <a:ext cx="1801891"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4" name="Rectangle 3"/>
            <p:cNvSpPr>
              <a:spLocks noChangeAspect="1"/>
            </p:cNvSpPr>
            <p:nvPr/>
          </p:nvSpPr>
          <p:spPr>
            <a:xfrm>
              <a:off x="2176889" y="2830394"/>
              <a:ext cx="18053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smtClean="0">
                <a:ln>
                  <a:noFill/>
                </a:ln>
                <a:noFill/>
                <a:effectLst/>
                <a:uLnTx/>
                <a:uFillTx/>
                <a:latin typeface="Calibri" panose="020F0502020204030204"/>
                <a:ea typeface="+mn-ea"/>
                <a:cs typeface="+mn-cs"/>
              </a:endParaRPr>
            </a:p>
          </p:txBody>
        </p:sp>
        <p:sp>
          <p:nvSpPr>
            <p:cNvPr id="5" name="Rectangle 4"/>
            <p:cNvSpPr>
              <a:spLocks noChangeAspect="1"/>
            </p:cNvSpPr>
            <p:nvPr/>
          </p:nvSpPr>
          <p:spPr>
            <a:xfrm>
              <a:off x="5812755" y="4648326"/>
              <a:ext cx="1801891"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6" name="Rectangle 5"/>
            <p:cNvSpPr>
              <a:spLocks noChangeAspect="1"/>
            </p:cNvSpPr>
            <p:nvPr/>
          </p:nvSpPr>
          <p:spPr>
            <a:xfrm>
              <a:off x="3994822" y="4648327"/>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7" name="Rectangle 6"/>
            <p:cNvSpPr>
              <a:spLocks noChangeAspect="1"/>
            </p:cNvSpPr>
            <p:nvPr/>
          </p:nvSpPr>
          <p:spPr>
            <a:xfrm>
              <a:off x="2176889" y="4648327"/>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8" name="Rectangle 7"/>
            <p:cNvSpPr>
              <a:spLocks noChangeAspect="1"/>
            </p:cNvSpPr>
            <p:nvPr/>
          </p:nvSpPr>
          <p:spPr>
            <a:xfrm>
              <a:off x="5794575" y="1014793"/>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9" name="Rectangle 8"/>
            <p:cNvSpPr>
              <a:spLocks noChangeAspect="1"/>
            </p:cNvSpPr>
            <p:nvPr/>
          </p:nvSpPr>
          <p:spPr>
            <a:xfrm>
              <a:off x="3992684" y="1014794"/>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noFill/>
                <a:effectLst/>
                <a:uLnTx/>
                <a:uFillTx/>
                <a:latin typeface="Calibri" panose="020F0502020204030204"/>
                <a:ea typeface="+mn-ea"/>
                <a:cs typeface="+mn-cs"/>
              </a:endParaRPr>
            </a:p>
          </p:txBody>
        </p:sp>
        <p:sp>
          <p:nvSpPr>
            <p:cNvPr id="10" name="Rectangle 9"/>
            <p:cNvSpPr>
              <a:spLocks noChangeAspect="1"/>
            </p:cNvSpPr>
            <p:nvPr/>
          </p:nvSpPr>
          <p:spPr>
            <a:xfrm>
              <a:off x="2174751" y="1014794"/>
              <a:ext cx="1817933" cy="1817933"/>
            </a:xfrm>
            <a:prstGeom prst="rect">
              <a:avLst/>
            </a:prstGeom>
            <a:solidFill>
              <a:srgbClr val="5B9BD5"/>
            </a:solidFill>
            <a:ln w="12700" cap="flat" cmpd="sng" algn="ctr">
              <a:solidFill>
                <a:srgbClr val="5B9BD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smtClean="0">
                <a:ln>
                  <a:noFill/>
                </a:ln>
                <a:noFill/>
                <a:effectLst/>
                <a:uLnTx/>
                <a:uFillTx/>
                <a:latin typeface="Calibri" panose="020F0502020204030204"/>
                <a:ea typeface="+mn-ea"/>
                <a:cs typeface="+mn-cs"/>
              </a:endParaRPr>
            </a:p>
          </p:txBody>
        </p:sp>
        <p:sp>
          <p:nvSpPr>
            <p:cNvPr id="11" name="Oval 10"/>
            <p:cNvSpPr>
              <a:spLocks noChangeAspect="1"/>
            </p:cNvSpPr>
            <p:nvPr/>
          </p:nvSpPr>
          <p:spPr>
            <a:xfrm>
              <a:off x="4234439" y="3053560"/>
              <a:ext cx="1371600" cy="1371600"/>
            </a:xfrm>
            <a:prstGeom prst="ellipse">
              <a:avLst/>
            </a:prstGeom>
            <a:solidFill>
              <a:srgbClr val="C55A11">
                <a:alpha val="50196"/>
              </a:srgbClr>
            </a:solidFill>
            <a:ln w="19050" cap="flat" cmpd="sng" algn="ctr">
              <a:solidFill>
                <a:sysClr val="windowText" lastClr="000000"/>
              </a:solidFill>
              <a:prstDash val="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12" name="Oval 11"/>
            <p:cNvSpPr/>
            <p:nvPr/>
          </p:nvSpPr>
          <p:spPr>
            <a:xfrm>
              <a:off x="4470652" y="3282162"/>
              <a:ext cx="914400" cy="914400"/>
            </a:xfrm>
            <a:prstGeom prst="ellipse">
              <a:avLst/>
            </a:prstGeom>
            <a:solidFill>
              <a:srgbClr val="C00000"/>
            </a:solidFill>
            <a:ln w="28575" cap="flat" cmpd="sng" algn="ctr">
              <a:solidFill>
                <a:srgbClr val="44546A"/>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14" name="Oval 13"/>
            <p:cNvSpPr>
              <a:spLocks noChangeAspect="1"/>
            </p:cNvSpPr>
            <p:nvPr/>
          </p:nvSpPr>
          <p:spPr>
            <a:xfrm>
              <a:off x="3996489" y="2842926"/>
              <a:ext cx="1825955" cy="1825955"/>
            </a:xfrm>
            <a:prstGeom prst="ellipse">
              <a:avLst/>
            </a:prstGeom>
            <a:solidFill>
              <a:srgbClr val="ED7D31">
                <a:alpha val="60000"/>
              </a:srgbClr>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15" name="Oval 14"/>
            <p:cNvSpPr>
              <a:spLocks noChangeAspect="1"/>
            </p:cNvSpPr>
            <p:nvPr/>
          </p:nvSpPr>
          <p:spPr>
            <a:xfrm>
              <a:off x="4375424" y="3191279"/>
              <a:ext cx="1098495" cy="1098495"/>
            </a:xfrm>
            <a:prstGeom prst="ellipse">
              <a:avLst/>
            </a:prstGeom>
            <a:solidFill>
              <a:srgbClr val="ED7D31">
                <a:alpha val="50196"/>
              </a:srgbClr>
            </a:solidFill>
            <a:ln w="19050" cap="flat" cmpd="sng" algn="ctr">
              <a:solidFill>
                <a:sysClr val="windowText" lastClr="000000"/>
              </a:solidFill>
              <a:prstDash val="dashDot"/>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16" name="TextBox 15"/>
            <p:cNvSpPr txBox="1"/>
            <p:nvPr/>
          </p:nvSpPr>
          <p:spPr>
            <a:xfrm>
              <a:off x="5393734" y="3418051"/>
              <a:ext cx="564578" cy="400110"/>
            </a:xfrm>
            <a:prstGeom prst="rect">
              <a:avLst/>
            </a:prstGeom>
            <a:noFill/>
          </p:spPr>
          <p:txBody>
            <a:bodyPr wrap="none" rtlCol="0">
              <a:spAutoFit/>
            </a:bodyPr>
            <a:lstStyle/>
            <a:p>
              <a:pPr algn="l" eaLnBrk="1" fontAlgn="auto" hangingPunct="1">
                <a:spcBef>
                  <a:spcPts val="0"/>
                </a:spcBef>
                <a:spcAft>
                  <a:spcPts val="0"/>
                </a:spcAft>
              </a:pPr>
              <a:r>
                <a:rPr lang="en-US" sz="2000" b="1" dirty="0" smtClean="0">
                  <a:solidFill>
                    <a:prstClr val="black"/>
                  </a:solidFill>
                  <a:latin typeface="Calibri" panose="020F0502020204030204"/>
                </a:rPr>
                <a:t>. . . </a:t>
              </a:r>
              <a:endParaRPr lang="en-US" sz="2000" b="1" dirty="0">
                <a:solidFill>
                  <a:prstClr val="black"/>
                </a:solidFill>
                <a:latin typeface="Calibri" panose="020F0502020204030204"/>
              </a:endParaRPr>
            </a:p>
          </p:txBody>
        </p:sp>
        <p:sp>
          <p:nvSpPr>
            <p:cNvPr id="17" name="Oval 16"/>
            <p:cNvSpPr>
              <a:spLocks noChangeAspect="1"/>
            </p:cNvSpPr>
            <p:nvPr/>
          </p:nvSpPr>
          <p:spPr>
            <a:xfrm>
              <a:off x="4451115" y="3278855"/>
              <a:ext cx="950562" cy="911281"/>
            </a:xfrm>
            <a:prstGeom prst="ellipse">
              <a:avLst/>
            </a:prstGeom>
            <a:no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cxnSp>
          <p:nvCxnSpPr>
            <p:cNvPr id="18" name="Straight Connector 17"/>
            <p:cNvCxnSpPr/>
            <p:nvPr/>
          </p:nvCxnSpPr>
          <p:spPr>
            <a:xfrm>
              <a:off x="4857491" y="3270297"/>
              <a:ext cx="118886" cy="0"/>
            </a:xfrm>
            <a:prstGeom prst="line">
              <a:avLst/>
            </a:prstGeom>
            <a:noFill/>
            <a:ln w="12700" cap="flat" cmpd="sng" algn="ctr">
              <a:solidFill>
                <a:sysClr val="windowText" lastClr="000000"/>
              </a:solidFill>
              <a:prstDash val="solid"/>
              <a:miter lim="800000"/>
            </a:ln>
            <a:effectLst/>
          </p:spPr>
        </p:cxnSp>
        <p:sp>
          <p:nvSpPr>
            <p:cNvPr id="21" name="Oval 20"/>
            <p:cNvSpPr>
              <a:spLocks noChangeAspect="1"/>
            </p:cNvSpPr>
            <p:nvPr/>
          </p:nvSpPr>
          <p:spPr>
            <a:xfrm>
              <a:off x="3995482" y="2842926"/>
              <a:ext cx="1825955" cy="1825955"/>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3" name="Oval 22"/>
            <p:cNvSpPr>
              <a:spLocks noChangeAspect="1"/>
            </p:cNvSpPr>
            <p:nvPr/>
          </p:nvSpPr>
          <p:spPr>
            <a:xfrm>
              <a:off x="2699804" y="3377502"/>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24" name="Rectangle 23"/>
            <p:cNvSpPr>
              <a:spLocks noChangeAspect="1"/>
            </p:cNvSpPr>
            <p:nvPr/>
          </p:nvSpPr>
          <p:spPr>
            <a:xfrm>
              <a:off x="3992684" y="2833939"/>
              <a:ext cx="1828395" cy="1834942"/>
            </a:xfrm>
            <a:prstGeom prst="rect">
              <a:avLst/>
            </a:prstGeom>
            <a:solidFill>
              <a:srgbClr val="5B9BD5"/>
            </a:solidFill>
            <a:ln w="57150" cap="flat" cmpd="sng" algn="ctr">
              <a:solidFill>
                <a:srgbClr val="C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smtClean="0">
                <a:ln>
                  <a:noFill/>
                </a:ln>
                <a:noFill/>
                <a:effectLst/>
                <a:uLnTx/>
                <a:uFillTx/>
                <a:latin typeface="Calibri" panose="020F0502020204030204"/>
                <a:ea typeface="+mn-ea"/>
                <a:cs typeface="+mn-cs"/>
              </a:endParaRPr>
            </a:p>
          </p:txBody>
        </p:sp>
        <p:cxnSp>
          <p:nvCxnSpPr>
            <p:cNvPr id="28" name="Straight Connector 27"/>
            <p:cNvCxnSpPr/>
            <p:nvPr/>
          </p:nvCxnSpPr>
          <p:spPr bwMode="auto">
            <a:xfrm>
              <a:off x="3992684" y="1014793"/>
              <a:ext cx="0" cy="5432308"/>
            </a:xfrm>
            <a:prstGeom prst="line">
              <a:avLst/>
            </a:prstGeom>
            <a:solidFill>
              <a:schemeClr val="accent1"/>
            </a:solidFill>
            <a:ln w="38100" cap="flat" cmpd="sng" algn="ctr">
              <a:solidFill>
                <a:schemeClr val="tx2"/>
              </a:solidFill>
              <a:prstDash val="solid"/>
              <a:round/>
              <a:headEnd type="none" w="med" len="med"/>
              <a:tailEnd type="none" w="med" len="med"/>
            </a:ln>
            <a:effectLst/>
          </p:spPr>
        </p:cxnSp>
        <p:cxnSp>
          <p:nvCxnSpPr>
            <p:cNvPr id="30" name="Straight Connector 29"/>
            <p:cNvCxnSpPr/>
            <p:nvPr/>
          </p:nvCxnSpPr>
          <p:spPr bwMode="auto">
            <a:xfrm>
              <a:off x="7612508" y="1033951"/>
              <a:ext cx="0" cy="5432308"/>
            </a:xfrm>
            <a:prstGeom prst="line">
              <a:avLst/>
            </a:prstGeom>
            <a:solidFill>
              <a:schemeClr val="accent1"/>
            </a:solidFill>
            <a:ln w="38100" cap="flat" cmpd="sng" algn="ctr">
              <a:solidFill>
                <a:schemeClr val="tx2"/>
              </a:solidFill>
              <a:prstDash val="solid"/>
              <a:round/>
              <a:headEnd type="none" w="med" len="med"/>
              <a:tailEnd type="none" w="med" len="med"/>
            </a:ln>
            <a:effectLst/>
          </p:spPr>
        </p:cxnSp>
        <p:cxnSp>
          <p:nvCxnSpPr>
            <p:cNvPr id="31" name="Straight Connector 30"/>
            <p:cNvCxnSpPr/>
            <p:nvPr/>
          </p:nvCxnSpPr>
          <p:spPr bwMode="auto">
            <a:xfrm>
              <a:off x="5810617" y="1033951"/>
              <a:ext cx="0" cy="5432308"/>
            </a:xfrm>
            <a:prstGeom prst="line">
              <a:avLst/>
            </a:prstGeom>
            <a:solidFill>
              <a:schemeClr val="accent1"/>
            </a:solidFill>
            <a:ln w="38100" cap="flat" cmpd="sng" algn="ctr">
              <a:solidFill>
                <a:schemeClr val="tx2"/>
              </a:solidFill>
              <a:prstDash val="solid"/>
              <a:round/>
              <a:headEnd type="none" w="med" len="med"/>
              <a:tailEnd type="none" w="med" len="med"/>
            </a:ln>
            <a:effectLst/>
          </p:spPr>
        </p:cxnSp>
        <p:cxnSp>
          <p:nvCxnSpPr>
            <p:cNvPr id="32" name="Straight Connector 31"/>
            <p:cNvCxnSpPr/>
            <p:nvPr/>
          </p:nvCxnSpPr>
          <p:spPr bwMode="auto">
            <a:xfrm>
              <a:off x="2174751" y="1033951"/>
              <a:ext cx="0" cy="5432308"/>
            </a:xfrm>
            <a:prstGeom prst="line">
              <a:avLst/>
            </a:prstGeom>
            <a:solidFill>
              <a:schemeClr val="accent1"/>
            </a:solidFill>
            <a:ln w="38100" cap="flat" cmpd="sng" algn="ctr">
              <a:solidFill>
                <a:schemeClr val="tx2"/>
              </a:solidFill>
              <a:prstDash val="solid"/>
              <a:round/>
              <a:headEnd type="none" w="med" len="med"/>
              <a:tailEnd type="none" w="med" len="med"/>
            </a:ln>
            <a:effectLst/>
          </p:spPr>
        </p:cxnSp>
        <p:cxnSp>
          <p:nvCxnSpPr>
            <p:cNvPr id="34" name="Straight Connector 33"/>
            <p:cNvCxnSpPr/>
            <p:nvPr/>
          </p:nvCxnSpPr>
          <p:spPr bwMode="auto">
            <a:xfrm>
              <a:off x="2198055" y="1017687"/>
              <a:ext cx="5437757" cy="2315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5" name="Straight Connector 34"/>
            <p:cNvCxnSpPr/>
            <p:nvPr/>
          </p:nvCxnSpPr>
          <p:spPr bwMode="auto">
            <a:xfrm>
              <a:off x="2178005" y="6448973"/>
              <a:ext cx="5437757" cy="2315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6" name="Straight Connector 35"/>
            <p:cNvCxnSpPr/>
            <p:nvPr/>
          </p:nvCxnSpPr>
          <p:spPr bwMode="auto">
            <a:xfrm>
              <a:off x="2161762" y="4632785"/>
              <a:ext cx="5437757" cy="23150"/>
            </a:xfrm>
            <a:prstGeom prst="line">
              <a:avLst/>
            </a:prstGeom>
            <a:solidFill>
              <a:schemeClr val="accent1"/>
            </a:solidFill>
            <a:ln w="38100" cap="flat" cmpd="sng" algn="ctr">
              <a:solidFill>
                <a:schemeClr val="tx1"/>
              </a:solidFill>
              <a:prstDash val="solid"/>
              <a:round/>
              <a:headEnd type="none" w="med" len="med"/>
              <a:tailEnd type="none" w="med" len="med"/>
            </a:ln>
            <a:effectLst/>
          </p:spPr>
        </p:cxnSp>
        <p:cxnSp>
          <p:nvCxnSpPr>
            <p:cNvPr id="37" name="Straight Connector 36"/>
            <p:cNvCxnSpPr/>
            <p:nvPr/>
          </p:nvCxnSpPr>
          <p:spPr bwMode="auto">
            <a:xfrm>
              <a:off x="2182771" y="2806427"/>
              <a:ext cx="5437757" cy="23150"/>
            </a:xfrm>
            <a:prstGeom prst="line">
              <a:avLst/>
            </a:prstGeom>
            <a:solidFill>
              <a:schemeClr val="accent1"/>
            </a:solidFill>
            <a:ln w="38100" cap="flat" cmpd="sng" algn="ctr">
              <a:solidFill>
                <a:schemeClr val="tx1"/>
              </a:solidFill>
              <a:prstDash val="solid"/>
              <a:round/>
              <a:headEnd type="none" w="med" len="med"/>
              <a:tailEnd type="none" w="med" len="med"/>
            </a:ln>
            <a:effectLst/>
          </p:spPr>
        </p:cxnSp>
        <p:sp>
          <p:nvSpPr>
            <p:cNvPr id="39" name="Oval 38"/>
            <p:cNvSpPr>
              <a:spLocks noChangeAspect="1"/>
            </p:cNvSpPr>
            <p:nvPr/>
          </p:nvSpPr>
          <p:spPr>
            <a:xfrm>
              <a:off x="4541200" y="3355760"/>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0" name="Oval 39"/>
            <p:cNvSpPr>
              <a:spLocks noChangeAspect="1"/>
            </p:cNvSpPr>
            <p:nvPr/>
          </p:nvSpPr>
          <p:spPr>
            <a:xfrm>
              <a:off x="6371314" y="3379880"/>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1" name="Oval 40"/>
            <p:cNvSpPr>
              <a:spLocks noChangeAspect="1"/>
            </p:cNvSpPr>
            <p:nvPr/>
          </p:nvSpPr>
          <p:spPr>
            <a:xfrm>
              <a:off x="2615286" y="5180527"/>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2" name="Oval 41"/>
            <p:cNvSpPr>
              <a:spLocks noChangeAspect="1"/>
            </p:cNvSpPr>
            <p:nvPr/>
          </p:nvSpPr>
          <p:spPr>
            <a:xfrm>
              <a:off x="2713339" y="1548889"/>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3" name="Oval 42"/>
            <p:cNvSpPr>
              <a:spLocks noChangeAspect="1"/>
            </p:cNvSpPr>
            <p:nvPr/>
          </p:nvSpPr>
          <p:spPr>
            <a:xfrm>
              <a:off x="4484603" y="1585817"/>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4" name="Oval 43"/>
            <p:cNvSpPr>
              <a:spLocks noChangeAspect="1"/>
            </p:cNvSpPr>
            <p:nvPr/>
          </p:nvSpPr>
          <p:spPr>
            <a:xfrm>
              <a:off x="6383690" y="1548889"/>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5" name="Oval 44"/>
            <p:cNvSpPr>
              <a:spLocks noChangeAspect="1"/>
            </p:cNvSpPr>
            <p:nvPr/>
          </p:nvSpPr>
          <p:spPr>
            <a:xfrm>
              <a:off x="4569422" y="5195642"/>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sp>
          <p:nvSpPr>
            <p:cNvPr id="46" name="Oval 45"/>
            <p:cNvSpPr>
              <a:spLocks noChangeAspect="1"/>
            </p:cNvSpPr>
            <p:nvPr/>
          </p:nvSpPr>
          <p:spPr>
            <a:xfrm>
              <a:off x="6470812" y="5195641"/>
              <a:ext cx="756801" cy="756801"/>
            </a:xfrm>
            <a:prstGeom prst="ellipse">
              <a:avLst/>
            </a:prstGeom>
            <a:solidFill>
              <a:srgbClr val="ED7D31"/>
            </a:solidFill>
            <a:ln w="28575" cap="flat" cmpd="sng" algn="ctr">
              <a:solidFill>
                <a:sysClr val="windowText" lastClr="00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smtClean="0">
                <a:ln>
                  <a:noFill/>
                </a:ln>
                <a:solidFill>
                  <a:prstClr val="white"/>
                </a:solidFill>
                <a:effectLst/>
                <a:uLnTx/>
                <a:uFillTx/>
                <a:latin typeface="Calibri" panose="020F0502020204030204"/>
                <a:ea typeface="+mn-ea"/>
                <a:cs typeface="+mn-cs"/>
              </a:endParaRPr>
            </a:p>
          </p:txBody>
        </p:sp>
        <p:cxnSp>
          <p:nvCxnSpPr>
            <p:cNvPr id="48" name="Straight Connector 47"/>
            <p:cNvCxnSpPr/>
            <p:nvPr/>
          </p:nvCxnSpPr>
          <p:spPr bwMode="auto">
            <a:xfrm>
              <a:off x="3078204" y="3730947"/>
              <a:ext cx="1861300" cy="19158"/>
            </a:xfrm>
            <a:prstGeom prst="line">
              <a:avLst/>
            </a:prstGeom>
            <a:solidFill>
              <a:schemeClr val="accent1"/>
            </a:solidFill>
            <a:ln w="12700" cap="flat" cmpd="sng" algn="ctr">
              <a:solidFill>
                <a:schemeClr val="tx1"/>
              </a:solidFill>
              <a:prstDash val="solid"/>
              <a:round/>
              <a:headEnd type="none" w="med" len="med"/>
              <a:tailEnd type="none" w="med" len="med"/>
            </a:ln>
            <a:effectLst/>
          </p:spPr>
        </p:cxnSp>
        <p:sp>
          <p:nvSpPr>
            <p:cNvPr id="50" name="TextBox 49"/>
            <p:cNvSpPr txBox="1"/>
            <p:nvPr/>
          </p:nvSpPr>
          <p:spPr>
            <a:xfrm>
              <a:off x="3356800" y="3654734"/>
              <a:ext cx="1411532" cy="523220"/>
            </a:xfrm>
            <a:prstGeom prst="rect">
              <a:avLst/>
            </a:prstGeom>
            <a:noFill/>
          </p:spPr>
          <p:txBody>
            <a:bodyPr wrap="square" rtlCol="0">
              <a:spAutoFit/>
            </a:bodyPr>
            <a:lstStyle/>
            <a:p>
              <a:pPr algn="ctr"/>
              <a:r>
                <a:rPr lang="en-US" dirty="0" smtClean="0">
                  <a:solidFill>
                    <a:srgbClr val="C00000"/>
                  </a:solidFill>
                </a:rPr>
                <a:t>6 m</a:t>
              </a:r>
              <a:endParaRPr lang="en-US" dirty="0">
                <a:solidFill>
                  <a:srgbClr val="C00000"/>
                </a:solidFill>
              </a:endParaRPr>
            </a:p>
          </p:txBody>
        </p:sp>
      </p:grpSp>
      <p:sp>
        <p:nvSpPr>
          <p:cNvPr id="52" name="Rectangle 51"/>
          <p:cNvSpPr/>
          <p:nvPr/>
        </p:nvSpPr>
        <p:spPr>
          <a:xfrm>
            <a:off x="429644" y="64675"/>
            <a:ext cx="10510787" cy="1200329"/>
          </a:xfrm>
          <a:prstGeom prst="rect">
            <a:avLst/>
          </a:prstGeom>
        </p:spPr>
        <p:txBody>
          <a:bodyPr wrap="square">
            <a:spAutoFit/>
          </a:bodyPr>
          <a:lstStyle/>
          <a:p>
            <a:pPr algn="ctr"/>
            <a:r>
              <a:rPr lang="en-US" sz="3600" b="1" kern="0" dirty="0" smtClean="0">
                <a:solidFill>
                  <a:srgbClr val="00279F"/>
                </a:solidFill>
              </a:rPr>
              <a:t>Large-scale deployment can take advantage of symmetry of the system</a:t>
            </a:r>
            <a:endParaRPr lang="en-US" sz="3600" b="1" kern="0" dirty="0">
              <a:solidFill>
                <a:srgbClr val="00279F"/>
              </a:solidFill>
            </a:endParaRPr>
          </a:p>
        </p:txBody>
      </p:sp>
      <p:sp>
        <p:nvSpPr>
          <p:cNvPr id="53" name="Rectangle 52"/>
          <p:cNvSpPr/>
          <p:nvPr/>
        </p:nvSpPr>
        <p:spPr>
          <a:xfrm>
            <a:off x="11521010" y="6400239"/>
            <a:ext cx="558744" cy="523220"/>
          </a:xfrm>
          <a:prstGeom prst="rect">
            <a:avLst/>
          </a:prstGeom>
        </p:spPr>
        <p:txBody>
          <a:bodyPr wrap="none">
            <a:spAutoFit/>
          </a:bodyPr>
          <a:lstStyle/>
          <a:p>
            <a:r>
              <a:rPr lang="en-US" dirty="0" smtClean="0"/>
              <a:t>11</a:t>
            </a:r>
            <a:endParaRPr lang="en-US" dirty="0"/>
          </a:p>
        </p:txBody>
      </p:sp>
    </p:spTree>
    <p:extLst>
      <p:ext uri="{BB962C8B-B14F-4D97-AF65-F5344CB8AC3E}">
        <p14:creationId xmlns:p14="http://schemas.microsoft.com/office/powerpoint/2010/main" val="20267923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790634" y="184440"/>
            <a:ext cx="9498676" cy="1287976"/>
          </a:xfrm>
          <a:prstGeom prst="rect">
            <a:avLst/>
          </a:prstGeom>
        </p:spPr>
        <p:txBody>
          <a:bodyPr/>
          <a:lst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a:lstStyle>
          <a:p>
            <a:pPr>
              <a:lnSpc>
                <a:spcPct val="110000"/>
              </a:lnSpc>
              <a:spcBef>
                <a:spcPts val="600"/>
              </a:spcBef>
              <a:spcAft>
                <a:spcPts val="600"/>
              </a:spcAft>
            </a:pPr>
            <a:r>
              <a:rPr lang="en-US" sz="2800" kern="0" dirty="0" smtClean="0"/>
              <a:t>Soil temperature is 2C warmer compared to five batteries scenario at Knoxville</a:t>
            </a:r>
            <a:endParaRPr lang="en-US" sz="2800" kern="0" dirty="0"/>
          </a:p>
        </p:txBody>
      </p:sp>
      <p:pic>
        <p:nvPicPr>
          <p:cNvPr id="5" name="Picture 4"/>
          <p:cNvPicPr>
            <a:picLocks noChangeAspect="1"/>
          </p:cNvPicPr>
          <p:nvPr/>
        </p:nvPicPr>
        <p:blipFill>
          <a:blip r:embed="rId2"/>
          <a:stretch>
            <a:fillRect/>
          </a:stretch>
        </p:blipFill>
        <p:spPr>
          <a:xfrm>
            <a:off x="0" y="1562615"/>
            <a:ext cx="4589357" cy="4215601"/>
          </a:xfrm>
          <a:prstGeom prst="rect">
            <a:avLst/>
          </a:prstGeom>
        </p:spPr>
      </p:pic>
      <p:pic>
        <p:nvPicPr>
          <p:cNvPr id="6" name="Picture 5"/>
          <p:cNvPicPr>
            <a:picLocks noChangeAspect="1"/>
          </p:cNvPicPr>
          <p:nvPr/>
        </p:nvPicPr>
        <p:blipFill>
          <a:blip r:embed="rId3"/>
          <a:stretch>
            <a:fillRect/>
          </a:stretch>
        </p:blipFill>
        <p:spPr>
          <a:xfrm>
            <a:off x="4589357" y="1652813"/>
            <a:ext cx="5162308" cy="4035204"/>
          </a:xfrm>
          <a:prstGeom prst="rect">
            <a:avLst/>
          </a:prstGeom>
        </p:spPr>
      </p:pic>
      <p:pic>
        <p:nvPicPr>
          <p:cNvPr id="7" name="Picture 6"/>
          <p:cNvPicPr>
            <a:picLocks noChangeAspect="1"/>
          </p:cNvPicPr>
          <p:nvPr/>
        </p:nvPicPr>
        <p:blipFill>
          <a:blip r:embed="rId4"/>
          <a:stretch>
            <a:fillRect/>
          </a:stretch>
        </p:blipFill>
        <p:spPr>
          <a:xfrm>
            <a:off x="8981954" y="4028806"/>
            <a:ext cx="3210046" cy="2829193"/>
          </a:xfrm>
          <a:prstGeom prst="rect">
            <a:avLst/>
          </a:prstGeom>
        </p:spPr>
      </p:pic>
      <p:sp>
        <p:nvSpPr>
          <p:cNvPr id="10" name="Rectangle 9"/>
          <p:cNvSpPr/>
          <p:nvPr/>
        </p:nvSpPr>
        <p:spPr>
          <a:xfrm>
            <a:off x="-60355" y="6409475"/>
            <a:ext cx="585418" cy="523220"/>
          </a:xfrm>
          <a:prstGeom prst="rect">
            <a:avLst/>
          </a:prstGeom>
        </p:spPr>
        <p:txBody>
          <a:bodyPr wrap="none">
            <a:spAutoFit/>
          </a:bodyPr>
          <a:lstStyle/>
          <a:p>
            <a:r>
              <a:rPr lang="en-US" dirty="0" smtClean="0"/>
              <a:t>12</a:t>
            </a:r>
            <a:endParaRPr lang="en-US" dirty="0"/>
          </a:p>
        </p:txBody>
      </p:sp>
    </p:spTree>
    <p:extLst>
      <p:ext uri="{BB962C8B-B14F-4D97-AF65-F5344CB8AC3E}">
        <p14:creationId xmlns:p14="http://schemas.microsoft.com/office/powerpoint/2010/main" val="43621419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bwMode="auto">
          <a:xfrm>
            <a:off x="553454" y="168275"/>
            <a:ext cx="10932694" cy="736600"/>
          </a:xfrm>
          <a:prstGeom prst="rect">
            <a:avLst/>
          </a:prstGeom>
          <a:noFill/>
          <a:ln w="12700">
            <a:noFill/>
            <a:miter lim="800000"/>
            <a:headEnd/>
            <a:tailEnd/>
          </a:ln>
        </p:spPr>
        <p:txBody>
          <a:bodyPr vert="horz" wrap="square" lIns="90487" tIns="44450" rIns="90487" bIns="44450" numCol="1" anchor="ctr" anchorCtr="0" compatLnSpc="1">
            <a:prstTxWarp prst="textNoShape">
              <a:avLst/>
            </a:prstTxWarp>
          </a:bodyPr>
          <a:lstStyle>
            <a:lvl1pPr algn="ctr" rtl="0" eaLnBrk="0" fontAlgn="base" hangingPunct="0">
              <a:lnSpc>
                <a:spcPct val="85000"/>
              </a:lnSpc>
              <a:spcBef>
                <a:spcPct val="0"/>
              </a:spcBef>
              <a:spcAft>
                <a:spcPct val="0"/>
              </a:spcAft>
              <a:defRPr sz="3200" b="1">
                <a:solidFill>
                  <a:srgbClr val="00279F"/>
                </a:solidFill>
                <a:latin typeface="+mj-lt"/>
                <a:ea typeface="+mj-ea"/>
                <a:cs typeface="+mj-cs"/>
              </a:defRPr>
            </a:lvl1pPr>
            <a:lvl2pPr algn="ctr" rtl="0" eaLnBrk="0" fontAlgn="base" hangingPunct="0">
              <a:lnSpc>
                <a:spcPct val="85000"/>
              </a:lnSpc>
              <a:spcBef>
                <a:spcPct val="0"/>
              </a:spcBef>
              <a:spcAft>
                <a:spcPct val="0"/>
              </a:spcAft>
              <a:defRPr sz="3200" b="1">
                <a:solidFill>
                  <a:srgbClr val="00279F"/>
                </a:solidFill>
                <a:latin typeface="Arial" charset="0"/>
              </a:defRPr>
            </a:lvl2pPr>
            <a:lvl3pPr algn="ctr" rtl="0" eaLnBrk="0" fontAlgn="base" hangingPunct="0">
              <a:lnSpc>
                <a:spcPct val="85000"/>
              </a:lnSpc>
              <a:spcBef>
                <a:spcPct val="0"/>
              </a:spcBef>
              <a:spcAft>
                <a:spcPct val="0"/>
              </a:spcAft>
              <a:defRPr sz="3200" b="1">
                <a:solidFill>
                  <a:srgbClr val="00279F"/>
                </a:solidFill>
                <a:latin typeface="Arial" charset="0"/>
              </a:defRPr>
            </a:lvl3pPr>
            <a:lvl4pPr algn="ctr" rtl="0" eaLnBrk="0" fontAlgn="base" hangingPunct="0">
              <a:lnSpc>
                <a:spcPct val="85000"/>
              </a:lnSpc>
              <a:spcBef>
                <a:spcPct val="0"/>
              </a:spcBef>
              <a:spcAft>
                <a:spcPct val="0"/>
              </a:spcAft>
              <a:defRPr sz="3200" b="1">
                <a:solidFill>
                  <a:srgbClr val="00279F"/>
                </a:solidFill>
                <a:latin typeface="Arial" charset="0"/>
              </a:defRPr>
            </a:lvl4pPr>
            <a:lvl5pPr algn="ctr" rtl="0" eaLnBrk="0" fontAlgn="base" hangingPunct="0">
              <a:lnSpc>
                <a:spcPct val="85000"/>
              </a:lnSpc>
              <a:spcBef>
                <a:spcPct val="0"/>
              </a:spcBef>
              <a:spcAft>
                <a:spcPct val="0"/>
              </a:spcAft>
              <a:defRPr sz="3200" b="1">
                <a:solidFill>
                  <a:srgbClr val="00279F"/>
                </a:solidFill>
                <a:latin typeface="Arial" charset="0"/>
              </a:defRPr>
            </a:lvl5pPr>
            <a:lvl6pPr marL="457200" algn="ctr" rtl="0" eaLnBrk="0" fontAlgn="base" hangingPunct="0">
              <a:lnSpc>
                <a:spcPct val="85000"/>
              </a:lnSpc>
              <a:spcBef>
                <a:spcPct val="0"/>
              </a:spcBef>
              <a:spcAft>
                <a:spcPct val="0"/>
              </a:spcAft>
              <a:defRPr sz="3200" b="1">
                <a:solidFill>
                  <a:srgbClr val="00279F"/>
                </a:solidFill>
                <a:latin typeface="Arial" charset="0"/>
              </a:defRPr>
            </a:lvl6pPr>
            <a:lvl7pPr marL="914400" algn="ctr" rtl="0" eaLnBrk="0" fontAlgn="base" hangingPunct="0">
              <a:lnSpc>
                <a:spcPct val="85000"/>
              </a:lnSpc>
              <a:spcBef>
                <a:spcPct val="0"/>
              </a:spcBef>
              <a:spcAft>
                <a:spcPct val="0"/>
              </a:spcAft>
              <a:defRPr sz="3200" b="1">
                <a:solidFill>
                  <a:srgbClr val="00279F"/>
                </a:solidFill>
                <a:latin typeface="Arial" charset="0"/>
              </a:defRPr>
            </a:lvl7pPr>
            <a:lvl8pPr marL="1371600" algn="ctr" rtl="0" eaLnBrk="0" fontAlgn="base" hangingPunct="0">
              <a:lnSpc>
                <a:spcPct val="85000"/>
              </a:lnSpc>
              <a:spcBef>
                <a:spcPct val="0"/>
              </a:spcBef>
              <a:spcAft>
                <a:spcPct val="0"/>
              </a:spcAft>
              <a:defRPr sz="3200" b="1">
                <a:solidFill>
                  <a:srgbClr val="00279F"/>
                </a:solidFill>
                <a:latin typeface="Arial" charset="0"/>
              </a:defRPr>
            </a:lvl8pPr>
            <a:lvl9pPr marL="1828800" algn="ctr" rtl="0" eaLnBrk="0" fontAlgn="base" hangingPunct="0">
              <a:lnSpc>
                <a:spcPct val="85000"/>
              </a:lnSpc>
              <a:spcBef>
                <a:spcPct val="0"/>
              </a:spcBef>
              <a:spcAft>
                <a:spcPct val="0"/>
              </a:spcAft>
              <a:defRPr sz="3200" b="1">
                <a:solidFill>
                  <a:srgbClr val="00279F"/>
                </a:solidFill>
                <a:latin typeface="Arial" charset="0"/>
              </a:defRPr>
            </a:lvl9pPr>
          </a:lstStyle>
          <a:p>
            <a:r>
              <a:rPr lang="en-US" sz="3600" kern="0" dirty="0" smtClean="0"/>
              <a:t>Conclusions</a:t>
            </a:r>
            <a:endParaRPr lang="en-US" sz="3600" kern="0" dirty="0"/>
          </a:p>
        </p:txBody>
      </p:sp>
      <p:sp>
        <p:nvSpPr>
          <p:cNvPr id="3" name="Content Placeholder 2"/>
          <p:cNvSpPr txBox="1">
            <a:spLocks/>
          </p:cNvSpPr>
          <p:nvPr/>
        </p:nvSpPr>
        <p:spPr bwMode="auto">
          <a:xfrm>
            <a:off x="1132426" y="1251671"/>
            <a:ext cx="10519246" cy="5130800"/>
          </a:xfrm>
          <a:prstGeom prst="rect">
            <a:avLst/>
          </a:prstGeom>
          <a:noFill/>
          <a:ln w="12700">
            <a:noFill/>
            <a:miter lim="800000"/>
            <a:headEnd/>
            <a:tailEnd/>
          </a:ln>
        </p:spPr>
        <p:txBody>
          <a:bodyPr vert="horz" wrap="square" lIns="90487" tIns="44450" rIns="90487" bIns="44450" numCol="1" anchor="t" anchorCtr="0" compatLnSpc="1">
            <a:prstTxWarp prst="textNoShape">
              <a:avLst/>
            </a:prstTxWarp>
          </a:bodyPr>
          <a:lstStyle>
            <a:lvl1pPr marL="285750" indent="-285750" algn="l" rtl="0" eaLnBrk="0" fontAlgn="base" hangingPunct="0">
              <a:spcBef>
                <a:spcPct val="20000"/>
              </a:spcBef>
              <a:spcAft>
                <a:spcPct val="0"/>
              </a:spcAft>
              <a:buClr>
                <a:srgbClr val="0033CC"/>
              </a:buClr>
              <a:buSzPct val="100000"/>
              <a:buFont typeface="Wingdings" pitchFamily="2" charset="2"/>
              <a:buChar char="v"/>
              <a:defRPr sz="2400" b="1">
                <a:solidFill>
                  <a:schemeClr val="tx1"/>
                </a:solidFill>
                <a:latin typeface="+mn-lt"/>
                <a:ea typeface="+mn-ea"/>
                <a:cs typeface="+mn-cs"/>
              </a:defRPr>
            </a:lvl1pPr>
            <a:lvl2pPr marL="685800" indent="-285750" algn="l" rtl="0" eaLnBrk="0" fontAlgn="base" hangingPunct="0">
              <a:spcBef>
                <a:spcPct val="20000"/>
              </a:spcBef>
              <a:spcAft>
                <a:spcPct val="0"/>
              </a:spcAft>
              <a:buClr>
                <a:schemeClr val="hlink"/>
              </a:buClr>
              <a:buSzPct val="100000"/>
              <a:buFont typeface="Wingdings" pitchFamily="2" charset="2"/>
              <a:buChar char="Ø"/>
              <a:defRPr sz="2000" b="1">
                <a:solidFill>
                  <a:schemeClr val="tx1"/>
                </a:solidFill>
                <a:latin typeface="+mn-lt"/>
              </a:defRPr>
            </a:lvl2pPr>
            <a:lvl3pPr marL="1028700" indent="-228600" algn="l" rtl="0" eaLnBrk="0" fontAlgn="base" hangingPunct="0">
              <a:spcBef>
                <a:spcPct val="20000"/>
              </a:spcBef>
              <a:spcAft>
                <a:spcPct val="0"/>
              </a:spcAft>
              <a:buClr>
                <a:schemeClr val="tx1"/>
              </a:buClr>
              <a:buSzPct val="100000"/>
              <a:buFont typeface="Wingdings" pitchFamily="2" charset="2"/>
              <a:buChar char="§"/>
              <a:defRPr b="1">
                <a:solidFill>
                  <a:schemeClr val="tx1"/>
                </a:solidFill>
                <a:latin typeface="+mn-lt"/>
              </a:defRPr>
            </a:lvl3pPr>
            <a:lvl4pPr marL="1428750" indent="-285750" algn="l" rtl="0" eaLnBrk="0" fontAlgn="base" hangingPunct="0">
              <a:spcBef>
                <a:spcPct val="20000"/>
              </a:spcBef>
              <a:spcAft>
                <a:spcPct val="0"/>
              </a:spcAft>
              <a:buClr>
                <a:srgbClr val="003399"/>
              </a:buClr>
              <a:buSzPct val="100000"/>
              <a:buChar char="—"/>
              <a:defRPr sz="1600" b="1">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Times" pitchFamily="18" charset="0"/>
              </a:defRPr>
            </a:lvl5pPr>
            <a:lvl6pPr marL="2514600" indent="-228600" algn="l" rtl="0" eaLnBrk="0" fontAlgn="base" hangingPunct="0">
              <a:spcBef>
                <a:spcPct val="20000"/>
              </a:spcBef>
              <a:spcAft>
                <a:spcPct val="0"/>
              </a:spcAft>
              <a:buChar char="»"/>
              <a:defRPr sz="2000">
                <a:solidFill>
                  <a:schemeClr val="tx1"/>
                </a:solidFill>
                <a:latin typeface="Times" pitchFamily="18" charset="0"/>
              </a:defRPr>
            </a:lvl6pPr>
            <a:lvl7pPr marL="2971800" indent="-228600" algn="l" rtl="0" eaLnBrk="0" fontAlgn="base" hangingPunct="0">
              <a:spcBef>
                <a:spcPct val="20000"/>
              </a:spcBef>
              <a:spcAft>
                <a:spcPct val="0"/>
              </a:spcAft>
              <a:buChar char="»"/>
              <a:defRPr sz="2000">
                <a:solidFill>
                  <a:schemeClr val="tx1"/>
                </a:solidFill>
                <a:latin typeface="Times" pitchFamily="18" charset="0"/>
              </a:defRPr>
            </a:lvl7pPr>
            <a:lvl8pPr marL="3429000" indent="-228600" algn="l" rtl="0" eaLnBrk="0" fontAlgn="base" hangingPunct="0">
              <a:spcBef>
                <a:spcPct val="20000"/>
              </a:spcBef>
              <a:spcAft>
                <a:spcPct val="0"/>
              </a:spcAft>
              <a:buChar char="»"/>
              <a:defRPr sz="2000">
                <a:solidFill>
                  <a:schemeClr val="tx1"/>
                </a:solidFill>
                <a:latin typeface="Times" pitchFamily="18" charset="0"/>
              </a:defRPr>
            </a:lvl8pPr>
            <a:lvl9pPr marL="3886200" indent="-228600" algn="l" rtl="0" eaLnBrk="0" fontAlgn="base" hangingPunct="0">
              <a:spcBef>
                <a:spcPct val="20000"/>
              </a:spcBef>
              <a:spcAft>
                <a:spcPct val="0"/>
              </a:spcAft>
              <a:buChar char="»"/>
              <a:defRPr sz="2000">
                <a:solidFill>
                  <a:schemeClr val="tx1"/>
                </a:solidFill>
                <a:latin typeface="Times" pitchFamily="18" charset="0"/>
              </a:defRPr>
            </a:lvl9pPr>
          </a:lstStyle>
          <a:p>
            <a:pPr>
              <a:spcBef>
                <a:spcPts val="600"/>
              </a:spcBef>
              <a:spcAft>
                <a:spcPts val="600"/>
              </a:spcAft>
              <a:buClr>
                <a:srgbClr val="00279F"/>
              </a:buClr>
              <a:buFont typeface="Wingdings" pitchFamily="2" charset="2"/>
              <a:buChar char="Ø"/>
            </a:pPr>
            <a:r>
              <a:rPr lang="en-US" kern="0" dirty="0" smtClean="0"/>
              <a:t>PCM should be selected to have a melting temperature around the average soil temperature</a:t>
            </a:r>
          </a:p>
          <a:p>
            <a:pPr>
              <a:spcBef>
                <a:spcPts val="600"/>
              </a:spcBef>
              <a:spcAft>
                <a:spcPts val="600"/>
              </a:spcAft>
              <a:buClr>
                <a:srgbClr val="00279F"/>
              </a:buClr>
              <a:buFont typeface="Wingdings" pitchFamily="2" charset="2"/>
              <a:buChar char="Ø"/>
            </a:pPr>
            <a:r>
              <a:rPr lang="en-US" kern="0" dirty="0" smtClean="0"/>
              <a:t>For seasonal energy storage, PCM latent heat is used in the period when the soil temperature is around the average temperature </a:t>
            </a:r>
          </a:p>
          <a:p>
            <a:pPr>
              <a:spcBef>
                <a:spcPts val="600"/>
              </a:spcBef>
              <a:spcAft>
                <a:spcPts val="600"/>
              </a:spcAft>
              <a:buClr>
                <a:srgbClr val="00279F"/>
              </a:buClr>
              <a:buFont typeface="Wingdings" pitchFamily="2" charset="2"/>
              <a:buChar char="Ø"/>
            </a:pPr>
            <a:r>
              <a:rPr lang="en-US" kern="0" dirty="0" smtClean="0"/>
              <a:t>However, if combined with heat pump, the UTB can take full advantage of the latent heat capacity of PCM</a:t>
            </a:r>
          </a:p>
          <a:p>
            <a:pPr>
              <a:spcBef>
                <a:spcPts val="600"/>
              </a:spcBef>
              <a:spcAft>
                <a:spcPts val="600"/>
              </a:spcAft>
              <a:buClr>
                <a:srgbClr val="00279F"/>
              </a:buClr>
              <a:buFont typeface="Wingdings" pitchFamily="2" charset="2"/>
              <a:buChar char="Ø"/>
            </a:pPr>
            <a:r>
              <a:rPr lang="en-US" kern="0" dirty="0" smtClean="0"/>
              <a:t>The UTB coupled model with TOUGH codes allows for understanding effects on the shallow subsurface from the multi-year large deployment of UTBs.</a:t>
            </a:r>
          </a:p>
          <a:p>
            <a:pPr>
              <a:spcBef>
                <a:spcPts val="600"/>
              </a:spcBef>
              <a:spcAft>
                <a:spcPts val="600"/>
              </a:spcAft>
              <a:buClr>
                <a:srgbClr val="00279F"/>
              </a:buClr>
              <a:buFont typeface="Wingdings" pitchFamily="2" charset="2"/>
              <a:buChar char="Ø"/>
            </a:pPr>
            <a:endParaRPr lang="en-US" kern="0" dirty="0"/>
          </a:p>
        </p:txBody>
      </p:sp>
      <p:sp>
        <p:nvSpPr>
          <p:cNvPr id="4" name="Rectangle 3"/>
          <p:cNvSpPr/>
          <p:nvPr/>
        </p:nvSpPr>
        <p:spPr>
          <a:xfrm>
            <a:off x="11494336" y="6400239"/>
            <a:ext cx="585418" cy="523220"/>
          </a:xfrm>
          <a:prstGeom prst="rect">
            <a:avLst/>
          </a:prstGeom>
        </p:spPr>
        <p:txBody>
          <a:bodyPr wrap="none">
            <a:spAutoFit/>
          </a:bodyPr>
          <a:lstStyle/>
          <a:p>
            <a:fld id="{7914B2A8-2025-4840-92BB-C8B9D5B037F6}" type="slidenum">
              <a:rPr lang="en-US" smtClean="0"/>
              <a:pPr/>
              <a:t>25</a:t>
            </a:fld>
            <a:endParaRPr lang="en-US" dirty="0"/>
          </a:p>
        </p:txBody>
      </p:sp>
    </p:spTree>
    <p:extLst>
      <p:ext uri="{BB962C8B-B14F-4D97-AF65-F5344CB8AC3E}">
        <p14:creationId xmlns:p14="http://schemas.microsoft.com/office/powerpoint/2010/main" val="336974416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343585" y="544276"/>
            <a:ext cx="10972800" cy="754062"/>
          </a:xfrm>
        </p:spPr>
        <p:txBody>
          <a:bodyPr/>
          <a:lstStyle/>
          <a:p>
            <a:r>
              <a:rPr lang="en-US" dirty="0">
                <a:latin typeface="+mj-lt"/>
              </a:rPr>
              <a:t>Acknowledgement</a:t>
            </a:r>
          </a:p>
        </p:txBody>
      </p:sp>
      <p:sp>
        <p:nvSpPr>
          <p:cNvPr id="3" name="Content Placeholder 2"/>
          <p:cNvSpPr>
            <a:spLocks noGrp="1"/>
          </p:cNvSpPr>
          <p:nvPr>
            <p:ph idx="4294967295"/>
          </p:nvPr>
        </p:nvSpPr>
        <p:spPr>
          <a:xfrm>
            <a:off x="1401821" y="1525781"/>
            <a:ext cx="10010817" cy="3206750"/>
          </a:xfrm>
        </p:spPr>
        <p:txBody>
          <a:bodyPr>
            <a:normAutofit/>
          </a:bodyPr>
          <a:lstStyle/>
          <a:p>
            <a:pPr marL="0" indent="0">
              <a:buNone/>
            </a:pPr>
            <a:r>
              <a:rPr lang="en-US" dirty="0"/>
              <a:t>This work was supported by Lawrence Berkeley National Laboratory (LBNL) under with funding from the Geothermal Technologies Office and under Department of Energy Contract No. DE-AC02-05CH11231. The authors would like to thank Joseph Warner, Liang Shi, and Ming Qu for developing and providing the 1D UTB MATLAB code for the UTB.</a:t>
            </a:r>
          </a:p>
        </p:txBody>
      </p:sp>
      <p:sp>
        <p:nvSpPr>
          <p:cNvPr id="4" name="Slide Number Placeholder 3"/>
          <p:cNvSpPr>
            <a:spLocks noGrp="1"/>
          </p:cNvSpPr>
          <p:nvPr>
            <p:ph type="sldNum" sz="quarter" idx="4294967295"/>
          </p:nvPr>
        </p:nvSpPr>
        <p:spPr>
          <a:xfrm>
            <a:off x="9347200" y="6492875"/>
            <a:ext cx="2844800" cy="365125"/>
          </a:xfrm>
          <a:prstGeom prst="rect">
            <a:avLst/>
          </a:prstGeo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311AE9A-576F-42B2-AA70-6047D15240E8}" type="slidenum">
              <a:rPr kumimoji="0" lang="en-US" sz="1800" b="0" i="0" u="none" strike="noStrike" kern="1200" cap="none" spc="0" normalizeH="0" baseline="0" noProof="0" smtClean="0">
                <a:ln>
                  <a:noFill/>
                </a:ln>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dirty="0">
              <a:ln>
                <a:noFill/>
              </a:ln>
              <a:effectLst/>
              <a:uLnTx/>
              <a:uFillTx/>
              <a:latin typeface="Arial"/>
              <a:ea typeface="+mn-ea"/>
              <a:cs typeface="+mn-cs"/>
            </a:endParaRPr>
          </a:p>
        </p:txBody>
      </p:sp>
    </p:spTree>
    <p:extLst>
      <p:ext uri="{BB962C8B-B14F-4D97-AF65-F5344CB8AC3E}">
        <p14:creationId xmlns:p14="http://schemas.microsoft.com/office/powerpoint/2010/main" val="81694002"/>
      </p:ext>
    </p:extLst>
  </p:cSld>
  <p:clrMapOvr>
    <a:masterClrMapping/>
  </p:clrMapOvr>
  <p:timing>
    <p:tnLst>
      <p:par>
        <p:cTn id="1" dur="indefinite" restart="never" nodeType="tmRoot"/>
      </p:par>
    </p:tnLst>
  </p:timing>
</p:sld>
</file>

<file path=ppt/theme/theme1.xml><?xml version="1.0" encoding="utf-8"?>
<a:theme xmlns:a="http://schemas.openxmlformats.org/drawingml/2006/main" name="Standard LBNL ">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Standard LBNL ">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bg1"/>
            </a:solidFill>
            <a:effectLst/>
            <a:latin typeface="Arial" charset="0"/>
          </a:defRPr>
        </a:defPPr>
      </a:lstStyle>
    </a:lnDef>
  </a:objectDefaults>
  <a:extraClrSchemeLst>
    <a:extraClrScheme>
      <a:clrScheme name="Standard LBN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 LBN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 LBN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 LBN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 LBN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 LBN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 LBN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Standard LBNL ">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Standard LBNL ">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bg1"/>
            </a:solidFill>
            <a:effectLst/>
            <a:latin typeface="Arial"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800" b="0" i="0" u="none" strike="noStrike" cap="none" normalizeH="0" baseline="0" smtClean="0">
            <a:ln>
              <a:noFill/>
            </a:ln>
            <a:solidFill>
              <a:schemeClr val="bg1"/>
            </a:solidFill>
            <a:effectLst/>
            <a:latin typeface="Arial" charset="0"/>
          </a:defRPr>
        </a:defPPr>
      </a:lstStyle>
    </a:lnDef>
  </a:objectDefaults>
  <a:extraClrSchemeLst>
    <a:extraClrScheme>
      <a:clrScheme name="Standard LBNL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Standard LBNL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Standard LBNL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Standard LBNL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Standard LBNL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Standard LBNL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Standard LBNL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
      <a:dk1>
        <a:srgbClr val="000000"/>
      </a:dk1>
      <a:lt1>
        <a:srgbClr val="FFFFFF"/>
      </a:lt1>
      <a:dk2>
        <a:srgbClr val="000000"/>
      </a:dk2>
      <a:lt2>
        <a:srgbClr val="919191"/>
      </a:lt2>
      <a:accent1>
        <a:srgbClr val="618FFD"/>
      </a:accent1>
      <a:accent2>
        <a:srgbClr val="00AE00"/>
      </a:accent2>
      <a:accent3>
        <a:srgbClr val="FFFFFF"/>
      </a:accent3>
      <a:accent4>
        <a:srgbClr val="000000"/>
      </a:accent4>
      <a:accent5>
        <a:srgbClr val="B7C6FE"/>
      </a:accent5>
      <a:accent6>
        <a:srgbClr val="009D00"/>
      </a:accent6>
      <a:hlink>
        <a:srgbClr val="FC0128"/>
      </a:hlink>
      <a:folHlink>
        <a:srgbClr val="CECEC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Macintosh HD:Templates/Forms/Logos: Powerpoint Templates:Maria's PPT Templates:Standard LBNL </Template>
  <TotalTime>138240</TotalTime>
  <Pages>2</Pages>
  <Words>1187</Words>
  <Application>Microsoft Office PowerPoint</Application>
  <PresentationFormat>Widescreen</PresentationFormat>
  <Paragraphs>148</Paragraphs>
  <Slides>26</Slides>
  <Notes>2</Notes>
  <HiddenSlides>0</HiddenSlides>
  <MMClips>0</MMClips>
  <ScaleCrop>false</ScaleCrop>
  <HeadingPairs>
    <vt:vector size="6" baseType="variant">
      <vt:variant>
        <vt:lpstr>Fonts Used</vt:lpstr>
      </vt:variant>
      <vt:variant>
        <vt:i4>8</vt:i4>
      </vt:variant>
      <vt:variant>
        <vt:lpstr>Theme</vt:lpstr>
      </vt:variant>
      <vt:variant>
        <vt:i4>4</vt:i4>
      </vt:variant>
      <vt:variant>
        <vt:lpstr>Slide Titles</vt:lpstr>
      </vt:variant>
      <vt:variant>
        <vt:i4>26</vt:i4>
      </vt:variant>
    </vt:vector>
  </HeadingPairs>
  <TitlesOfParts>
    <vt:vector size="38" baseType="lpstr">
      <vt:lpstr>MS PGothic</vt:lpstr>
      <vt:lpstr>AdvOT833fb896</vt:lpstr>
      <vt:lpstr>Arial</vt:lpstr>
      <vt:lpstr>Calibri</vt:lpstr>
      <vt:lpstr>Calibri Light</vt:lpstr>
      <vt:lpstr>Helvetica</vt:lpstr>
      <vt:lpstr>Times</vt:lpstr>
      <vt:lpstr>Wingdings</vt:lpstr>
      <vt:lpstr>Standard LBNL </vt:lpstr>
      <vt:lpstr>1_Standard LBNL </vt:lpstr>
      <vt:lpstr>1_Custom Design</vt:lpstr>
      <vt:lpstr>Custom Design</vt:lpstr>
      <vt:lpstr>Modeling and Efficiency Study of Large Scale Underground Thermal Battery Deployment</vt:lpstr>
      <vt:lpstr>UTB is designed to be a cost-saving alternative to VBGHE</vt:lpstr>
      <vt:lpstr>Original 1D radial UTB model provides a good approximation </vt:lpstr>
      <vt:lpstr>PowerPoint Presentation</vt:lpstr>
      <vt:lpstr>Re-write the 1D radial UTB model(Matlab) to couple with iTOUGH2/TOUGH model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Acknowledgement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of Talk Goes Here</dc:title>
  <dc:creator>Maria Fink</dc:creator>
  <cp:lastModifiedBy>Yingqi Zhang</cp:lastModifiedBy>
  <cp:revision>3380</cp:revision>
  <cp:lastPrinted>2018-03-20T04:26:30Z</cp:lastPrinted>
  <dcterms:created xsi:type="dcterms:W3CDTF">1998-03-19T11:42:23Z</dcterms:created>
  <dcterms:modified xsi:type="dcterms:W3CDTF">2022-01-28T22:09:10Z</dcterms:modified>
</cp:coreProperties>
</file>