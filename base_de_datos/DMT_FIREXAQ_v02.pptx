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AF1A9-139C-4FFC-9F5E-7B7C62040288}">
  <a:tblStyle styleId="{1D5AF1A9-139C-4FFC-9F5E-7B7C620402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194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09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7948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917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716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618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3564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410f4ab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410f4ab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4410f4ab8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185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90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5372d6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5372d6e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45372d6e5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3468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787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7876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660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37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ir.larc.nasa.go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-air.larc.nasa.gov/missions/etc/IcarttDataFormat.ht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gao.chen@nasa.gov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ennith.c.aikin@noa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Management Plan for </a:t>
            </a:r>
            <a:br>
              <a:rPr lang="en-US" sz="40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Airborne Field Study</a:t>
            </a:r>
            <a:endParaRPr sz="40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097280" y="3352800"/>
            <a:ext cx="69495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Gao Chen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NASA Langley Research Center</a:t>
            </a:r>
            <a:r>
              <a:rPr lang="en-US" sz="28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Ken Aikin</a:t>
            </a:r>
            <a:endParaRPr sz="28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NOAA Earth System Research Laboratory</a:t>
            </a:r>
            <a:endParaRPr sz="2800" b="1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182875" y="76200"/>
            <a:ext cx="87783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Repositories</a:t>
            </a:r>
            <a:endParaRPr sz="40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57200" y="1102950"/>
            <a:ext cx="8229600" cy="5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Current Plan:</a:t>
            </a:r>
            <a:endParaRPr sz="2400" dirty="0"/>
          </a:p>
          <a:p>
            <a:pPr marL="342900" lvl="0" indent="-292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NOAA Data Repository: </a:t>
            </a:r>
            <a:r>
              <a:rPr lang="en-US" sz="2400" u="sng" dirty="0">
                <a:solidFill>
                  <a:schemeClr val="hlink"/>
                </a:solidFill>
              </a:rPr>
              <a:t>esrl.noaa.gov/</a:t>
            </a:r>
            <a:r>
              <a:rPr lang="en-US" sz="2400" u="sng" dirty="0" err="1">
                <a:solidFill>
                  <a:schemeClr val="hlink"/>
                </a:solidFill>
              </a:rPr>
              <a:t>csd</a:t>
            </a:r>
            <a:r>
              <a:rPr lang="en-US" sz="2400" u="sng" dirty="0">
                <a:solidFill>
                  <a:schemeClr val="hlink"/>
                </a:solidFill>
              </a:rPr>
              <a:t>/projects/</a:t>
            </a:r>
            <a:r>
              <a:rPr lang="en-US" sz="2400" u="sng" dirty="0" err="1">
                <a:solidFill>
                  <a:schemeClr val="hlink"/>
                </a:solidFill>
              </a:rPr>
              <a:t>firex-aq</a:t>
            </a:r>
            <a:endParaRPr sz="2400" u="sng" dirty="0">
              <a:solidFill>
                <a:schemeClr val="hlink"/>
              </a:solidFill>
            </a:endParaRPr>
          </a:p>
          <a:p>
            <a:pPr marL="74295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dirty="0"/>
              <a:t>NOAA </a:t>
            </a:r>
            <a:r>
              <a:rPr lang="en-US" sz="2400" dirty="0" err="1"/>
              <a:t>TwinOtter</a:t>
            </a:r>
            <a:r>
              <a:rPr lang="en-US" sz="2400" dirty="0"/>
              <a:t>-CHEM, </a:t>
            </a:r>
            <a:r>
              <a:rPr lang="en-US" sz="2400" dirty="0" err="1"/>
              <a:t>TwinOtter</a:t>
            </a:r>
            <a:r>
              <a:rPr lang="en-US" sz="2400" dirty="0"/>
              <a:t>-MET, and </a:t>
            </a:r>
            <a:r>
              <a:rPr lang="en-US" sz="2400" dirty="0" err="1"/>
              <a:t>NightFOX</a:t>
            </a:r>
            <a:endParaRPr sz="2400" dirty="0"/>
          </a:p>
          <a:p>
            <a:pPr marL="34290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NASA Data Repository: </a:t>
            </a:r>
            <a:r>
              <a:rPr lang="en-US" sz="24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www-air.larc.nasa.gov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NASA DC-8 and ER-2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mobile labs</a:t>
            </a:r>
            <a:endParaRPr sz="2400" dirty="0"/>
          </a:p>
          <a:p>
            <a:pPr marL="742950" marR="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dirty="0"/>
              <a:t>Trajectories, model results, satellite </a:t>
            </a:r>
            <a:endParaRPr sz="2400" dirty="0"/>
          </a:p>
          <a:p>
            <a:pPr marL="742950" marR="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WE-CAN final data and merges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60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dirty="0"/>
              <a:t>NOAA </a:t>
            </a:r>
            <a:r>
              <a:rPr lang="en-US" sz="2400" dirty="0" err="1"/>
              <a:t>TwinOtter</a:t>
            </a:r>
            <a:r>
              <a:rPr lang="en-US" sz="2400" dirty="0"/>
              <a:t>-CHEM, </a:t>
            </a:r>
            <a:r>
              <a:rPr lang="en-US" sz="2400" dirty="0" err="1"/>
              <a:t>TwinOtter</a:t>
            </a:r>
            <a:r>
              <a:rPr lang="en-US" sz="2400" dirty="0"/>
              <a:t>-MET, and </a:t>
            </a:r>
            <a:r>
              <a:rPr lang="en-US" sz="2400" dirty="0" err="1"/>
              <a:t>NightFOX</a:t>
            </a:r>
            <a:r>
              <a:rPr lang="en-US" sz="2400" dirty="0"/>
              <a:t> Final data</a:t>
            </a:r>
            <a:endParaRPr sz="2400" dirty="0"/>
          </a:p>
          <a:p>
            <a:pPr marL="342900" marR="0" lvl="0" indent="-2921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Data repositories will have common access control and be cross-linked</a:t>
            </a:r>
            <a:endParaRPr sz="2400" dirty="0"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Username: </a:t>
            </a:r>
            <a:r>
              <a:rPr lang="en-US" sz="2400" dirty="0">
                <a:highlight>
                  <a:srgbClr val="000000"/>
                </a:highlight>
              </a:rPr>
              <a:t>............</a:t>
            </a:r>
            <a:r>
              <a:rPr lang="en-US" sz="2400" dirty="0"/>
              <a:t>  Password</a:t>
            </a:r>
            <a:r>
              <a:rPr lang="en-US" sz="2400"/>
              <a:t>: </a:t>
            </a:r>
            <a:r>
              <a:rPr lang="en-US" sz="2400">
                <a:highlight>
                  <a:srgbClr val="000000"/>
                </a:highlight>
              </a:rPr>
              <a:t>……..…..</a:t>
            </a:r>
            <a:endParaRPr sz="2400" dirty="0">
              <a:highlight>
                <a:srgbClr val="000000"/>
              </a:highlight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182880" y="990600"/>
            <a:ext cx="877830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Submission Schedule</a:t>
            </a:r>
            <a:endParaRPr sz="40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15"/>
          <p:cNvGraphicFramePr/>
          <p:nvPr/>
        </p:nvGraphicFramePr>
        <p:xfrm>
          <a:off x="876300" y="1066800"/>
          <a:ext cx="7505700" cy="2500125"/>
        </p:xfrm>
        <a:graphic>
          <a:graphicData uri="http://schemas.openxmlformats.org/drawingml/2006/table">
            <a:tbl>
              <a:tblPr firstRow="1" bandRow="1">
                <a:noFill/>
                <a:tableStyleId>{1D5AF1A9-139C-4FFC-9F5E-7B7C62040288}</a:tableStyleId>
              </a:tblPr>
              <a:tblGrid>
                <a:gridCol w="14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Mission Phase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Type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Submission Deadline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Access Control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Field Deployment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Field Data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 hour after each flight or  cal. Day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 team and Partners</a:t>
                      </a:r>
                      <a:endParaRPr sz="18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Post-Deployment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Final Data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 2, 2020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Public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" name="Google Shape;105;p15"/>
          <p:cNvSpPr txBox="1"/>
          <p:nvPr/>
        </p:nvSpPr>
        <p:spPr>
          <a:xfrm>
            <a:off x="819150" y="3889250"/>
            <a:ext cx="7505700" cy="21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 data submission deadline may vary depending on field operation constraints</a:t>
            </a:r>
            <a:endParaRPr sz="3000"/>
          </a:p>
          <a:p>
            <a:pPr marL="285750" marR="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data should be of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publication quality and </a:t>
            </a: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 synched to the time standard for each platform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182880" y="8382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5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Format Requirements</a:t>
            </a:r>
            <a:endParaRPr sz="36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from FIREX-AQ field study will conform to </a:t>
            </a:r>
            <a:r>
              <a:rPr lang="en-US" sz="2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ICARTT, </a:t>
            </a:r>
            <a:r>
              <a:rPr lang="en-US" sz="2200" b="1" i="0" u="none" strike="noStrike" cap="none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netCDF</a:t>
            </a:r>
            <a:r>
              <a:rPr lang="en-US" sz="2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, or HDF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in-situ measurements are required to report data in ICARTT format.  Detailed format description can be found at: </a:t>
            </a:r>
            <a:r>
              <a:rPr lang="en-US" sz="22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http://www-air.larc.nasa.gov/missions/etc/IcarttDataFormat.htm</a:t>
            </a:r>
            <a:r>
              <a:rPr lang="en-US" sz="2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rgbClr val="E06666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All incoming data files from in-situ measurements will be scanned to ensure compliance to the ICARTT format requirements.  A co</a:t>
            </a:r>
            <a:r>
              <a:rPr lang="en-US" sz="2200" dirty="0">
                <a:solidFill>
                  <a:srgbClr val="E06666"/>
                </a:solidFill>
              </a:rPr>
              <a:t>mmon file scanner will be used for both data repository</a:t>
            </a:r>
            <a:endParaRPr dirty="0">
              <a:solidFill>
                <a:srgbClr val="E06666"/>
              </a:solidFill>
            </a:endParaRPr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Assistance will be made available to the science team to troubleshoot issues in generating ICARTT files.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remote sensing measurement instruments and models may report data in either HDF,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netCDF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ICARTT format</a:t>
            </a:r>
            <a:endParaRPr lang="en-US" sz="2000" dirty="0"/>
          </a:p>
          <a:p>
            <a:pPr marL="800100" lvl="1" indent="-342900">
              <a:spcBef>
                <a:spcPts val="440"/>
              </a:spcBef>
              <a:buSzPts val="2200"/>
              <a:buFont typeface="Wingdings" panose="05000000000000000000" pitchFamily="2" charset="2"/>
              <a:buChar char="ü"/>
            </a:pPr>
            <a:endParaRPr sz="2000" dirty="0"/>
          </a:p>
          <a:p>
            <a:pPr marL="342900" marR="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16"/>
          <p:cNvCxnSpPr/>
          <p:nvPr/>
        </p:nvCxnSpPr>
        <p:spPr>
          <a:xfrm>
            <a:off x="182880" y="1350264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182880" y="274638"/>
            <a:ext cx="877824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Reporting 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FIREX-AQ Metadata Requirements: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FIREX-AQ data files should be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self-describing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/>
              <a:t>through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information on: variable definition, unit, data reporting information, measurement description, measurement uncertainty and detection limits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metadata requirements are uniform for all file form</a:t>
            </a:r>
            <a:r>
              <a:rPr lang="en-US" sz="2000"/>
              <a:t>ats</a:t>
            </a:r>
            <a:endParaRPr sz="200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i="1"/>
              <a:t>FIREX-AQ requires standardized instrument description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DataID Registration: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PI will need to register his/her dataID(s) before file submission</a:t>
            </a:r>
            <a:r>
              <a:rPr lang="en-US" sz="2000">
                <a:solidFill>
                  <a:srgbClr val="0070C0"/>
                </a:solidFill>
              </a:rPr>
              <a:t>, which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is used to organize files on the data repository and is a part of the FIREX-AQ file naming convention.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DataID, prefixed by FIREXAQ, is a typically short description of measured parameter/species, instrument, or model (e.g., FIREXAQ-O3).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website is open for dataID registration; detailed instructions will be distributed.  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7"/>
          <p:cNvCxnSpPr/>
          <p:nvPr/>
        </p:nvCxnSpPr>
        <p:spPr>
          <a:xfrm>
            <a:off x="182880" y="10668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205750" y="0"/>
            <a:ext cx="87324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Reporting II</a:t>
            </a:r>
            <a:endParaRPr sz="28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457200" y="893425"/>
            <a:ext cx="8229600" cy="5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same number of variables and variable names throughout mission for the files with the same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dataID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Measurement Time Reporting: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fixed variable name(s) for Time Stamps, i.e.,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Time_Start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Time_Stop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Time_Mid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start, stop, and mid times if integration interval larger than 1 sec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one time stamp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Time_Start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Time_Stop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for data at ≥ 1 Hz</a:t>
            </a:r>
            <a:endParaRPr dirty="0"/>
          </a:p>
          <a:p>
            <a:pPr marL="1143000" marR="0" lvl="2" indent="-2413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Interval = actual value for constant interval data</a:t>
            </a:r>
            <a:endParaRPr sz="1600" dirty="0"/>
          </a:p>
          <a:p>
            <a:pPr marL="1143000" marR="0" lvl="2" indent="-2413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Interval = “-1” for irregular interval data – Contact Ali or Gao</a:t>
            </a:r>
            <a:endParaRPr sz="1600"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“Special Comments” to indicate if the measurement time is synched to the time standard</a:t>
            </a:r>
            <a:endParaRPr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/>
              <a:t>Indicate trace gas is reported in dry or ambient condition and report absolute concentration and aerosol extensive properties at STP: 273K and 1013 </a:t>
            </a:r>
            <a:r>
              <a:rPr lang="en-US" sz="2200" dirty="0" err="1"/>
              <a:t>mb</a:t>
            </a:r>
            <a:endParaRPr lang="en-US" sz="2200"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/>
              <a:t>Consider to use “common” attributes for HDF and </a:t>
            </a:r>
            <a:r>
              <a:rPr lang="en-US" sz="2200" dirty="0" err="1"/>
              <a:t>netCDF</a:t>
            </a:r>
            <a:r>
              <a:rPr lang="en-US" sz="2200" dirty="0"/>
              <a:t> file, at least for similar models or instruments</a:t>
            </a:r>
            <a:endParaRPr sz="2200"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/>
              <a:t>Add variable standard names in the variable definition line</a:t>
            </a:r>
            <a:endParaRPr sz="2200" dirty="0"/>
          </a:p>
        </p:txBody>
      </p:sp>
      <p:cxnSp>
        <p:nvCxnSpPr>
          <p:cNvPr id="127" name="Google Shape;127;p18"/>
          <p:cNvCxnSpPr/>
          <p:nvPr/>
        </p:nvCxnSpPr>
        <p:spPr>
          <a:xfrm>
            <a:off x="182880" y="838200"/>
            <a:ext cx="877830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457200" y="46047"/>
            <a:ext cx="8229600" cy="849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C00000"/>
                </a:solidFill>
              </a:rPr>
              <a:t>Variable Standard Names</a:t>
            </a:r>
            <a:endParaRPr sz="3600" b="1" dirty="0"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1"/>
          </p:nvPr>
        </p:nvSpPr>
        <p:spPr>
          <a:xfrm>
            <a:off x="457200" y="918825"/>
            <a:ext cx="8229600" cy="57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tags, </a:t>
            </a:r>
            <a:r>
              <a:rPr lang="en-US" sz="2400" b="1" dirty="0">
                <a:solidFill>
                  <a:srgbClr val="000000"/>
                </a:solidFill>
              </a:rPr>
              <a:t>NOT</a:t>
            </a:r>
            <a:r>
              <a:rPr lang="en-US" sz="2400" dirty="0">
                <a:solidFill>
                  <a:srgbClr val="000000"/>
                </a:solidFill>
              </a:rPr>
              <a:t> short names: 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 dirty="0"/>
              <a:t>	short name, unit, </a:t>
            </a:r>
            <a:r>
              <a:rPr lang="en-US" sz="2200" i="1" dirty="0">
                <a:solidFill>
                  <a:srgbClr val="0000FF"/>
                </a:solidFill>
              </a:rPr>
              <a:t>standard name,</a:t>
            </a:r>
            <a:r>
              <a:rPr lang="en-US" sz="2200" dirty="0"/>
              <a:t> long name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CH2O_pptv, </a:t>
            </a:r>
            <a:r>
              <a:rPr lang="en-US" sz="1800" dirty="0" err="1">
                <a:solidFill>
                  <a:srgbClr val="000000"/>
                </a:solidFill>
              </a:rPr>
              <a:t>pptv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i="1" dirty="0">
                <a:solidFill>
                  <a:srgbClr val="0000FF"/>
                </a:solidFill>
              </a:rPr>
              <a:t>Gas_CH2O_insitu_S_AVMR,</a:t>
            </a:r>
            <a:r>
              <a:rPr lang="en-US" sz="1800" dirty="0">
                <a:solidFill>
                  <a:srgbClr val="000000"/>
                </a:solidFill>
              </a:rPr>
              <a:t> mixing ratio by volume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CH2O_LOD_pptv, </a:t>
            </a:r>
            <a:r>
              <a:rPr lang="en-US" sz="1800" dirty="0" err="1">
                <a:solidFill>
                  <a:srgbClr val="000000"/>
                </a:solidFill>
              </a:rPr>
              <a:t>pptv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i="1" dirty="0">
                <a:solidFill>
                  <a:srgbClr val="0000FF"/>
                </a:solidFill>
              </a:rPr>
              <a:t>Gas_CH2O_insitu_S_AVMR, </a:t>
            </a:r>
            <a:r>
              <a:rPr lang="en-US" sz="1800" dirty="0">
                <a:solidFill>
                  <a:srgbClr val="000000"/>
                </a:solidFill>
              </a:rPr>
              <a:t>Limit of Detection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000000"/>
                </a:solidFill>
              </a:rPr>
              <a:t>NOy_pptv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dirty="0" err="1">
                <a:solidFill>
                  <a:srgbClr val="000000"/>
                </a:solidFill>
              </a:rPr>
              <a:t>pptv</a:t>
            </a:r>
            <a:r>
              <a:rPr lang="en-US" sz="1800" dirty="0">
                <a:solidFill>
                  <a:srgbClr val="000000"/>
                </a:solidFill>
              </a:rPr>
              <a:t>, </a:t>
            </a:r>
            <a:r>
              <a:rPr lang="en-US" sz="1800" i="1" dirty="0" err="1">
                <a:solidFill>
                  <a:srgbClr val="0000FF"/>
                </a:solidFill>
              </a:rPr>
              <a:t>Gas_NOyasNO_insitu_M_AVMR</a:t>
            </a:r>
            <a:r>
              <a:rPr lang="en-US" sz="1800" i="1" dirty="0">
                <a:solidFill>
                  <a:srgbClr val="0000FF"/>
                </a:solidFill>
              </a:rPr>
              <a:t>,</a:t>
            </a:r>
            <a:r>
              <a:rPr lang="en-US" sz="1800" dirty="0">
                <a:solidFill>
                  <a:srgbClr val="000000"/>
                </a:solidFill>
              </a:rPr>
              <a:t> Total Reactive Nitrogen Mixing Ratio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Sc700_total, Mm-1, </a:t>
            </a:r>
            <a:r>
              <a:rPr lang="en-US" sz="1800" i="1" dirty="0" err="1">
                <a:solidFill>
                  <a:srgbClr val="0000FF"/>
                </a:solidFill>
              </a:rPr>
              <a:t>AER_Scattering_insitu_red_RHd_Total_AMB</a:t>
            </a:r>
            <a:r>
              <a:rPr lang="en-US" sz="1800" i="1" dirty="0">
                <a:solidFill>
                  <a:srgbClr val="0000FF"/>
                </a:solidFill>
              </a:rPr>
              <a:t>,</a:t>
            </a:r>
            <a:r>
              <a:rPr lang="en-US" sz="1800" dirty="0">
                <a:solidFill>
                  <a:srgbClr val="000000"/>
                </a:solidFill>
              </a:rPr>
              <a:t> Dry Scattering at 700nm (Total Aerosols)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Standard Name Structure: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00FF"/>
                </a:solidFill>
              </a:rPr>
              <a:t>MeasMedium_CoreName_MeasMode_DescriptiveAttributes</a:t>
            </a:r>
            <a:endParaRPr sz="2400" dirty="0">
              <a:solidFill>
                <a:srgbClr val="0000FF"/>
              </a:solidFill>
            </a:endParaRPr>
          </a:p>
          <a:p>
            <a:pPr indent="-381000"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000000"/>
                </a:solidFill>
              </a:rPr>
              <a:t>intended to help data discovery and machine readability (i.e., shared vocabulary)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divided into 6 categories: Trace Gas, Aerosol, Cloud, Radiation, j Values, </a:t>
            </a:r>
            <a:r>
              <a:rPr lang="en-US" sz="2400" dirty="0" err="1">
                <a:solidFill>
                  <a:srgbClr val="000000"/>
                </a:solidFill>
              </a:rPr>
              <a:t>Nav</a:t>
            </a:r>
            <a:r>
              <a:rPr lang="en-US" sz="2400" dirty="0">
                <a:solidFill>
                  <a:srgbClr val="000000"/>
                </a:solidFill>
              </a:rPr>
              <a:t> and Met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complete list will be available on the data website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Looking for feedback to improve the current list</a:t>
            </a:r>
            <a:endParaRPr sz="2400" dirty="0">
              <a:solidFill>
                <a:srgbClr val="000000"/>
              </a:solidFill>
            </a:endParaRPr>
          </a:p>
        </p:txBody>
      </p:sp>
      <p:cxnSp>
        <p:nvCxnSpPr>
          <p:cNvPr id="135" name="Google Shape;135;p19"/>
          <p:cNvCxnSpPr/>
          <p:nvPr/>
        </p:nvCxnSpPr>
        <p:spPr>
          <a:xfrm>
            <a:off x="182880" y="838200"/>
            <a:ext cx="877830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File Naming Convention</a:t>
            </a:r>
            <a:endParaRPr sz="32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DataID_LocationID_YYYYMMDD_R#_Description.extension</a:t>
            </a:r>
            <a:endParaRPr sz="24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DataID: a short description of measured parameter/species, instrument, or model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LocationID: an identifier of measurement platform: e.g. DC8, will be provided on the website in a drop-down box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YYYYMMDD: UTC date when the flight take off or the beginning of the measurement for ground sites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R#: Revision number. The revision number will be RA, RB, RC, … for field data and R0, R1, R2, … for the final data. 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Note: archived files cannot be overwritten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optional additional description of the file if necessary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Extension: “ict” for ICARTT files, “h4” for HDF 4 files, and “h5” for HDF 5 files, etc.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the filename for DC-8 diode laser spectrometer H2O measurement made on May 1, 2016 flight may be: 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FIREXAQ-DLH-H2O_DC8_20190801_RA.ICT (for field data)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FIREXAQ-DLH-H2O_DC8_20190801_R0.ICT (for final data)</a:t>
            </a:r>
            <a:endParaRPr/>
          </a:p>
        </p:txBody>
      </p:sp>
      <p:cxnSp>
        <p:nvCxnSpPr>
          <p:cNvPr id="143" name="Google Shape;143;p20"/>
          <p:cNvCxnSpPr/>
          <p:nvPr/>
        </p:nvCxnSpPr>
        <p:spPr>
          <a:xfrm>
            <a:off x="182880" y="12192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457200" y="1298550"/>
            <a:ext cx="8229600" cy="475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DC-8: DLH H2O (20 and 1 Hz), DACOM CO and  CO2 (5 - 10 Hz, TBD, and 1 Hz)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NSRC and MMS will provide 20 Hz aircraft location data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CHEM-TwinOtter: NO2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MET-TwinOtter:  GPS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182875" y="76200"/>
            <a:ext cx="8778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in-situ </a:t>
            </a:r>
            <a:r>
              <a:rPr lang="en-US" sz="4000" b="1">
                <a:solidFill>
                  <a:srgbClr val="C00000"/>
                </a:solidFill>
              </a:rPr>
              <a:t>Sampling Time Standards</a:t>
            </a:r>
            <a:endParaRPr sz="40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>
            <a:off x="182880" y="1066800"/>
            <a:ext cx="877830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Standardized Instrument Description</a:t>
            </a:r>
            <a:endParaRPr sz="36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1"/>
          <p:cNvCxnSpPr/>
          <p:nvPr/>
        </p:nvCxnSpPr>
        <p:spPr>
          <a:xfrm>
            <a:off x="182880" y="7620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1151475" y="5167250"/>
            <a:ext cx="6840900" cy="14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Intend to post the standardized forms on the data website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take &lt;2 – 3 hours for one instrument and should be re-usable for later missions with minor changes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Description of and 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xamples for in-situ instruments and HSRL-DIAL will be available on the data website</a:t>
            </a:r>
            <a:endParaRPr/>
          </a:p>
        </p:txBody>
      </p:sp>
      <p:graphicFrame>
        <p:nvGraphicFramePr>
          <p:cNvPr id="151" name="Google Shape;151;p21"/>
          <p:cNvGraphicFramePr/>
          <p:nvPr/>
        </p:nvGraphicFramePr>
        <p:xfrm>
          <a:off x="1151467" y="914400"/>
          <a:ext cx="6841050" cy="4130150"/>
        </p:xfrm>
        <a:graphic>
          <a:graphicData uri="http://schemas.openxmlformats.org/drawingml/2006/table">
            <a:tbl>
              <a:tblPr bandRow="1">
                <a:noFill/>
                <a:tableStyleId>{1D5AF1A9-139C-4FFC-9F5E-7B7C62040288}</a:tableStyleId>
              </a:tblPr>
              <a:tblGrid>
                <a:gridCol w="342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Instrument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CalibratingMethod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ResponsibleParty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CalibrationStandard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ValidPeriod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CalibrationLog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MeasurementVariables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samplingStrategy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TimeSyncOrigin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samplingTreatment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Manufacturer/Developer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samplingTreatmentDescription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MeasurementUncertainty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samplingProcedure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ObservableRange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samplingProcedureDescription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ObservingMethod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DataProcessing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ObservingMethodDetail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softwareDetails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ObservingMethodReference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C78D8"/>
                          </a:solidFill>
                        </a:rPr>
                        <a:t>DataReportingInformation</a:t>
                      </a:r>
                      <a:endParaRPr sz="1600">
                        <a:solidFill>
                          <a:srgbClr val="3C78D8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Science Data Policy</a:t>
            </a:r>
            <a:endParaRPr sz="40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All participants are requested to accept the following responsibilities: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data in ICARTT, netCDF or HDF format no later than the deadlines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unexpected events lead to any delay in data submission, the PI is required to notify the project leadership as soon as issues are known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data should be submitted to the archive prior to any presentation at scientific conferences (e.g. AGU, AMS) or manuscript preparation, unless explicit authorization is obtained from the program managers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aircraft measurements from a common platform should be synchronized to science team pre-agreed time standard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 with PIs when using their data in conference/data workshop presentations and/or manuscript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Invite PIs of any data used to be 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co-authors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(particularly during post-deployment research phase)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PIs should be available to answer questions about their data</a:t>
            </a:r>
            <a:endParaRPr sz="14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23"/>
          <p:cNvCxnSpPr/>
          <p:nvPr/>
        </p:nvCxnSpPr>
        <p:spPr>
          <a:xfrm>
            <a:off x="182880" y="10668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189513" y="76200"/>
            <a:ext cx="88020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FIREX-AQ Data Merge: Online Merge Option</a:t>
            </a:r>
            <a:endParaRPr sz="36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182880" y="838200"/>
            <a:ext cx="8778240" cy="0"/>
          </a:xfrm>
          <a:prstGeom prst="straightConnector1">
            <a:avLst/>
          </a:prstGeom>
          <a:noFill/>
          <a:ln w="76200" cap="flat" cmpd="thickThin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5" name="Google Shape;175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5478"/>
          <a:stretch/>
        </p:blipFill>
        <p:spPr>
          <a:xfrm>
            <a:off x="189513" y="1090478"/>
            <a:ext cx="8764975" cy="4014922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6" name="Google Shape;176;p24"/>
          <p:cNvSpPr txBox="1"/>
          <p:nvPr/>
        </p:nvSpPr>
        <p:spPr>
          <a:xfrm>
            <a:off x="182880" y="5257800"/>
            <a:ext cx="877160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merge code will be tested by the science team during FIREX-AQ period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custom-choice of variables, variable type, merge time scale, output options (average only, average with standard deviation…)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Able to save and load configuration file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project merge will be generated at LaRC and made available to science team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Managers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KORUS-AQ Data Manager will monitor the data submission status in accordance with the data submission timeline.  The data manager will also coordinate the efforts to support implementation of ICARTT format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Gao Chen, NASA Langley Research Center, </a:t>
            </a:r>
            <a:r>
              <a:rPr lang="en-US" sz="2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gao.chen@nasa.gov</a:t>
            </a:r>
            <a:r>
              <a:rPr lang="en-US" sz="2400" b="0" i="0" u="sng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757-864-2290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Ken Aikin, NOAA Earth Science Research Laboratory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kenneth.c.aikin@noaa.gov</a:t>
            </a:r>
            <a:r>
              <a:rPr lang="en-US"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303-497-7051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1004</Words>
  <Application>Microsoft Office PowerPoint</Application>
  <PresentationFormat>On-screen Show (4:3)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Noto Sans Symbols</vt:lpstr>
      <vt:lpstr>Wingdings</vt:lpstr>
      <vt:lpstr>Office Theme</vt:lpstr>
      <vt:lpstr>Data Management Plan for  FIREX-AQ Airborne Field Study</vt:lpstr>
      <vt:lpstr>FIREX-AQ Data Repositories</vt:lpstr>
      <vt:lpstr>FIREX-AQ Data Submission Schedule</vt:lpstr>
      <vt:lpstr>FIREX-AQ Data Format Requirements</vt:lpstr>
      <vt:lpstr>FIREX-AQ Data Reporting I</vt:lpstr>
      <vt:lpstr>FIREX-AQ Data Reporting II</vt:lpstr>
      <vt:lpstr>Variable Standard Names</vt:lpstr>
      <vt:lpstr>FIREX-AQ Data File Naming Convention</vt:lpstr>
      <vt:lpstr>in-situ Sampling Time Standards</vt:lpstr>
      <vt:lpstr>Standardized Instrument Description</vt:lpstr>
      <vt:lpstr>FIREX-AQ Science Data Policy</vt:lpstr>
      <vt:lpstr>FIREX-AQ Data Merge: Online Merge Option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Plan for  FIREX-AQ Airborne Field Study</dc:title>
  <dc:creator>Chen, Gao (LARC-E303)</dc:creator>
  <cp:lastModifiedBy>Ali Aknan</cp:lastModifiedBy>
  <cp:revision>6</cp:revision>
  <dcterms:modified xsi:type="dcterms:W3CDTF">2020-06-16T21:36:18Z</dcterms:modified>
</cp:coreProperties>
</file>